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sldIdLst>
    <p:sldId id="321" r:id="rId2"/>
    <p:sldId id="339" r:id="rId3"/>
    <p:sldId id="340" r:id="rId4"/>
    <p:sldId id="326" r:id="rId5"/>
    <p:sldId id="327" r:id="rId6"/>
    <p:sldId id="328" r:id="rId7"/>
    <p:sldId id="341" r:id="rId8"/>
    <p:sldId id="349" r:id="rId9"/>
    <p:sldId id="329" r:id="rId10"/>
    <p:sldId id="330" r:id="rId11"/>
    <p:sldId id="331" r:id="rId12"/>
    <p:sldId id="342" r:id="rId13"/>
    <p:sldId id="352" r:id="rId14"/>
    <p:sldId id="332" r:id="rId15"/>
    <p:sldId id="333" r:id="rId16"/>
    <p:sldId id="343" r:id="rId17"/>
    <p:sldId id="351" r:id="rId18"/>
    <p:sldId id="345" r:id="rId19"/>
    <p:sldId id="344" r:id="rId20"/>
    <p:sldId id="353" r:id="rId21"/>
    <p:sldId id="346" r:id="rId22"/>
    <p:sldId id="347" r:id="rId23"/>
    <p:sldId id="355" r:id="rId24"/>
    <p:sldId id="335" r:id="rId25"/>
    <p:sldId id="336" r:id="rId26"/>
    <p:sldId id="356" r:id="rId27"/>
    <p:sldId id="337" r:id="rId28"/>
    <p:sldId id="358" r:id="rId29"/>
    <p:sldId id="348" r:id="rId30"/>
    <p:sldId id="357" r:id="rId31"/>
    <p:sldId id="359" r:id="rId32"/>
    <p:sldId id="371" r:id="rId33"/>
    <p:sldId id="372" r:id="rId34"/>
    <p:sldId id="373" r:id="rId35"/>
    <p:sldId id="374" r:id="rId36"/>
    <p:sldId id="360" r:id="rId37"/>
    <p:sldId id="361" r:id="rId38"/>
    <p:sldId id="363" r:id="rId39"/>
    <p:sldId id="364" r:id="rId40"/>
    <p:sldId id="365" r:id="rId41"/>
    <p:sldId id="366" r:id="rId42"/>
    <p:sldId id="367" r:id="rId43"/>
    <p:sldId id="36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03" autoAdjust="0"/>
    <p:restoredTop sz="94660"/>
  </p:normalViewPr>
  <p:slideViewPr>
    <p:cSldViewPr snapToGrid="0">
      <p:cViewPr varScale="1">
        <p:scale>
          <a:sx n="127" d="100"/>
          <a:sy n="127" d="100"/>
        </p:scale>
        <p:origin x="216" y="18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a:prstGeom prst="rect">
            <a:avLst/>
          </a:prstGeom>
        </p:spPr>
        <p:txBody>
          <a:bodyPr anchor="b">
            <a:normAutofit/>
          </a:bodyPr>
          <a:lstStyle>
            <a:lvl1pPr algn="l">
              <a:defRPr sz="8000"/>
            </a:lvl1pPr>
          </a:lstStyle>
          <a:p>
            <a:r>
              <a:rPr lang="en-US" dirty="0"/>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a:prstGeom prst="rect">
            <a:avLst/>
          </a:prstGeo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a:prstGeom prst="rect">
            <a:avLst/>
          </a:prstGeom>
        </p:spPr>
        <p:txBody>
          <a:bodyPr/>
          <a:lstStyle/>
          <a:p>
            <a:fld id="{02AC24A9-CCB6-4F8D-B8DB-C2F3692CFA5A}" type="datetimeFigureOut">
              <a:rPr lang="en-US" smtClean="0"/>
              <a:t>9/8/26</a:t>
            </a:fld>
            <a:endParaRPr lang="en-US" dirty="0"/>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a:prstGeom prst="rect">
            <a:avLst/>
          </a:prstGeom>
        </p:spPr>
        <p:txBody>
          <a:bodyPr/>
          <a:lstStyle/>
          <a:p>
            <a:fld id="{B2DC25EE-239B-4C5F-AAD1-255A7D5F1EE2}" type="slidenum">
              <a:rPr lang="en-US" smtClean="0"/>
              <a:t>‹#›</a:t>
            </a:fld>
            <a:endParaRPr lang="en-US" dirty="0"/>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03056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057659" cy="1295400"/>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1"/>
            <a:ext cx="11057658" cy="129540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9A6DB05-9FB5-4B07-8675-74C23D4FD89D}"/>
              </a:ext>
            </a:extLst>
          </p:cNvPr>
          <p:cNvSpPr/>
          <p:nvPr/>
        </p:nvSpPr>
        <p:spPr>
          <a:xfrm>
            <a:off x="567414" y="333756"/>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333756"/>
            <a:ext cx="10168128" cy="704088"/>
          </a:xfrm>
          <a:prstGeom prst="rect">
            <a:avLst/>
          </a:prstGeo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285749" y="1602103"/>
            <a:ext cx="11591925" cy="4579621"/>
          </a:xfrm>
          <a:prstGeom prst="rect">
            <a:avLst/>
          </a:prstGeom>
        </p:spPr>
        <p:txBody>
          <a:bodyPr/>
          <a:lstStyle>
            <a:lvl1pPr marL="0" indent="274320" algn="just">
              <a:lnSpc>
                <a:spcPct val="100000"/>
              </a:lnSpc>
              <a:spcBef>
                <a:spcPts val="0"/>
              </a:spcBef>
              <a:spcAft>
                <a:spcPts val="300"/>
              </a:spcAft>
              <a:buNone/>
              <a:defRPr/>
            </a:lvl1pPr>
            <a:lvl2pPr>
              <a:lnSpc>
                <a:spcPct val="100000"/>
              </a:lnSpc>
              <a:spcBef>
                <a:spcPts val="0"/>
              </a:spcBef>
              <a:spcAft>
                <a:spcPts val="300"/>
              </a:spcAft>
              <a:defRPr/>
            </a:lvl2pPr>
            <a:lvl3pPr>
              <a:lnSpc>
                <a:spcPct val="100000"/>
              </a:lnSpc>
              <a:spcBef>
                <a:spcPts val="0"/>
              </a:spcBef>
              <a:spcAft>
                <a:spcPts val="300"/>
              </a:spcAft>
              <a:defRPr/>
            </a:lvl3pPr>
            <a:lvl4pPr>
              <a:lnSpc>
                <a:spcPct val="100000"/>
              </a:lnSpc>
              <a:spcBef>
                <a:spcPts val="0"/>
              </a:spcBef>
              <a:spcAft>
                <a:spcPts val="300"/>
              </a:spcAft>
              <a:defRPr/>
            </a:lvl4pPr>
            <a:lvl5pPr>
              <a:lnSpc>
                <a:spcPct val="100000"/>
              </a:lnSpc>
              <a:spcBef>
                <a:spcPts val="0"/>
              </a:spcBef>
              <a:spcAft>
                <a:spcPts val="3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a:prstGeom prst="rect">
            <a:avLst/>
          </a:prstGeom>
        </p:spPr>
        <p:txBody>
          <a:bodyPr/>
          <a:lstStyle/>
          <a:p>
            <a:fld id="{02AC24A9-CCB6-4F8D-B8DB-C2F3692CFA5A}" type="datetimeFigureOut">
              <a:rPr lang="en-US" smtClean="0"/>
              <a:t>9/8/26</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711093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a:prstGeom prst="rect">
            <a:avLst/>
          </a:prstGeom>
        </p:spPr>
        <p:txBody>
          <a:bodyPr anchor="b">
            <a:normAutofit/>
          </a:bodyPr>
          <a:lstStyle>
            <a:lvl1pPr>
              <a:defRPr sz="6600"/>
            </a:lvl1pPr>
          </a:lstStyle>
          <a:p>
            <a:r>
              <a:rPr lang="en-US" dirty="0"/>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a:prstGeom prst="rect">
            <a:avLst/>
          </a:prstGeo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a:xfrm>
            <a:off x="838200" y="6356350"/>
            <a:ext cx="2743200" cy="365125"/>
          </a:xfrm>
          <a:prstGeom prst="rect">
            <a:avLst/>
          </a:prstGeom>
        </p:spPr>
        <p:txBody>
          <a:bodyPr/>
          <a:lstStyle/>
          <a:p>
            <a:fld id="{02AC24A9-CCB6-4F8D-B8DB-C2F3692CFA5A}" type="datetimeFigureOut">
              <a:rPr lang="en-US" smtClean="0"/>
              <a:t>9/8/26</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a:xfrm>
            <a:off x="8610600"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0662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a:prstGeom prst="rect">
            <a:avLst/>
          </a:prstGeom>
        </p:spPr>
        <p:txBody>
          <a:bodyPr>
            <a:normAutofit/>
          </a:bodyPr>
          <a:lstStyle>
            <a:lvl1pPr>
              <a:defRPr sz="4000"/>
            </a:lvl1pPr>
          </a:lstStyle>
          <a:p>
            <a:r>
              <a:rPr lang="en-US" dirty="0"/>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a:prstGeom prst="rect">
            <a:avLst/>
          </a:prstGeom>
        </p:spPr>
        <p:txBody>
          <a:bodyPr/>
          <a:lstStyle/>
          <a:p>
            <a:fld id="{02AC24A9-CCB6-4F8D-B8DB-C2F3692CFA5A}" type="datetimeFigureOut">
              <a:rPr lang="en-US" smtClean="0"/>
              <a:t>9/8/26</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6201225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a:prstGeom prst="rect">
            <a:avLst/>
          </a:prstGeom>
        </p:spPr>
        <p:txBody>
          <a:bodyPr>
            <a:normAutofit/>
          </a:bodyPr>
          <a:lstStyle>
            <a:lvl1pPr>
              <a:defRPr sz="4000"/>
            </a:lvl1pPr>
          </a:lstStyle>
          <a:p>
            <a:r>
              <a:rPr lang="en-US" dirty="0"/>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a:prstGeom prst="rect">
            <a:avLst/>
          </a:prstGeo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a:prstGeom prst="rect">
            <a:avLst/>
          </a:prstGeo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a:prstGeom prst="rect">
            <a:avLst/>
          </a:prstGeo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a:prstGeom prst="rect">
            <a:avLst/>
          </a:prstGeom>
        </p:spPr>
        <p:txBody>
          <a:bodyPr/>
          <a:lstStyle>
            <a:lvl1pPr>
              <a:defRPr sz="2400"/>
            </a:lvl1pPr>
            <a:lvl2pPr>
              <a:defRPr sz="2000"/>
            </a:lvl2pPr>
            <a:lvl3pPr>
              <a:defRPr sz="1800"/>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a:prstGeom prst="rect">
            <a:avLst/>
          </a:prstGeom>
        </p:spPr>
        <p:txBody>
          <a:bodyPr/>
          <a:lstStyle/>
          <a:p>
            <a:fld id="{02AC24A9-CCB6-4F8D-B8DB-C2F3692CFA5A}" type="datetimeFigureOut">
              <a:rPr lang="en-US" smtClean="0"/>
              <a:t>9/8/26</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9024742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a:prstGeom prst="rect">
            <a:avLst/>
          </a:prstGeom>
        </p:spPr>
        <p:txBody>
          <a:bodyPr>
            <a:normAutofit/>
          </a:bodyPr>
          <a:lstStyle>
            <a:lvl1pPr>
              <a:defRPr sz="5400"/>
            </a:lvl1pPr>
          </a:lstStyle>
          <a:p>
            <a:r>
              <a:rPr lang="en-US" dirty="0"/>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a:xfrm>
            <a:off x="838200" y="6356350"/>
            <a:ext cx="2743200" cy="365125"/>
          </a:xfrm>
          <a:prstGeom prst="rect">
            <a:avLst/>
          </a:prstGeom>
        </p:spPr>
        <p:txBody>
          <a:bodyPr/>
          <a:lstStyle/>
          <a:p>
            <a:fld id="{02AC24A9-CCB6-4F8D-B8DB-C2F3692CFA5A}" type="datetimeFigureOut">
              <a:rPr lang="en-US" smtClean="0"/>
              <a:t>9/8/26</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a:xfrm>
            <a:off x="8610600"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135931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a:xfrm>
            <a:off x="838200" y="6356350"/>
            <a:ext cx="2743200" cy="365125"/>
          </a:xfrm>
          <a:prstGeom prst="rect">
            <a:avLst/>
          </a:prstGeom>
        </p:spPr>
        <p:txBody>
          <a:bodyPr/>
          <a:lstStyle/>
          <a:p>
            <a:fld id="{02AC24A9-CCB6-4F8D-B8DB-C2F3692CFA5A}" type="datetimeFigureOut">
              <a:rPr lang="en-US" smtClean="0"/>
              <a:t>9/8/26</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a:xfrm>
            <a:off x="8610600"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2443747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a:prstGeom prst="rect">
            <a:avLst/>
          </a:prstGeom>
        </p:spPr>
        <p:txBody>
          <a:bodyPr tIns="45720" anchor="t">
            <a:normAutofit/>
          </a:bodyPr>
          <a:lstStyle>
            <a:lvl1pPr>
              <a:lnSpc>
                <a:spcPct val="100000"/>
              </a:lnSpc>
              <a:defRPr sz="3400"/>
            </a:lvl1pPr>
          </a:lstStyle>
          <a:p>
            <a:r>
              <a:rPr lang="en-US" dirty="0"/>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a:prstGeom prst="rect">
            <a:avLst/>
          </a:prstGeo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a:prstGeom prst="rect">
            <a:avLst/>
          </a:prstGeo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a:prstGeom prst="rect">
            <a:avLst/>
          </a:prstGeom>
        </p:spPr>
        <p:txBody>
          <a:bodyPr/>
          <a:lstStyle/>
          <a:p>
            <a:fld id="{02AC24A9-CCB6-4F8D-B8DB-C2F3692CFA5A}" type="datetimeFigureOut">
              <a:rPr lang="en-US" smtClean="0"/>
              <a:t>9/8/26</a:t>
            </a:fld>
            <a:endParaRPr lang="en-US" dirty="0"/>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a:xfrm>
            <a:off x="8610600"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926000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a:prstGeom prst="rect">
            <a:avLst/>
          </a:prstGeom>
        </p:spPr>
        <p:txBody>
          <a:bodyPr tIns="45720" anchor="t">
            <a:normAutofit/>
          </a:bodyPr>
          <a:lstStyle>
            <a:lvl1pPr>
              <a:lnSpc>
                <a:spcPct val="100000"/>
              </a:lnSpc>
              <a:defRPr sz="3400"/>
            </a:lvl1pPr>
          </a:lstStyle>
          <a:p>
            <a:r>
              <a:rPr lang="en-US" dirty="0"/>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p:cNvSpPr>
          <p:nvPr>
            <p:ph type="pic" idx="1"/>
          </p:nvPr>
        </p:nvSpPr>
        <p:spPr>
          <a:xfrm>
            <a:off x="4965192" y="1161288"/>
            <a:ext cx="6729984" cy="4645152"/>
          </a:xfrm>
          <a:prstGeom prst="rect">
            <a:avLst/>
          </a:prstGeom>
        </p:spPr>
        <p:txBody>
          <a:bodyPr>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a:prstGeom prst="rect">
            <a:avLst/>
          </a:prstGeo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a:prstGeom prst="rect">
            <a:avLst/>
          </a:prstGeom>
        </p:spPr>
        <p:txBody>
          <a:bodyPr/>
          <a:lstStyle/>
          <a:p>
            <a:fld id="{02AC24A9-CCB6-4F8D-B8DB-C2F3692CFA5A}" type="datetimeFigureOut">
              <a:rPr lang="en-US" smtClean="0"/>
              <a:t>9/8/26</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a:xfrm>
            <a:off x="8610600"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5466518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a:xfrm>
            <a:off x="838200" y="6356350"/>
            <a:ext cx="2743200" cy="365125"/>
          </a:xfrm>
          <a:prstGeom prst="rect">
            <a:avLst/>
          </a:prstGeom>
        </p:spPr>
        <p:txBody>
          <a:bodyPr/>
          <a:lstStyle/>
          <a:p>
            <a:fld id="{02AC24A9-CCB6-4F8D-B8DB-C2F3692CFA5A}" type="datetimeFigureOut">
              <a:rPr lang="en-US" smtClean="0"/>
              <a:t>9/8/26</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a:xfrm>
            <a:off x="8610600"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4158573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a:xfrm>
            <a:off x="838200" y="6356350"/>
            <a:ext cx="2743200" cy="365125"/>
          </a:xfrm>
          <a:prstGeom prst="rect">
            <a:avLst/>
          </a:prstGeom>
        </p:spPr>
        <p:txBody>
          <a:bodyPr/>
          <a:lstStyle/>
          <a:p>
            <a:fld id="{02AC24A9-CCB6-4F8D-B8DB-C2F3692CFA5A}" type="datetimeFigureOut">
              <a:rPr lang="en-US" smtClean="0"/>
              <a:t>9/8/26</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a:xfrm>
            <a:off x="8610600" y="6356350"/>
            <a:ext cx="2743200" cy="365125"/>
          </a:xfrm>
          <a:prstGeom prst="rect">
            <a:avLst/>
          </a:prstGeom>
        </p:spPr>
        <p:txBody>
          <a:bodyPr/>
          <a:lstStyle/>
          <a:p>
            <a:fld id="{B2DC25EE-239B-4C5F-AAD1-255A7D5F1EE2}" type="slidenum">
              <a:rPr lang="en-US" smtClean="0"/>
              <a:t>‹#›</a:t>
            </a:fld>
            <a:endParaRPr lang="en-US"/>
          </a:p>
        </p:txBody>
      </p:sp>
    </p:spTree>
    <p:extLst>
      <p:ext uri="{BB962C8B-B14F-4D97-AF65-F5344CB8AC3E}">
        <p14:creationId xmlns:p14="http://schemas.microsoft.com/office/powerpoint/2010/main" val="1745262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AC24A9-CCB6-4F8D-B8DB-C2F3692CFA5A}" type="datetimeFigureOut">
              <a:rPr lang="en-US" smtClean="0"/>
              <a:t>9/8/26</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2DC25EE-239B-4C5F-AAD1-255A7D5F1EE2}" type="slidenum">
              <a:rPr lang="en-US" smtClean="0"/>
              <a:t>‹#›</a:t>
            </a:fld>
            <a:endParaRPr lang="en-US"/>
          </a:p>
        </p:txBody>
      </p:sp>
    </p:spTree>
    <p:extLst>
      <p:ext uri="{BB962C8B-B14F-4D97-AF65-F5344CB8AC3E}">
        <p14:creationId xmlns:p14="http://schemas.microsoft.com/office/powerpoint/2010/main" val="2749483570"/>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txStyles>
    <p:title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8D06CE56-3881-4ADA-8CEF-D18B02C24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79F3C543-62EC-4433-9C93-A2CD8764E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Rectangle 2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 useBgFill="1">
        <p:nvSpPr>
          <p:cNvPr id="29" name="Freeform: Shape 2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chemeClr val="tx2">
                <a:lumMod val="10000"/>
                <a:lumOff val="90000"/>
              </a:schemeClr>
            </a:solidFill>
          </a:ln>
          <a:effectLst>
            <a:outerShdw blurRad="63500" sx="102000" sy="102000" algn="ctr" rotWithShape="0">
              <a:schemeClr val="bg1">
                <a:lumMod val="8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1" name="Freeform: Shape 30">
            <a:extLst>
              <a:ext uri="{FF2B5EF4-FFF2-40B4-BE49-F238E27FC236}">
                <a16:creationId xmlns:a16="http://schemas.microsoft.com/office/drawing/2014/main" id="{9C45F024-2468-4D8A-9E11-BB2B1E0A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itle 4">
            <a:extLst>
              <a:ext uri="{FF2B5EF4-FFF2-40B4-BE49-F238E27FC236}">
                <a16:creationId xmlns:a16="http://schemas.microsoft.com/office/drawing/2014/main" id="{5F59140D-8BEA-FA8F-D71E-AA1406A2F794}"/>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6100" dirty="0"/>
              <a:t>Scale formation</a:t>
            </a:r>
          </a:p>
        </p:txBody>
      </p:sp>
      <p:sp>
        <p:nvSpPr>
          <p:cNvPr id="33" name="Rectangle 3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5737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a:extLst>
            <a:ext uri="{FF2B5EF4-FFF2-40B4-BE49-F238E27FC236}">
              <a16:creationId xmlns:a16="http://schemas.microsoft.com/office/drawing/2014/main" id="{7CADA477-1D16-A91B-698F-E1E146FB863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32F970E-A2B6-2469-9E74-50CB53842EC7}"/>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6100" dirty="0"/>
              <a:t>Problem definition</a:t>
            </a:r>
          </a:p>
        </p:txBody>
      </p:sp>
    </p:spTree>
    <p:extLst>
      <p:ext uri="{BB962C8B-B14F-4D97-AF65-F5344CB8AC3E}">
        <p14:creationId xmlns:p14="http://schemas.microsoft.com/office/powerpoint/2010/main" val="3543815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4C4ED6F-A4D5-E091-BDE4-CDCC4B41A277}"/>
              </a:ext>
            </a:extLst>
          </p:cNvPr>
          <p:cNvSpPr>
            <a:spLocks noGrp="1"/>
          </p:cNvSpPr>
          <p:nvPr>
            <p:ph type="title"/>
          </p:nvPr>
        </p:nvSpPr>
        <p:spPr/>
        <p:txBody>
          <a:bodyPr/>
          <a:lstStyle/>
          <a:p>
            <a:r>
              <a:rPr lang="en-US" dirty="0"/>
              <a:t>Problem definition</a:t>
            </a:r>
          </a:p>
        </p:txBody>
      </p:sp>
      <p:sp>
        <p:nvSpPr>
          <p:cNvPr id="10" name="Content Placeholder 9">
            <a:extLst>
              <a:ext uri="{FF2B5EF4-FFF2-40B4-BE49-F238E27FC236}">
                <a16:creationId xmlns:a16="http://schemas.microsoft.com/office/drawing/2014/main" id="{6A731CBD-0B85-101F-1616-117B3B954ABD}"/>
              </a:ext>
            </a:extLst>
          </p:cNvPr>
          <p:cNvSpPr>
            <a:spLocks noGrp="1"/>
          </p:cNvSpPr>
          <p:nvPr>
            <p:ph idx="1"/>
          </p:nvPr>
        </p:nvSpPr>
        <p:spPr>
          <a:xfrm>
            <a:off x="285749" y="1602103"/>
            <a:ext cx="6698711" cy="4579621"/>
          </a:xfrm>
        </p:spPr>
        <p:txBody>
          <a:bodyPr>
            <a:normAutofit/>
          </a:bodyPr>
          <a:lstStyle/>
          <a:p>
            <a:r>
              <a:rPr lang="en-US" dirty="0"/>
              <a:t>Scale formation in pipelines (</a:t>
            </a:r>
            <a:r>
              <a:rPr lang="en-US" dirty="0" err="1"/>
              <a:t>CaCO</a:t>
            </a:r>
            <a:r>
              <a:rPr lang="en-US" dirty="0"/>
              <a:t>₃, </a:t>
            </a:r>
            <a:r>
              <a:rPr lang="en-US" dirty="0" err="1"/>
              <a:t>BaSO</a:t>
            </a:r>
            <a:r>
              <a:rPr lang="en-US" dirty="0"/>
              <a:t>₄, </a:t>
            </a:r>
            <a:r>
              <a:rPr lang="en-US" dirty="0" err="1"/>
              <a:t>SrSO</a:t>
            </a:r>
            <a:r>
              <a:rPr lang="en-US" dirty="0"/>
              <a:t>₄)</a:t>
            </a:r>
          </a:p>
          <a:p>
            <a:r>
              <a:rPr lang="en-US" b="1" dirty="0"/>
              <a:t>Operational Impact</a:t>
            </a:r>
          </a:p>
          <a:p>
            <a:pPr marL="342900" indent="-342900">
              <a:buFont typeface="Arial" panose="020B0604020202020204" pitchFamily="34" charset="0"/>
              <a:buChar char="•"/>
            </a:pPr>
            <a:r>
              <a:rPr lang="en-US" dirty="0"/>
              <a:t>Reduces flow efficiency. </a:t>
            </a:r>
          </a:p>
          <a:p>
            <a:pPr marL="342900" indent="-342900">
              <a:buFont typeface="Arial" panose="020B0604020202020204" pitchFamily="34" charset="0"/>
              <a:buChar char="•"/>
            </a:pPr>
            <a:r>
              <a:rPr lang="en-US" dirty="0"/>
              <a:t>Increases pressure drop. </a:t>
            </a:r>
          </a:p>
          <a:p>
            <a:pPr marL="342900" indent="-342900">
              <a:buFont typeface="Arial" panose="020B0604020202020204" pitchFamily="34" charset="0"/>
              <a:buChar char="•"/>
            </a:pPr>
            <a:r>
              <a:rPr lang="en-US" dirty="0"/>
              <a:t>Accelerates corrosion. </a:t>
            </a:r>
          </a:p>
          <a:p>
            <a:pPr marL="342900" indent="-342900">
              <a:buFont typeface="Arial" panose="020B0604020202020204" pitchFamily="34" charset="0"/>
              <a:buChar char="•"/>
            </a:pPr>
            <a:r>
              <a:rPr lang="en-US" dirty="0"/>
              <a:t>Raises maintenance and operational costs. </a:t>
            </a:r>
          </a:p>
          <a:p>
            <a:r>
              <a:rPr lang="en-US" b="1" dirty="0"/>
              <a:t>Requirements:</a:t>
            </a:r>
          </a:p>
          <a:p>
            <a:pPr marL="342900" indent="-342900">
              <a:buFont typeface="Arial" panose="020B0604020202020204" pitchFamily="34" charset="0"/>
              <a:buChar char="•"/>
            </a:pPr>
            <a:r>
              <a:rPr lang="en-US" dirty="0"/>
              <a:t>Predicts scale formation and its location</a:t>
            </a:r>
          </a:p>
          <a:p>
            <a:pPr marL="342900" indent="-342900">
              <a:buFont typeface="Arial" panose="020B0604020202020204" pitchFamily="34" charset="0"/>
              <a:buChar char="•"/>
            </a:pPr>
            <a:r>
              <a:rPr lang="en-US" dirty="0"/>
              <a:t>Identify Type of scale and its severity</a:t>
            </a:r>
          </a:p>
          <a:p>
            <a:pPr marL="342900" indent="-342900">
              <a:buFont typeface="Arial" panose="020B0604020202020204" pitchFamily="34" charset="0"/>
              <a:buChar char="•"/>
            </a:pPr>
            <a:r>
              <a:rPr lang="en-US" dirty="0"/>
              <a:t>Optimization of scale inhibitor dosing.</a:t>
            </a:r>
          </a:p>
        </p:txBody>
      </p:sp>
      <p:pic>
        <p:nvPicPr>
          <p:cNvPr id="14" name="Picture 13">
            <a:extLst>
              <a:ext uri="{FF2B5EF4-FFF2-40B4-BE49-F238E27FC236}">
                <a16:creationId xmlns:a16="http://schemas.microsoft.com/office/drawing/2014/main" id="{26258DD4-3BA7-63EB-2B61-32A3795DA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84504" y="1602103"/>
            <a:ext cx="4624784" cy="4579621"/>
          </a:xfrm>
          <a:prstGeom prst="rect">
            <a:avLst/>
          </a:prstGeom>
        </p:spPr>
      </p:pic>
    </p:spTree>
    <p:extLst>
      <p:ext uri="{BB962C8B-B14F-4D97-AF65-F5344CB8AC3E}">
        <p14:creationId xmlns:p14="http://schemas.microsoft.com/office/powerpoint/2010/main" val="27453364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E415A-2016-B887-86E6-BA3D280B80F0}"/>
              </a:ext>
            </a:extLst>
          </p:cNvPr>
          <p:cNvSpPr>
            <a:spLocks noGrp="1"/>
          </p:cNvSpPr>
          <p:nvPr>
            <p:ph type="title"/>
          </p:nvPr>
        </p:nvSpPr>
        <p:spPr/>
        <p:txBody>
          <a:bodyPr/>
          <a:lstStyle/>
          <a:p>
            <a:r>
              <a:rPr lang="en-US" dirty="0"/>
              <a:t>Kinetic Models</a:t>
            </a:r>
          </a:p>
        </p:txBody>
      </p:sp>
    </p:spTree>
    <p:extLst>
      <p:ext uri="{BB962C8B-B14F-4D97-AF65-F5344CB8AC3E}">
        <p14:creationId xmlns:p14="http://schemas.microsoft.com/office/powerpoint/2010/main" val="325177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32F83FC3-FA31-7BC8-9B37-D3D8042B2E35}"/>
              </a:ext>
            </a:extLst>
          </p:cNvPr>
          <p:cNvGraphicFramePr>
            <a:graphicFrameLocks noGrp="1"/>
          </p:cNvGraphicFramePr>
          <p:nvPr>
            <p:ph idx="4294967295"/>
            <p:extLst>
              <p:ext uri="{D42A27DB-BD31-4B8C-83A1-F6EECF244321}">
                <p14:modId xmlns:p14="http://schemas.microsoft.com/office/powerpoint/2010/main" val="1893133665"/>
              </p:ext>
            </p:extLst>
          </p:nvPr>
        </p:nvGraphicFramePr>
        <p:xfrm>
          <a:off x="300039" y="188624"/>
          <a:ext cx="11591922" cy="658876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2509736">
                  <a:extLst>
                    <a:ext uri="{9D8B030D-6E8A-4147-A177-3AD203B41FA5}">
                      <a16:colId xmlns:a16="http://schemas.microsoft.com/office/drawing/2014/main" val="1274649808"/>
                    </a:ext>
                  </a:extLst>
                </a:gridCol>
                <a:gridCol w="2334639">
                  <a:extLst>
                    <a:ext uri="{9D8B030D-6E8A-4147-A177-3AD203B41FA5}">
                      <a16:colId xmlns:a16="http://schemas.microsoft.com/office/drawing/2014/main" val="2114671980"/>
                    </a:ext>
                  </a:extLst>
                </a:gridCol>
                <a:gridCol w="1361872">
                  <a:extLst>
                    <a:ext uri="{9D8B030D-6E8A-4147-A177-3AD203B41FA5}">
                      <a16:colId xmlns:a16="http://schemas.microsoft.com/office/drawing/2014/main" val="125575515"/>
                    </a:ext>
                  </a:extLst>
                </a:gridCol>
                <a:gridCol w="3000136">
                  <a:extLst>
                    <a:ext uri="{9D8B030D-6E8A-4147-A177-3AD203B41FA5}">
                      <a16:colId xmlns:a16="http://schemas.microsoft.com/office/drawing/2014/main" val="3464939645"/>
                    </a:ext>
                  </a:extLst>
                </a:gridCol>
                <a:gridCol w="1931987">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System / Domain</a:t>
                      </a:r>
                    </a:p>
                  </a:txBody>
                  <a:tcPr/>
                </a:tc>
                <a:tc>
                  <a:txBody>
                    <a:bodyPr/>
                    <a:lstStyle/>
                    <a:p>
                      <a:r>
                        <a:rPr lang="en-US" dirty="0"/>
                        <a:t>Scale Type</a:t>
                      </a:r>
                    </a:p>
                  </a:txBody>
                  <a:tcPr/>
                </a:tc>
                <a:tc>
                  <a:txBody>
                    <a:bodyPr/>
                    <a:lstStyle/>
                    <a:p>
                      <a:pPr>
                        <a:buNone/>
                      </a:pPr>
                      <a:r>
                        <a:rPr lang="en-US" dirty="0"/>
                        <a:t>Methodology</a:t>
                      </a:r>
                    </a:p>
                  </a:txBody>
                  <a:tcPr anchor="ctr"/>
                </a:tc>
                <a:tc>
                  <a:txBody>
                    <a:bodyPr/>
                    <a:lstStyle/>
                    <a:p>
                      <a:r>
                        <a:rPr lang="en-US" dirty="0"/>
                        <a:t>Inhibitor, Dosage</a:t>
                      </a:r>
                    </a:p>
                  </a:txBody>
                  <a:tcPr/>
                </a:tc>
                <a:extLst>
                  <a:ext uri="{0D108BD9-81ED-4DB2-BD59-A6C34878D82A}">
                    <a16:rowId xmlns:a16="http://schemas.microsoft.com/office/drawing/2014/main" val="229248636"/>
                  </a:ext>
                </a:extLst>
              </a:tr>
              <a:tr h="370840">
                <a:tc>
                  <a:txBody>
                    <a:bodyPr/>
                    <a:lstStyle/>
                    <a:p>
                      <a:r>
                        <a:rPr lang="en-US" dirty="0"/>
                        <a:t>1</a:t>
                      </a:r>
                    </a:p>
                  </a:txBody>
                  <a:tcPr/>
                </a:tc>
                <a:tc>
                  <a:txBody>
                    <a:bodyPr/>
                    <a:lstStyle/>
                    <a:p>
                      <a:r>
                        <a:rPr lang="en-US" dirty="0"/>
                        <a:t>scale deposition kinetics</a:t>
                      </a:r>
                    </a:p>
                  </a:txBody>
                  <a:tcPr/>
                </a:tc>
                <a:tc>
                  <a:txBody>
                    <a:bodyPr/>
                    <a:lstStyle/>
                    <a:p>
                      <a:r>
                        <a:rPr lang="en-US" dirty="0"/>
                        <a:t>Reservoir + pipeline</a:t>
                      </a:r>
                    </a:p>
                  </a:txBody>
                  <a:tcPr/>
                </a:tc>
                <a:tc>
                  <a:txBody>
                    <a:bodyPr/>
                    <a:lstStyle/>
                    <a:p>
                      <a:r>
                        <a:rPr lang="en-US" dirty="0" err="1"/>
                        <a:t>CaCO</a:t>
                      </a:r>
                      <a:r>
                        <a:rPr lang="en-US" dirty="0"/>
                        <a:t>₃, </a:t>
                      </a:r>
                      <a:r>
                        <a:rPr lang="en-US" dirty="0" err="1"/>
                        <a:t>BaSO</a:t>
                      </a:r>
                      <a:r>
                        <a:rPr lang="en-US" dirty="0"/>
                        <a:t>₄, </a:t>
                      </a:r>
                      <a:r>
                        <a:rPr lang="en-US" dirty="0" err="1"/>
                        <a:t>FeCO</a:t>
                      </a:r>
                      <a:r>
                        <a:rPr lang="en-US" dirty="0"/>
                        <a:t>₃</a:t>
                      </a:r>
                    </a:p>
                  </a:txBody>
                  <a:tcPr/>
                </a:tc>
                <a:tc>
                  <a:txBody>
                    <a:bodyPr/>
                    <a:lstStyle/>
                    <a:p>
                      <a:r>
                        <a:rPr lang="en-US" dirty="0"/>
                        <a:t>Coupled thermodynamic–kinetic + transport equations</a:t>
                      </a:r>
                    </a:p>
                  </a:txBody>
                  <a:tcPr/>
                </a:tc>
                <a:tc>
                  <a:txBody>
                    <a:bodyPr/>
                    <a:lstStyle/>
                    <a:p>
                      <a:r>
                        <a:rPr lang="en-US" dirty="0"/>
                        <a:t>-</a:t>
                      </a:r>
                    </a:p>
                  </a:txBody>
                  <a:tcPr/>
                </a:tc>
                <a:extLst>
                  <a:ext uri="{0D108BD9-81ED-4DB2-BD59-A6C34878D82A}">
                    <a16:rowId xmlns:a16="http://schemas.microsoft.com/office/drawing/2014/main" val="1386937106"/>
                  </a:ext>
                </a:extLst>
              </a:tr>
              <a:tr h="370840">
                <a:tc>
                  <a:txBody>
                    <a:bodyPr/>
                    <a:lstStyle/>
                    <a:p>
                      <a:r>
                        <a:rPr lang="en-US" dirty="0"/>
                        <a:t>2</a:t>
                      </a:r>
                    </a:p>
                  </a:txBody>
                  <a:tcPr/>
                </a:tc>
                <a:tc>
                  <a:txBody>
                    <a:bodyPr/>
                    <a:lstStyle/>
                    <a:p>
                      <a:r>
                        <a:rPr lang="en-US" dirty="0"/>
                        <a:t>CaCO3 precipitation kinetics on steel pipe and inhibition kinetics</a:t>
                      </a:r>
                    </a:p>
                  </a:txBody>
                  <a:tcPr/>
                </a:tc>
                <a:tc>
                  <a:txBody>
                    <a:bodyPr/>
                    <a:lstStyle/>
                    <a:p>
                      <a:r>
                        <a:rPr lang="en-US" dirty="0"/>
                        <a:t>Carbon steel pipe / tubing; flowing pipe reactor</a:t>
                      </a:r>
                    </a:p>
                  </a:txBody>
                  <a:tcPr/>
                </a:tc>
                <a:tc>
                  <a:txBody>
                    <a:bodyPr/>
                    <a:lstStyle/>
                    <a:p>
                      <a:r>
                        <a:rPr lang="en-US" dirty="0"/>
                        <a:t>CaCO3</a:t>
                      </a:r>
                    </a:p>
                  </a:txBody>
                  <a:tcPr/>
                </a:tc>
                <a:tc>
                  <a:txBody>
                    <a:bodyPr/>
                    <a:lstStyle/>
                    <a:p>
                      <a:r>
                        <a:rPr lang="en-US" dirty="0"/>
                        <a:t>Plug-flow reactor + mass transfer modeling</a:t>
                      </a:r>
                    </a:p>
                  </a:txBody>
                  <a:tcPr/>
                </a:tc>
                <a:tc>
                  <a:txBody>
                    <a:bodyPr/>
                    <a:lstStyle/>
                    <a:p>
                      <a:r>
                        <a:rPr lang="en-US" dirty="0"/>
                        <a:t>MIC + inhibitor retention (“memory effect”)</a:t>
                      </a:r>
                    </a:p>
                  </a:txBody>
                  <a:tcPr/>
                </a:tc>
                <a:extLst>
                  <a:ext uri="{0D108BD9-81ED-4DB2-BD59-A6C34878D82A}">
                    <a16:rowId xmlns:a16="http://schemas.microsoft.com/office/drawing/2014/main" val="1023817088"/>
                  </a:ext>
                </a:extLst>
              </a:tr>
              <a:tr h="370840">
                <a:tc>
                  <a:txBody>
                    <a:bodyPr/>
                    <a:lstStyle/>
                    <a:p>
                      <a:r>
                        <a:rPr lang="en-US" dirty="0"/>
                        <a:t>3</a:t>
                      </a:r>
                    </a:p>
                  </a:txBody>
                  <a:tcPr/>
                </a:tc>
                <a:tc>
                  <a:txBody>
                    <a:bodyPr/>
                    <a:lstStyle/>
                    <a:p>
                      <a:r>
                        <a:rPr lang="en-US" dirty="0"/>
                        <a:t>Effect of Ca²⁺ / HCO₃⁻ on kinetics + inhibitor performance</a:t>
                      </a:r>
                    </a:p>
                  </a:txBody>
                  <a:tcPr/>
                </a:tc>
                <a:tc>
                  <a:txBody>
                    <a:bodyPr/>
                    <a:lstStyle/>
                    <a:p>
                      <a:r>
                        <a:rPr lang="en-US" dirty="0"/>
                        <a:t>Pipeline (dynamic loop)</a:t>
                      </a:r>
                    </a:p>
                  </a:txBody>
                  <a:tcPr/>
                </a:tc>
                <a:tc>
                  <a:txBody>
                    <a:bodyPr/>
                    <a:lstStyle/>
                    <a:p>
                      <a:r>
                        <a:rPr lang="en-US" dirty="0" err="1"/>
                        <a:t>CaCO</a:t>
                      </a:r>
                      <a:r>
                        <a:rPr lang="en-US" dirty="0"/>
                        <a:t>₃</a:t>
                      </a:r>
                    </a:p>
                  </a:txBody>
                  <a:tcPr/>
                </a:tc>
                <a:tc>
                  <a:txBody>
                    <a:bodyPr/>
                    <a:lstStyle/>
                    <a:p>
                      <a:r>
                        <a:rPr lang="en-US" dirty="0"/>
                        <a:t>Dynamic tube blocking tests</a:t>
                      </a:r>
                    </a:p>
                  </a:txBody>
                  <a:tcPr/>
                </a:tc>
                <a:tc>
                  <a:txBody>
                    <a:bodyPr/>
                    <a:lstStyle/>
                    <a:p>
                      <a:r>
                        <a:rPr lang="en-US" dirty="0"/>
                        <a:t>MIC, inhibitor  ranking depends on water chemistry </a:t>
                      </a:r>
                    </a:p>
                  </a:txBody>
                  <a:tcPr/>
                </a:tc>
                <a:extLst>
                  <a:ext uri="{0D108BD9-81ED-4DB2-BD59-A6C34878D82A}">
                    <a16:rowId xmlns:a16="http://schemas.microsoft.com/office/drawing/2014/main" val="2898086783"/>
                  </a:ext>
                </a:extLst>
              </a:tr>
              <a:tr h="370840">
                <a:tc>
                  <a:txBody>
                    <a:bodyPr/>
                    <a:lstStyle/>
                    <a:p>
                      <a:r>
                        <a:rPr lang="en-US" dirty="0"/>
                        <a:t>4</a:t>
                      </a:r>
                    </a:p>
                  </a:txBody>
                  <a:tcPr/>
                </a:tc>
                <a:tc>
                  <a:txBody>
                    <a:bodyPr/>
                    <a:lstStyle/>
                    <a:p>
                      <a:r>
                        <a:rPr lang="en-US" dirty="0"/>
                        <a:t>Surface scaling kinetics + real-time visualization</a:t>
                      </a:r>
                    </a:p>
                  </a:txBody>
                  <a:tcPr/>
                </a:tc>
                <a:tc>
                  <a:txBody>
                    <a:bodyPr/>
                    <a:lstStyle/>
                    <a:p>
                      <a:r>
                        <a:rPr lang="en-US" dirty="0"/>
                        <a:t>Pipe surface (flow cell)</a:t>
                      </a:r>
                    </a:p>
                  </a:txBody>
                  <a:tcPr/>
                </a:tc>
                <a:tc>
                  <a:txBody>
                    <a:bodyPr/>
                    <a:lstStyle/>
                    <a:p>
                      <a:pPr>
                        <a:buNone/>
                      </a:pPr>
                      <a:r>
                        <a:rPr lang="en-US" dirty="0" err="1"/>
                        <a:t>CaCO</a:t>
                      </a:r>
                      <a:r>
                        <a:rPr lang="en-US" dirty="0"/>
                        <a:t>₃, </a:t>
                      </a:r>
                      <a:r>
                        <a:rPr lang="en-US" dirty="0" err="1"/>
                        <a:t>BaSO</a:t>
                      </a:r>
                      <a:r>
                        <a:rPr lang="en-US" dirty="0"/>
                        <a:t>₄</a:t>
                      </a:r>
                    </a:p>
                  </a:txBody>
                  <a:tcPr anchor="ctr"/>
                </a:tc>
                <a:tc>
                  <a:txBody>
                    <a:bodyPr/>
                    <a:lstStyle/>
                    <a:p>
                      <a:r>
                        <a:rPr lang="en-US" dirty="0"/>
                        <a:t>In-situ imaging + flow rig</a:t>
                      </a:r>
                    </a:p>
                  </a:txBody>
                  <a:tcPr/>
                </a:tc>
                <a:tc>
                  <a:txBody>
                    <a:bodyPr/>
                    <a:lstStyle/>
                    <a:p>
                      <a:r>
                        <a:rPr lang="en-US" dirty="0"/>
                        <a:t>bulk MIC can aggravate surface scaling</a:t>
                      </a:r>
                    </a:p>
                  </a:txBody>
                  <a:tcPr/>
                </a:tc>
                <a:extLst>
                  <a:ext uri="{0D108BD9-81ED-4DB2-BD59-A6C34878D82A}">
                    <a16:rowId xmlns:a16="http://schemas.microsoft.com/office/drawing/2014/main" val="1625302993"/>
                  </a:ext>
                </a:extLst>
              </a:tr>
              <a:tr h="370840">
                <a:tc>
                  <a:txBody>
                    <a:bodyPr/>
                    <a:lstStyle/>
                    <a:p>
                      <a:r>
                        <a:rPr lang="en-US" dirty="0"/>
                        <a:t>5</a:t>
                      </a:r>
                    </a:p>
                  </a:txBody>
                  <a:tcPr/>
                </a:tc>
                <a:tc>
                  <a:txBody>
                    <a:bodyPr/>
                    <a:lstStyle/>
                    <a:p>
                      <a:r>
                        <a:rPr lang="en-US" dirty="0"/>
                        <a:t>Effect of turbulence on barite precipitation and inhibition.</a:t>
                      </a:r>
                    </a:p>
                  </a:txBody>
                  <a:tcPr/>
                </a:tc>
                <a:tc>
                  <a:txBody>
                    <a:bodyPr/>
                    <a:lstStyle/>
                    <a:p>
                      <a:r>
                        <a:rPr lang="en-US" dirty="0"/>
                        <a:t>Pipeline (tubing + valves)</a:t>
                      </a:r>
                    </a:p>
                  </a:txBody>
                  <a:tcPr/>
                </a:tc>
                <a:tc>
                  <a:txBody>
                    <a:bodyPr/>
                    <a:lstStyle/>
                    <a:p>
                      <a:r>
                        <a:rPr lang="en-US" dirty="0" err="1"/>
                        <a:t>BaSO</a:t>
                      </a:r>
                      <a:r>
                        <a:rPr lang="en-US" dirty="0"/>
                        <a:t>₄</a:t>
                      </a:r>
                    </a:p>
                  </a:txBody>
                  <a:tcPr/>
                </a:tc>
                <a:tc>
                  <a:txBody>
                    <a:bodyPr/>
                    <a:lstStyle/>
                    <a:p>
                      <a:r>
                        <a:rPr lang="en-US" dirty="0"/>
                        <a:t>Experimental tubing system</a:t>
                      </a:r>
                    </a:p>
                  </a:txBody>
                  <a:tcPr/>
                </a:tc>
                <a:tc>
                  <a:txBody>
                    <a:bodyPr/>
                    <a:lstStyle/>
                    <a:p>
                      <a:r>
                        <a:rPr lang="en-US" dirty="0"/>
                        <a:t>turbulence can increase precipitation kinetics in the presence of inhibitor and affect optimal dose development</a:t>
                      </a:r>
                    </a:p>
                  </a:txBody>
                  <a:tcPr/>
                </a:tc>
                <a:extLst>
                  <a:ext uri="{0D108BD9-81ED-4DB2-BD59-A6C34878D82A}">
                    <a16:rowId xmlns:a16="http://schemas.microsoft.com/office/drawing/2014/main" val="577392297"/>
                  </a:ext>
                </a:extLst>
              </a:tr>
            </a:tbl>
          </a:graphicData>
        </a:graphic>
      </p:graphicFrame>
    </p:spTree>
    <p:extLst>
      <p:ext uri="{BB962C8B-B14F-4D97-AF65-F5344CB8AC3E}">
        <p14:creationId xmlns:p14="http://schemas.microsoft.com/office/powerpoint/2010/main" val="29538123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E3F13-BE2D-6018-060F-4BA083DEDD7B}"/>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C36DE75C-7BFD-5E38-6E72-2F5A142D0D2D}"/>
              </a:ext>
            </a:extLst>
          </p:cNvPr>
          <p:cNvGraphicFramePr>
            <a:graphicFrameLocks noGrp="1"/>
          </p:cNvGraphicFramePr>
          <p:nvPr>
            <p:ph idx="4294967295"/>
            <p:extLst>
              <p:ext uri="{D42A27DB-BD31-4B8C-83A1-F6EECF244321}">
                <p14:modId xmlns:p14="http://schemas.microsoft.com/office/powerpoint/2010/main" val="2241070318"/>
              </p:ext>
            </p:extLst>
          </p:nvPr>
        </p:nvGraphicFramePr>
        <p:xfrm>
          <a:off x="300039" y="188624"/>
          <a:ext cx="11591922" cy="219964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2509736">
                  <a:extLst>
                    <a:ext uri="{9D8B030D-6E8A-4147-A177-3AD203B41FA5}">
                      <a16:colId xmlns:a16="http://schemas.microsoft.com/office/drawing/2014/main" val="1274649808"/>
                    </a:ext>
                  </a:extLst>
                </a:gridCol>
                <a:gridCol w="2334639">
                  <a:extLst>
                    <a:ext uri="{9D8B030D-6E8A-4147-A177-3AD203B41FA5}">
                      <a16:colId xmlns:a16="http://schemas.microsoft.com/office/drawing/2014/main" val="2114671980"/>
                    </a:ext>
                  </a:extLst>
                </a:gridCol>
                <a:gridCol w="1361872">
                  <a:extLst>
                    <a:ext uri="{9D8B030D-6E8A-4147-A177-3AD203B41FA5}">
                      <a16:colId xmlns:a16="http://schemas.microsoft.com/office/drawing/2014/main" val="125575515"/>
                    </a:ext>
                  </a:extLst>
                </a:gridCol>
                <a:gridCol w="3000136">
                  <a:extLst>
                    <a:ext uri="{9D8B030D-6E8A-4147-A177-3AD203B41FA5}">
                      <a16:colId xmlns:a16="http://schemas.microsoft.com/office/drawing/2014/main" val="3464939645"/>
                    </a:ext>
                  </a:extLst>
                </a:gridCol>
                <a:gridCol w="1931987">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System / Domain</a:t>
                      </a:r>
                    </a:p>
                  </a:txBody>
                  <a:tcPr/>
                </a:tc>
                <a:tc>
                  <a:txBody>
                    <a:bodyPr/>
                    <a:lstStyle/>
                    <a:p>
                      <a:r>
                        <a:rPr lang="en-US" dirty="0"/>
                        <a:t>Scale Type</a:t>
                      </a:r>
                    </a:p>
                  </a:txBody>
                  <a:tcPr/>
                </a:tc>
                <a:tc>
                  <a:txBody>
                    <a:bodyPr/>
                    <a:lstStyle/>
                    <a:p>
                      <a:pPr>
                        <a:buNone/>
                      </a:pPr>
                      <a:r>
                        <a:rPr lang="en-US" dirty="0"/>
                        <a:t>Methodology</a:t>
                      </a:r>
                    </a:p>
                  </a:txBody>
                  <a:tcPr anchor="ctr"/>
                </a:tc>
                <a:tc>
                  <a:txBody>
                    <a:bodyPr/>
                    <a:lstStyle/>
                    <a:p>
                      <a:r>
                        <a:rPr lang="en-US" dirty="0"/>
                        <a:t>Inhibitor, Dosage</a:t>
                      </a:r>
                    </a:p>
                  </a:txBody>
                  <a:tcPr/>
                </a:tc>
                <a:extLst>
                  <a:ext uri="{0D108BD9-81ED-4DB2-BD59-A6C34878D82A}">
                    <a16:rowId xmlns:a16="http://schemas.microsoft.com/office/drawing/2014/main" val="229248636"/>
                  </a:ext>
                </a:extLst>
              </a:tr>
              <a:tr h="370840">
                <a:tc>
                  <a:txBody>
                    <a:bodyPr/>
                    <a:lstStyle/>
                    <a:p>
                      <a:r>
                        <a:rPr lang="en-US" dirty="0"/>
                        <a:t>6</a:t>
                      </a:r>
                    </a:p>
                  </a:txBody>
                  <a:tcPr/>
                </a:tc>
                <a:tc>
                  <a:txBody>
                    <a:bodyPr/>
                    <a:lstStyle/>
                    <a:p>
                      <a:r>
                        <a:rPr lang="en-US" dirty="0"/>
                        <a:t>Theoretical model for induction time &amp; inhibitor dosage</a:t>
                      </a:r>
                    </a:p>
                  </a:txBody>
                  <a:tcPr/>
                </a:tc>
                <a:tc>
                  <a:txBody>
                    <a:bodyPr/>
                    <a:lstStyle/>
                    <a:p>
                      <a:r>
                        <a:rPr lang="en-US" dirty="0"/>
                        <a:t>General (lab + model)</a:t>
                      </a:r>
                    </a:p>
                  </a:txBody>
                  <a:tcPr/>
                </a:tc>
                <a:tc>
                  <a:txBody>
                    <a:bodyPr/>
                    <a:lstStyle/>
                    <a:p>
                      <a:pPr>
                        <a:buNone/>
                      </a:pPr>
                      <a:r>
                        <a:rPr lang="en-US" dirty="0" err="1"/>
                        <a:t>CaCO</a:t>
                      </a:r>
                      <a:r>
                        <a:rPr lang="en-US" dirty="0"/>
                        <a:t>₃, </a:t>
                      </a:r>
                      <a:r>
                        <a:rPr lang="en-US" dirty="0" err="1"/>
                        <a:t>BaSO</a:t>
                      </a:r>
                      <a:r>
                        <a:rPr lang="en-US" dirty="0"/>
                        <a:t>₄</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CNT-based kinetic model</a:t>
                      </a:r>
                    </a:p>
                  </a:txBody>
                  <a:tcPr anchor="ctr"/>
                </a:tc>
                <a:tc>
                  <a:txBody>
                    <a:bodyPr/>
                    <a:lstStyle/>
                    <a:p>
                      <a:r>
                        <a:rPr lang="en-US" dirty="0"/>
                        <a:t>Predict </a:t>
                      </a:r>
                      <a:r>
                        <a:rPr lang="en-US" sz="1800" b="0" i="0" u="none" strike="noStrike" kern="1200" baseline="0" dirty="0">
                          <a:solidFill>
                            <a:schemeClr val="dk1"/>
                          </a:solidFill>
                          <a:latin typeface="+mn-lt"/>
                          <a:ea typeface="+mn-ea"/>
                          <a:cs typeface="+mn-cs"/>
                        </a:rPr>
                        <a:t>minimum effective dosage</a:t>
                      </a:r>
                      <a:endParaRPr lang="en-US" dirty="0"/>
                    </a:p>
                  </a:txBody>
                  <a:tcPr/>
                </a:tc>
                <a:extLst>
                  <a:ext uri="{0D108BD9-81ED-4DB2-BD59-A6C34878D82A}">
                    <a16:rowId xmlns:a16="http://schemas.microsoft.com/office/drawing/2014/main" val="1386937106"/>
                  </a:ext>
                </a:extLst>
              </a:tr>
              <a:tr h="370840">
                <a:tc>
                  <a:txBody>
                    <a:bodyPr/>
                    <a:lstStyle/>
                    <a:p>
                      <a:r>
                        <a:rPr lang="en-US" dirty="0"/>
                        <a:t>7</a:t>
                      </a:r>
                    </a:p>
                  </a:txBody>
                  <a:tcPr/>
                </a:tc>
                <a:tc>
                  <a:txBody>
                    <a:bodyPr/>
                    <a:lstStyle/>
                    <a:p>
                      <a:r>
                        <a:rPr lang="en-US" dirty="0"/>
                        <a:t>Kinetic scale prediction with flow dynamics (FFD + CFD)</a:t>
                      </a:r>
                    </a:p>
                  </a:txBody>
                  <a:tcPr/>
                </a:tc>
                <a:tc>
                  <a:txBody>
                    <a:bodyPr/>
                    <a:lstStyle/>
                    <a:p>
                      <a:r>
                        <a:rPr lang="en-US" dirty="0"/>
                        <a:t>Full production system (pipelines, tubing, valves)</a:t>
                      </a:r>
                    </a:p>
                  </a:txBody>
                  <a:tcPr/>
                </a:tc>
                <a:tc>
                  <a:txBody>
                    <a:bodyPr/>
                    <a:lstStyle/>
                    <a:p>
                      <a:r>
                        <a:rPr lang="en-US" dirty="0" err="1"/>
                        <a:t>CaCO</a:t>
                      </a:r>
                      <a:r>
                        <a:rPr lang="en-US" dirty="0"/>
                        <a:t>₃, </a:t>
                      </a:r>
                      <a:r>
                        <a:rPr lang="en-US" dirty="0" err="1"/>
                        <a:t>BaSO</a:t>
                      </a:r>
                      <a:r>
                        <a:rPr lang="en-US" dirty="0"/>
                        <a:t>₄, </a:t>
                      </a:r>
                      <a:r>
                        <a:rPr lang="en-US" dirty="0" err="1"/>
                        <a:t>SrSO</a:t>
                      </a:r>
                      <a:r>
                        <a:rPr lang="en-US" dirty="0"/>
                        <a:t>₄</a:t>
                      </a:r>
                    </a:p>
                  </a:txBody>
                  <a:tcPr/>
                </a:tc>
                <a:tc>
                  <a:txBody>
                    <a:bodyPr/>
                    <a:lstStyle/>
                    <a:p>
                      <a:r>
                        <a:rPr lang="en-US" dirty="0"/>
                        <a:t>CFD + kinetic model + lab + field validation</a:t>
                      </a:r>
                    </a:p>
                  </a:txBody>
                  <a:tcPr/>
                </a:tc>
                <a:tc>
                  <a:txBody>
                    <a:bodyPr/>
                    <a:lstStyle/>
                    <a:p>
                      <a:r>
                        <a:rPr lang="en-US" dirty="0"/>
                        <a:t>Links kinetics to inhibitor demand</a:t>
                      </a:r>
                    </a:p>
                  </a:txBody>
                  <a:tcPr/>
                </a:tc>
                <a:extLst>
                  <a:ext uri="{0D108BD9-81ED-4DB2-BD59-A6C34878D82A}">
                    <a16:rowId xmlns:a16="http://schemas.microsoft.com/office/drawing/2014/main" val="1023817088"/>
                  </a:ext>
                </a:extLst>
              </a:tr>
            </a:tbl>
          </a:graphicData>
        </a:graphic>
      </p:graphicFrame>
      <p:sp>
        <p:nvSpPr>
          <p:cNvPr id="2" name="Content Placeholder 2">
            <a:extLst>
              <a:ext uri="{FF2B5EF4-FFF2-40B4-BE49-F238E27FC236}">
                <a16:creationId xmlns:a16="http://schemas.microsoft.com/office/drawing/2014/main" id="{5A10DB0B-7597-C7CF-365A-CCD010EA41A3}"/>
              </a:ext>
            </a:extLst>
          </p:cNvPr>
          <p:cNvSpPr txBox="1">
            <a:spLocks/>
          </p:cNvSpPr>
          <p:nvPr/>
        </p:nvSpPr>
        <p:spPr>
          <a:xfrm>
            <a:off x="300036" y="2633235"/>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Main Conclusions</a:t>
            </a:r>
          </a:p>
          <a:p>
            <a:pPr marL="457200" indent="-457200">
              <a:buFont typeface="Arial" panose="020B0604020202020204" pitchFamily="34" charset="0"/>
              <a:buAutoNum type="arabicPeriod"/>
            </a:pPr>
            <a:r>
              <a:rPr lang="en-US" dirty="0"/>
              <a:t>Thermodynamic prediction (SI) alone is fundamentally insufficient</a:t>
            </a:r>
          </a:p>
          <a:p>
            <a:pPr marL="457200" indent="-457200">
              <a:buFont typeface="Arial" panose="020B0604020202020204" pitchFamily="34" charset="0"/>
              <a:buAutoNum type="arabicPeriod"/>
            </a:pPr>
            <a:r>
              <a:rPr lang="en-US" dirty="0"/>
              <a:t>Flow regime (shear, turbulence, velocity) is a primary driver of scaling</a:t>
            </a:r>
          </a:p>
          <a:p>
            <a:pPr marL="457200" indent="-457200">
              <a:buFont typeface="Arial" panose="020B0604020202020204" pitchFamily="34" charset="0"/>
              <a:buAutoNum type="arabicPeriod"/>
            </a:pPr>
            <a:r>
              <a:rPr lang="en-US" dirty="0"/>
              <a:t>Inhibitor dosage depends on water chemistry, flow regime, temperature and pressure</a:t>
            </a:r>
          </a:p>
          <a:p>
            <a:pPr marL="457200" indent="-457200">
              <a:buFont typeface="Arial" panose="020B0604020202020204" pitchFamily="34" charset="0"/>
              <a:buAutoNum type="arabicPeriod"/>
            </a:pPr>
            <a:r>
              <a:rPr lang="en-US" dirty="0"/>
              <a:t>Inhibitor delay before becomes effective</a:t>
            </a:r>
          </a:p>
          <a:p>
            <a:pPr marL="457200" indent="-457200">
              <a:buFont typeface="Arial" panose="020B0604020202020204" pitchFamily="34" charset="0"/>
              <a:buAutoNum type="arabicPeriod"/>
            </a:pPr>
            <a:r>
              <a:rPr lang="en-US" dirty="0"/>
              <a:t>Induction time is a key operational variable for predicting onset and scheduling inhibitor dosing</a:t>
            </a:r>
          </a:p>
          <a:p>
            <a:pPr marL="457200" indent="-457200">
              <a:buFont typeface="Arial" panose="020B0604020202020204" pitchFamily="34" charset="0"/>
              <a:buAutoNum type="arabicPeriod"/>
            </a:pPr>
            <a:r>
              <a:rPr lang="en-US" dirty="0"/>
              <a:t>Existing models are static, lab-based, and not integrated with real-time field data</a:t>
            </a:r>
          </a:p>
        </p:txBody>
      </p:sp>
    </p:spTree>
    <p:extLst>
      <p:ext uri="{BB962C8B-B14F-4D97-AF65-F5344CB8AC3E}">
        <p14:creationId xmlns:p14="http://schemas.microsoft.com/office/powerpoint/2010/main" val="1447713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EE95F60-E480-A54D-C381-9E0600BA6207}"/>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How they determine MIC</a:t>
            </a:r>
          </a:p>
          <a:p>
            <a:pPr marL="457200" indent="-457200">
              <a:buAutoNum type="arabicPeriod"/>
            </a:pPr>
            <a:r>
              <a:rPr lang="en-US" dirty="0"/>
              <a:t>Observer whether precipitation resumes after inhibitor pretreatment, and measure protection times after known inhibitor exposures</a:t>
            </a:r>
          </a:p>
          <a:p>
            <a:pPr marL="457200" indent="-457200">
              <a:buAutoNum type="arabicPeriod"/>
            </a:pPr>
            <a:r>
              <a:rPr lang="en-US" dirty="0"/>
              <a:t> Blank (no inhibitor) to determine the baseline time to blockage, test inhibitor concentrations and define MIC from the lowest dose that passes the tube-blocking criterion.</a:t>
            </a:r>
          </a:p>
          <a:p>
            <a:pPr marL="457200" indent="-457200">
              <a:buAutoNum type="arabicPeriod"/>
            </a:pPr>
            <a:r>
              <a:rPr lang="en-US" dirty="0"/>
              <a:t>Add inhibitor and determine the critical saturation index needed to induce precipitation under each flow regime.</a:t>
            </a:r>
          </a:p>
          <a:p>
            <a:pPr marL="457200" indent="-457200">
              <a:buFont typeface="Arial" panose="020B0604020202020204" pitchFamily="34" charset="0"/>
              <a:buAutoNum type="arabicPeriod"/>
            </a:pPr>
            <a:r>
              <a:rPr lang="en-US" dirty="0"/>
              <a:t>Predicted mechanistically from induction-time modeling or kinetic/critical-SR</a:t>
            </a:r>
          </a:p>
        </p:txBody>
      </p:sp>
    </p:spTree>
    <p:extLst>
      <p:ext uri="{BB962C8B-B14F-4D97-AF65-F5344CB8AC3E}">
        <p14:creationId xmlns:p14="http://schemas.microsoft.com/office/powerpoint/2010/main" val="2042983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FC10B-4E49-98F1-22F3-C94146FB0F8B}"/>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9822776-DF7A-A514-513A-EA728F3FA135}"/>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dirty="0"/>
              <a:t>Ref</a:t>
            </a:r>
          </a:p>
          <a:p>
            <a:pPr marL="457200" indent="-457200">
              <a:buAutoNum type="arabicPeriod"/>
            </a:pPr>
            <a:r>
              <a:rPr lang="en-US" sz="1500" dirty="0"/>
              <a:t>Zhang, P., Liu, Y., Kuok, S. C., Kan, A. T., &amp; Tomson, M. B. (2019). Development of modeling approaches to describe mineral scale deposition kinetics in porous medium and pipe flow system. </a:t>
            </a:r>
            <a:r>
              <a:rPr lang="en-US" sz="1500" i="1" dirty="0"/>
              <a:t>Journal of Petroleum Science and Engineering</a:t>
            </a:r>
            <a:r>
              <a:rPr lang="en-US" sz="1500" dirty="0"/>
              <a:t>, </a:t>
            </a:r>
            <a:r>
              <a:rPr lang="en-US" sz="1500" i="1" dirty="0"/>
              <a:t>178</a:t>
            </a:r>
            <a:r>
              <a:rPr lang="en-US" sz="1500" dirty="0"/>
              <a:t>, 594-601.</a:t>
            </a:r>
          </a:p>
          <a:p>
            <a:pPr marL="457200" indent="-457200">
              <a:buAutoNum type="arabicPeriod"/>
            </a:pPr>
            <a:r>
              <a:rPr lang="en-US" sz="1500" dirty="0"/>
              <a:t>Zhang, N., Kan, A., Shi, W., </a:t>
            </a:r>
            <a:r>
              <a:rPr lang="en-US" sz="1500" dirty="0" err="1"/>
              <a:t>Alsaiari</a:t>
            </a:r>
            <a:r>
              <a:rPr lang="en-US" sz="1500" dirty="0"/>
              <a:t>, H., &amp; Tomson, M. B. (2012, May). A novel approach to the study of CaCO3 precipitation kinetics on carbon steel pipe. In </a:t>
            </a:r>
            <a:r>
              <a:rPr lang="en-US" sz="1500" i="1" dirty="0"/>
              <a:t>SPE International Oilfield Scale Conference and Exhibition</a:t>
            </a:r>
            <a:r>
              <a:rPr lang="en-US" sz="1500" dirty="0"/>
              <a:t> (pp. SPE-155263). SPE.</a:t>
            </a:r>
          </a:p>
          <a:p>
            <a:pPr marL="457200" indent="-457200">
              <a:buAutoNum type="arabicPeriod"/>
            </a:pPr>
            <a:r>
              <a:rPr lang="en-US" sz="1500" dirty="0"/>
              <a:t>Xu, B., Chen, T., Chen, P., Montgomerie, H., Hagen, T., Guo, Q., &amp; Yang, X. (2014, May). Influence of Calcium and Bicarbonate Ions on the Kinetics of CaCO3 Formation at High Temperature in the Absence and Presence of Scale Inhibitors. In </a:t>
            </a:r>
            <a:r>
              <a:rPr lang="en-US" sz="1500" i="1" dirty="0"/>
              <a:t>SPE International Oilfield Scale Conference and Exhibition</a:t>
            </a:r>
            <a:r>
              <a:rPr lang="en-US" sz="1500" dirty="0"/>
              <a:t> (p. D021S007R002). SPE.</a:t>
            </a:r>
          </a:p>
          <a:p>
            <a:pPr marL="457200" indent="-457200">
              <a:buAutoNum type="arabicPeriod"/>
            </a:pPr>
            <a:r>
              <a:rPr lang="en-US" sz="1500" dirty="0"/>
              <a:t>Sanni, O., </a:t>
            </a:r>
            <a:r>
              <a:rPr lang="en-US" sz="1500" dirty="0" err="1"/>
              <a:t>Bukuaghangin</a:t>
            </a:r>
            <a:r>
              <a:rPr lang="en-US" sz="1500" dirty="0"/>
              <a:t>, O., Charpentier, T., Kapur, N., &amp; Neville, A. (2016, May). Using a real-time </a:t>
            </a:r>
            <a:r>
              <a:rPr lang="en-US" sz="1500" dirty="0" err="1"/>
              <a:t>visualisation</a:t>
            </a:r>
            <a:r>
              <a:rPr lang="en-US" sz="1500" dirty="0"/>
              <a:t> technique for the assessment of surface scale kinetics and mechanisms of inhibition. In </a:t>
            </a:r>
            <a:r>
              <a:rPr lang="en-US" sz="1500" i="1" dirty="0"/>
              <a:t>SPE International Oilfield Scale Conference and Exhibition</a:t>
            </a:r>
            <a:r>
              <a:rPr lang="en-US" sz="1500" dirty="0"/>
              <a:t> (pp. SPE-179896). SPE.</a:t>
            </a:r>
          </a:p>
          <a:p>
            <a:pPr marL="457200" indent="-457200">
              <a:buAutoNum type="arabicPeriod"/>
            </a:pPr>
            <a:r>
              <a:rPr lang="en-US" sz="1500" dirty="0"/>
              <a:t>Yan, F., Zhang, F., Bhandari, N., Ruan, G., </a:t>
            </a:r>
            <a:r>
              <a:rPr lang="en-US" sz="1500" dirty="0" err="1"/>
              <a:t>Alsaiari</a:t>
            </a:r>
            <a:r>
              <a:rPr lang="en-US" sz="1500" dirty="0"/>
              <a:t>, H., Dai, Z., ... &amp; Tomson, M. (2017, April). The effect of turbulence on mineral scale control in oilfield. In </a:t>
            </a:r>
            <a:r>
              <a:rPr lang="en-US" sz="1500" i="1" dirty="0"/>
              <a:t>SPE International Conference on Oilfield Chemistry?</a:t>
            </a:r>
            <a:r>
              <a:rPr lang="en-US" sz="1500" dirty="0"/>
              <a:t> (p. D021S006R002). SPE.</a:t>
            </a:r>
          </a:p>
          <a:p>
            <a:pPr marL="457200" indent="-457200">
              <a:buAutoNum type="arabicPeriod"/>
            </a:pPr>
            <a:r>
              <a:rPr lang="en-US" sz="1500" dirty="0"/>
              <a:t>Dai, Z., Zhang, F., Yan, F., Bhandari, N., Ruan, G., Zhang, Z., ... &amp; Tomson, M. (2017, April). A new theoretical model for the induction time and scale inhibitor dosage predictions for calcite and barite over wide ranges of temperature, inhibition concentration and saturation index. In </a:t>
            </a:r>
            <a:r>
              <a:rPr lang="en-US" sz="1500" i="1" dirty="0"/>
              <a:t>SPE International Conference on Oilfield Chemistry?</a:t>
            </a:r>
            <a:r>
              <a:rPr lang="en-US" sz="1500" dirty="0"/>
              <a:t> (p. D031S009R004). SPE.</a:t>
            </a:r>
          </a:p>
          <a:p>
            <a:pPr marL="457200" indent="-457200">
              <a:buAutoNum type="arabicPeriod"/>
            </a:pPr>
            <a:r>
              <a:rPr lang="en-US" sz="1500" dirty="0"/>
              <a:t>Stalker, R., Nichols, D., Fyfe, A., </a:t>
            </a:r>
            <a:r>
              <a:rPr lang="en-US" sz="1500" dirty="0" err="1"/>
              <a:t>Zarareh</a:t>
            </a:r>
            <a:r>
              <a:rPr lang="en-US" sz="1500" dirty="0"/>
              <a:t>, A., Boyde, D., &amp; Graham, G. (2024, November). Advances in inorganic scale prediction–development and validation of a kinetic model. In </a:t>
            </a:r>
            <a:r>
              <a:rPr lang="en-US" sz="1500" i="1" dirty="0"/>
              <a:t>Abu Dhabi International Petroleum Exhibition and Conference</a:t>
            </a:r>
            <a:r>
              <a:rPr lang="en-US" sz="1500" dirty="0"/>
              <a:t> (p. D021S045R001). SPE.</a:t>
            </a:r>
          </a:p>
        </p:txBody>
      </p:sp>
    </p:spTree>
    <p:extLst>
      <p:ext uri="{BB962C8B-B14F-4D97-AF65-F5344CB8AC3E}">
        <p14:creationId xmlns:p14="http://schemas.microsoft.com/office/powerpoint/2010/main" val="150591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A06E1-D9A8-D64A-D41C-09E05AAB68F1}"/>
              </a:ext>
            </a:extLst>
          </p:cNvPr>
          <p:cNvSpPr>
            <a:spLocks noGrp="1"/>
          </p:cNvSpPr>
          <p:nvPr>
            <p:ph type="title"/>
          </p:nvPr>
        </p:nvSpPr>
        <p:spPr/>
        <p:txBody>
          <a:bodyPr/>
          <a:lstStyle/>
          <a:p>
            <a:r>
              <a:rPr lang="en-US" dirty="0"/>
              <a:t>Transport - Deposition Approaches</a:t>
            </a:r>
          </a:p>
        </p:txBody>
      </p:sp>
    </p:spTree>
    <p:extLst>
      <p:ext uri="{BB962C8B-B14F-4D97-AF65-F5344CB8AC3E}">
        <p14:creationId xmlns:p14="http://schemas.microsoft.com/office/powerpoint/2010/main" val="38372325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AFE42F-0A49-0943-A851-2B84BE7CCE04}"/>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14195363-06A6-3D80-3F5A-1CB5EF3A4D07}"/>
              </a:ext>
            </a:extLst>
          </p:cNvPr>
          <p:cNvGraphicFramePr>
            <a:graphicFrameLocks noGrp="1"/>
          </p:cNvGraphicFramePr>
          <p:nvPr>
            <p:ph idx="4294967295"/>
            <p:extLst>
              <p:ext uri="{D42A27DB-BD31-4B8C-83A1-F6EECF244321}">
                <p14:modId xmlns:p14="http://schemas.microsoft.com/office/powerpoint/2010/main" val="1300402924"/>
              </p:ext>
            </p:extLst>
          </p:nvPr>
        </p:nvGraphicFramePr>
        <p:xfrm>
          <a:off x="300039" y="188624"/>
          <a:ext cx="11591922" cy="640588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2509736">
                  <a:extLst>
                    <a:ext uri="{9D8B030D-6E8A-4147-A177-3AD203B41FA5}">
                      <a16:colId xmlns:a16="http://schemas.microsoft.com/office/drawing/2014/main" val="1274649808"/>
                    </a:ext>
                  </a:extLst>
                </a:gridCol>
                <a:gridCol w="2334639">
                  <a:extLst>
                    <a:ext uri="{9D8B030D-6E8A-4147-A177-3AD203B41FA5}">
                      <a16:colId xmlns:a16="http://schemas.microsoft.com/office/drawing/2014/main" val="2114671980"/>
                    </a:ext>
                  </a:extLst>
                </a:gridCol>
                <a:gridCol w="1361872">
                  <a:extLst>
                    <a:ext uri="{9D8B030D-6E8A-4147-A177-3AD203B41FA5}">
                      <a16:colId xmlns:a16="http://schemas.microsoft.com/office/drawing/2014/main" val="125575515"/>
                    </a:ext>
                  </a:extLst>
                </a:gridCol>
                <a:gridCol w="3000136">
                  <a:extLst>
                    <a:ext uri="{9D8B030D-6E8A-4147-A177-3AD203B41FA5}">
                      <a16:colId xmlns:a16="http://schemas.microsoft.com/office/drawing/2014/main" val="3464939645"/>
                    </a:ext>
                  </a:extLst>
                </a:gridCol>
                <a:gridCol w="1931987">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System / Domain</a:t>
                      </a:r>
                    </a:p>
                  </a:txBody>
                  <a:tcPr/>
                </a:tc>
                <a:tc>
                  <a:txBody>
                    <a:bodyPr/>
                    <a:lstStyle/>
                    <a:p>
                      <a:r>
                        <a:rPr lang="en-US" dirty="0"/>
                        <a:t>Scale Type</a:t>
                      </a:r>
                    </a:p>
                  </a:txBody>
                  <a:tcPr/>
                </a:tc>
                <a:tc>
                  <a:txBody>
                    <a:bodyPr/>
                    <a:lstStyle/>
                    <a:p>
                      <a:pPr>
                        <a:buNone/>
                      </a:pPr>
                      <a:r>
                        <a:rPr lang="en-US" dirty="0"/>
                        <a:t>Methodology</a:t>
                      </a:r>
                    </a:p>
                  </a:txBody>
                  <a:tcPr anchor="ctr"/>
                </a:tc>
                <a:tc>
                  <a:txBody>
                    <a:bodyPr/>
                    <a:lstStyle/>
                    <a:p>
                      <a:r>
                        <a:rPr lang="en-US" dirty="0"/>
                        <a:t>Inhibitor, Dosage</a:t>
                      </a:r>
                    </a:p>
                  </a:txBody>
                  <a:tcPr/>
                </a:tc>
                <a:extLst>
                  <a:ext uri="{0D108BD9-81ED-4DB2-BD59-A6C34878D82A}">
                    <a16:rowId xmlns:a16="http://schemas.microsoft.com/office/drawing/2014/main" val="229248636"/>
                  </a:ext>
                </a:extLst>
              </a:tr>
              <a:tr h="370840">
                <a:tc>
                  <a:txBody>
                    <a:bodyPr/>
                    <a:lstStyle/>
                    <a:p>
                      <a:r>
                        <a:rPr lang="en-US" dirty="0"/>
                        <a:t>1</a:t>
                      </a:r>
                    </a:p>
                  </a:txBody>
                  <a:tcPr/>
                </a:tc>
                <a:tc>
                  <a:txBody>
                    <a:bodyPr/>
                    <a:lstStyle/>
                    <a:p>
                      <a:r>
                        <a:rPr lang="en-US" dirty="0"/>
                        <a:t>Scaling tendency prediction</a:t>
                      </a:r>
                    </a:p>
                  </a:txBody>
                  <a:tcPr/>
                </a:tc>
                <a:tc>
                  <a:txBody>
                    <a:bodyPr/>
                    <a:lstStyle/>
                    <a:p>
                      <a:r>
                        <a:rPr lang="en-US" dirty="0"/>
                        <a:t>Gas production tubing + flowline</a:t>
                      </a:r>
                    </a:p>
                  </a:txBody>
                  <a:tcPr/>
                </a:tc>
                <a:tc>
                  <a:txBody>
                    <a:bodyPr/>
                    <a:lstStyle/>
                    <a:p>
                      <a:r>
                        <a:rPr lang="en-US" dirty="0" err="1"/>
                        <a:t>FeS</a:t>
                      </a:r>
                      <a:r>
                        <a:rPr lang="en-US" dirty="0"/>
                        <a:t>, </a:t>
                      </a:r>
                      <a:r>
                        <a:rPr lang="en-US" dirty="0" err="1"/>
                        <a:t>FeCO</a:t>
                      </a:r>
                      <a:r>
                        <a:rPr lang="en-US" dirty="0"/>
                        <a:t>₃</a:t>
                      </a:r>
                    </a:p>
                  </a:txBody>
                  <a:tcPr/>
                </a:tc>
                <a:tc>
                  <a:txBody>
                    <a:bodyPr/>
                    <a:lstStyle/>
                    <a:p>
                      <a:r>
                        <a:rPr lang="en-US" dirty="0"/>
                        <a:t>Semi-empirical + mechanistic (corrosion + precipitation + erosion, ST ratio)</a:t>
                      </a:r>
                    </a:p>
                  </a:txBody>
                  <a:tcPr/>
                </a:tc>
                <a:tc>
                  <a:txBody>
                    <a:bodyPr/>
                    <a:lstStyle/>
                    <a:p>
                      <a:r>
                        <a:rPr lang="en-US" dirty="0"/>
                        <a:t>-</a:t>
                      </a:r>
                    </a:p>
                  </a:txBody>
                  <a:tcPr/>
                </a:tc>
                <a:extLst>
                  <a:ext uri="{0D108BD9-81ED-4DB2-BD59-A6C34878D82A}">
                    <a16:rowId xmlns:a16="http://schemas.microsoft.com/office/drawing/2014/main" val="1386937106"/>
                  </a:ext>
                </a:extLst>
              </a:tr>
              <a:tr h="370840">
                <a:tc>
                  <a:txBody>
                    <a:bodyPr/>
                    <a:lstStyle/>
                    <a:p>
                      <a:r>
                        <a:rPr lang="en-US" dirty="0"/>
                        <a:t>2</a:t>
                      </a:r>
                    </a:p>
                  </a:txBody>
                  <a:tcPr/>
                </a:tc>
                <a:tc>
                  <a:txBody>
                    <a:bodyPr/>
                    <a:lstStyle/>
                    <a:p>
                      <a:r>
                        <a:rPr lang="en-US" dirty="0"/>
                        <a:t>Effect of turbulence on deposition &amp; inhibition</a:t>
                      </a:r>
                    </a:p>
                  </a:txBody>
                  <a:tcPr/>
                </a:tc>
                <a:tc>
                  <a:txBody>
                    <a:bodyPr/>
                    <a:lstStyle/>
                    <a:p>
                      <a:r>
                        <a:rPr lang="en-US" dirty="0"/>
                        <a:t>Turbulent regions (valves, chokes, near-well)</a:t>
                      </a:r>
                    </a:p>
                  </a:txBody>
                  <a:tcPr/>
                </a:tc>
                <a:tc>
                  <a:txBody>
                    <a:bodyPr/>
                    <a:lstStyle/>
                    <a:p>
                      <a:r>
                        <a:rPr lang="en-US" dirty="0" err="1"/>
                        <a:t>BaSO</a:t>
                      </a:r>
                      <a:r>
                        <a:rPr lang="en-US" dirty="0"/>
                        <a:t>₄ </a:t>
                      </a:r>
                    </a:p>
                  </a:txBody>
                  <a:tcPr/>
                </a:tc>
                <a:tc>
                  <a:txBody>
                    <a:bodyPr/>
                    <a:lstStyle/>
                    <a:p>
                      <a:r>
                        <a:rPr lang="en-US" dirty="0"/>
                        <a:t>Experimental (rotating cylinder, high Reynolds number)</a:t>
                      </a:r>
                    </a:p>
                  </a:txBody>
                  <a:tcPr/>
                </a:tc>
                <a:tc>
                  <a:txBody>
                    <a:bodyPr/>
                    <a:lstStyle/>
                    <a:p>
                      <a:r>
                        <a:rPr lang="en-US" dirty="0"/>
                        <a:t>Mechanism-dependent performance; dosage not simply ↑ with turbulence</a:t>
                      </a:r>
                    </a:p>
                  </a:txBody>
                  <a:tcPr/>
                </a:tc>
                <a:extLst>
                  <a:ext uri="{0D108BD9-81ED-4DB2-BD59-A6C34878D82A}">
                    <a16:rowId xmlns:a16="http://schemas.microsoft.com/office/drawing/2014/main" val="1023817088"/>
                  </a:ext>
                </a:extLst>
              </a:tr>
              <a:tr h="370840">
                <a:tc>
                  <a:txBody>
                    <a:bodyPr/>
                    <a:lstStyle/>
                    <a:p>
                      <a:r>
                        <a:rPr lang="en-US" dirty="0"/>
                        <a:t>3</a:t>
                      </a:r>
                    </a:p>
                  </a:txBody>
                  <a:tcPr/>
                </a:tc>
                <a:tc>
                  <a:txBody>
                    <a:bodyPr/>
                    <a:lstStyle/>
                    <a:p>
                      <a:pPr>
                        <a:buNone/>
                      </a:pPr>
                      <a:r>
                        <a:rPr lang="en-US" dirty="0"/>
                        <a:t>Integrated deposition + inhibitor prediction</a:t>
                      </a:r>
                    </a:p>
                  </a:txBody>
                  <a:tcPr anchor="ctr"/>
                </a:tc>
                <a:tc>
                  <a:txBody>
                    <a:bodyPr/>
                    <a:lstStyle/>
                    <a:p>
                      <a:r>
                        <a:rPr lang="en-US" dirty="0"/>
                        <a:t>Tubing / flow systems</a:t>
                      </a:r>
                    </a:p>
                  </a:txBody>
                  <a:tcPr/>
                </a:tc>
                <a:tc>
                  <a:txBody>
                    <a:bodyPr/>
                    <a:lstStyle/>
                    <a:p>
                      <a:r>
                        <a:rPr lang="en-US" dirty="0" err="1"/>
                        <a:t>BaSO</a:t>
                      </a:r>
                      <a:r>
                        <a:rPr lang="en-US" dirty="0"/>
                        <a:t>₄, </a:t>
                      </a:r>
                      <a:r>
                        <a:rPr lang="en-US" dirty="0" err="1"/>
                        <a:t>CaCO</a:t>
                      </a:r>
                      <a:r>
                        <a:rPr lang="en-US" dirty="0"/>
                        <a:t>₃</a:t>
                      </a:r>
                    </a:p>
                  </a:txBody>
                  <a:tcPr/>
                </a:tc>
                <a:tc>
                  <a:txBody>
                    <a:bodyPr/>
                    <a:lstStyle/>
                    <a:p>
                      <a:r>
                        <a:rPr lang="en-US" dirty="0"/>
                        <a:t>Hybrid model (thermodynamics + kinetics + transport + adsorption)</a:t>
                      </a:r>
                    </a:p>
                  </a:txBody>
                  <a:tcPr/>
                </a:tc>
                <a:tc>
                  <a:txBody>
                    <a:bodyPr/>
                    <a:lstStyle/>
                    <a:p>
                      <a:r>
                        <a:rPr lang="en-US" dirty="0"/>
                        <a:t>Predicts </a:t>
                      </a:r>
                      <a:r>
                        <a:rPr lang="en-US" b="0" dirty="0"/>
                        <a:t>minimum inhibitor dosage </a:t>
                      </a:r>
                      <a:r>
                        <a:rPr lang="en-US" dirty="0"/>
                        <a:t>(Langmuir adsorption model)</a:t>
                      </a:r>
                    </a:p>
                  </a:txBody>
                  <a:tcPr/>
                </a:tc>
                <a:extLst>
                  <a:ext uri="{0D108BD9-81ED-4DB2-BD59-A6C34878D82A}">
                    <a16:rowId xmlns:a16="http://schemas.microsoft.com/office/drawing/2014/main" val="2898086783"/>
                  </a:ext>
                </a:extLst>
              </a:tr>
              <a:tr h="370840">
                <a:tc>
                  <a:txBody>
                    <a:bodyPr/>
                    <a:lstStyle/>
                    <a:p>
                      <a:r>
                        <a:rPr lang="en-US" dirty="0"/>
                        <a:t>4</a:t>
                      </a:r>
                    </a:p>
                  </a:txBody>
                  <a:tcPr/>
                </a:tc>
                <a:tc>
                  <a:txBody>
                    <a:bodyPr/>
                    <a:lstStyle/>
                    <a:p>
                      <a:pPr>
                        <a:buNone/>
                      </a:pPr>
                      <a:r>
                        <a:rPr lang="en-US" dirty="0"/>
                        <a:t>Inhibitor evaluation under turbulent flow</a:t>
                      </a:r>
                    </a:p>
                  </a:txBody>
                  <a:tcPr anchor="ctr"/>
                </a:tc>
                <a:tc>
                  <a:txBody>
                    <a:bodyPr/>
                    <a:lstStyle/>
                    <a:p>
                      <a:r>
                        <a:rPr lang="en-US" dirty="0"/>
                        <a:t>Subsea pipelines</a:t>
                      </a:r>
                    </a:p>
                  </a:txBody>
                  <a:tcPr/>
                </a:tc>
                <a:tc>
                  <a:txBody>
                    <a:bodyPr/>
                    <a:lstStyle/>
                    <a:p>
                      <a:pPr>
                        <a:buNone/>
                      </a:pPr>
                      <a:r>
                        <a:rPr lang="en-US" dirty="0" err="1"/>
                        <a:t>CaCO</a:t>
                      </a:r>
                      <a:r>
                        <a:rPr lang="en-US" dirty="0"/>
                        <a:t>₃</a:t>
                      </a:r>
                    </a:p>
                  </a:txBody>
                  <a:tcPr anchor="ctr"/>
                </a:tc>
                <a:tc>
                  <a:txBody>
                    <a:bodyPr/>
                    <a:lstStyle/>
                    <a:p>
                      <a:r>
                        <a:rPr lang="en-US" dirty="0"/>
                        <a:t>Experimental </a:t>
                      </a:r>
                    </a:p>
                  </a:txBody>
                  <a:tcPr/>
                </a:tc>
                <a:tc>
                  <a:txBody>
                    <a:bodyPr/>
                    <a:lstStyle/>
                    <a:p>
                      <a:r>
                        <a:rPr lang="en-US" dirty="0"/>
                        <a:t>Direct </a:t>
                      </a:r>
                      <a:r>
                        <a:rPr lang="en-US" b="0" dirty="0"/>
                        <a:t>MIC </a:t>
                      </a:r>
                      <a:r>
                        <a:rPr lang="en-US" dirty="0"/>
                        <a:t>determination</a:t>
                      </a:r>
                      <a:endParaRPr lang="en-US" b="0" dirty="0"/>
                    </a:p>
                  </a:txBody>
                  <a:tcPr/>
                </a:tc>
                <a:extLst>
                  <a:ext uri="{0D108BD9-81ED-4DB2-BD59-A6C34878D82A}">
                    <a16:rowId xmlns:a16="http://schemas.microsoft.com/office/drawing/2014/main" val="1625302993"/>
                  </a:ext>
                </a:extLst>
              </a:tr>
              <a:tr h="370840">
                <a:tc>
                  <a:txBody>
                    <a:bodyPr/>
                    <a:lstStyle/>
                    <a:p>
                      <a:r>
                        <a:rPr lang="en-US" dirty="0"/>
                        <a:t>5</a:t>
                      </a:r>
                    </a:p>
                  </a:txBody>
                  <a:tcPr/>
                </a:tc>
                <a:tc>
                  <a:txBody>
                    <a:bodyPr/>
                    <a:lstStyle/>
                    <a:p>
                      <a:r>
                        <a:rPr lang="en-US" dirty="0"/>
                        <a:t>Inhibitor transport in pipelines</a:t>
                      </a:r>
                    </a:p>
                  </a:txBody>
                  <a:tcPr/>
                </a:tc>
                <a:tc>
                  <a:txBody>
                    <a:bodyPr/>
                    <a:lstStyle/>
                    <a:p>
                      <a:r>
                        <a:rPr lang="en-US" dirty="0"/>
                        <a:t>Oil-water trunkline + multiple flowlines</a:t>
                      </a:r>
                    </a:p>
                  </a:txBody>
                  <a:tcPr/>
                </a:tc>
                <a:tc>
                  <a:txBody>
                    <a:bodyPr/>
                    <a:lstStyle/>
                    <a:p>
                      <a:r>
                        <a:rPr lang="en-US" dirty="0"/>
                        <a:t>General inorganic scales</a:t>
                      </a:r>
                    </a:p>
                  </a:txBody>
                  <a:tcPr/>
                </a:tc>
                <a:tc>
                  <a:txBody>
                    <a:bodyPr/>
                    <a:lstStyle/>
                    <a:p>
                      <a:r>
                        <a:rPr lang="en-US" dirty="0"/>
                        <a:t>CFD </a:t>
                      </a:r>
                    </a:p>
                  </a:txBody>
                  <a:tcPr/>
                </a:tc>
                <a:tc>
                  <a:txBody>
                    <a:bodyPr/>
                    <a:lstStyle/>
                    <a:p>
                      <a:r>
                        <a:rPr lang="en-US" dirty="0"/>
                        <a:t>Predicts </a:t>
                      </a:r>
                      <a:r>
                        <a:rPr lang="en-US" b="0" dirty="0"/>
                        <a:t>inhibitor distribution</a:t>
                      </a:r>
                    </a:p>
                  </a:txBody>
                  <a:tcPr/>
                </a:tc>
                <a:extLst>
                  <a:ext uri="{0D108BD9-81ED-4DB2-BD59-A6C34878D82A}">
                    <a16:rowId xmlns:a16="http://schemas.microsoft.com/office/drawing/2014/main" val="577392297"/>
                  </a:ext>
                </a:extLst>
              </a:tr>
              <a:tr h="370840">
                <a:tc>
                  <a:txBody>
                    <a:bodyPr/>
                    <a:lstStyle/>
                    <a:p>
                      <a:r>
                        <a:rPr lang="en-US" dirty="0"/>
                        <a:t>6</a:t>
                      </a:r>
                    </a:p>
                  </a:txBody>
                  <a:tcPr/>
                </a:tc>
                <a:tc>
                  <a:txBody>
                    <a:bodyPr/>
                    <a:lstStyle/>
                    <a:p>
                      <a:r>
                        <a:rPr lang="en-US" dirty="0"/>
                        <a:t>Surface vs bulk scaling mechanisms</a:t>
                      </a:r>
                    </a:p>
                  </a:txBody>
                  <a:tcPr/>
                </a:tc>
                <a:tc>
                  <a:txBody>
                    <a:bodyPr/>
                    <a:lstStyle/>
                    <a:p>
                      <a:r>
                        <a:rPr lang="en-US" dirty="0"/>
                        <a:t>General pipelines / equipment surfaces</a:t>
                      </a:r>
                    </a:p>
                  </a:txBody>
                  <a:tcPr/>
                </a:tc>
                <a:tc>
                  <a:txBody>
                    <a:bodyPr/>
                    <a:lstStyle/>
                    <a:p>
                      <a:r>
                        <a:rPr lang="en-US" dirty="0" err="1"/>
                        <a:t>CaCO</a:t>
                      </a:r>
                      <a:r>
                        <a:rPr lang="en-US" dirty="0"/>
                        <a:t>₃, </a:t>
                      </a:r>
                      <a:r>
                        <a:rPr lang="en-US" dirty="0" err="1"/>
                        <a:t>BaSO</a:t>
                      </a:r>
                      <a:r>
                        <a:rPr lang="en-US" dirty="0"/>
                        <a:t>₄</a:t>
                      </a:r>
                    </a:p>
                  </a:txBody>
                  <a:tcPr/>
                </a:tc>
                <a:tc>
                  <a:txBody>
                    <a:bodyPr/>
                    <a:lstStyle/>
                    <a:p>
                      <a:r>
                        <a:rPr lang="en-US" dirty="0"/>
                        <a:t>Mechanistic + experimental review (nucleation, growth, MIC concepts)</a:t>
                      </a:r>
                    </a:p>
                  </a:txBody>
                  <a:tcPr/>
                </a:tc>
                <a:tc>
                  <a:txBody>
                    <a:bodyPr/>
                    <a:lstStyle/>
                    <a:p>
                      <a:r>
                        <a:rPr lang="en-US" dirty="0"/>
                        <a:t>Conceptual (</a:t>
                      </a:r>
                      <a:r>
                        <a:rPr lang="en-US" dirty="0" err="1"/>
                        <a:t>MIC_bulk</a:t>
                      </a:r>
                      <a:r>
                        <a:rPr lang="en-US" dirty="0"/>
                        <a:t> vs </a:t>
                      </a:r>
                      <a:r>
                        <a:rPr lang="en-US" dirty="0" err="1"/>
                        <a:t>MIC_surface</a:t>
                      </a:r>
                      <a:r>
                        <a:rPr lang="en-US" dirty="0"/>
                        <a:t>)</a:t>
                      </a:r>
                      <a:endParaRPr lang="en-US" b="0" dirty="0"/>
                    </a:p>
                  </a:txBody>
                  <a:tcPr/>
                </a:tc>
                <a:extLst>
                  <a:ext uri="{0D108BD9-81ED-4DB2-BD59-A6C34878D82A}">
                    <a16:rowId xmlns:a16="http://schemas.microsoft.com/office/drawing/2014/main" val="2206186345"/>
                  </a:ext>
                </a:extLst>
              </a:tr>
            </a:tbl>
          </a:graphicData>
        </a:graphic>
      </p:graphicFrame>
    </p:spTree>
    <p:extLst>
      <p:ext uri="{BB962C8B-B14F-4D97-AF65-F5344CB8AC3E}">
        <p14:creationId xmlns:p14="http://schemas.microsoft.com/office/powerpoint/2010/main" val="364922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D7A03-2B82-B852-144A-0D4152AC07CB}"/>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2FE690B2-59E6-B401-ED17-677C63280EE2}"/>
              </a:ext>
            </a:extLst>
          </p:cNvPr>
          <p:cNvGraphicFramePr>
            <a:graphicFrameLocks noGrp="1"/>
          </p:cNvGraphicFramePr>
          <p:nvPr>
            <p:ph idx="4294967295"/>
            <p:extLst>
              <p:ext uri="{D42A27DB-BD31-4B8C-83A1-F6EECF244321}">
                <p14:modId xmlns:p14="http://schemas.microsoft.com/office/powerpoint/2010/main" val="696055382"/>
              </p:ext>
            </p:extLst>
          </p:nvPr>
        </p:nvGraphicFramePr>
        <p:xfrm>
          <a:off x="300039" y="188624"/>
          <a:ext cx="11591922" cy="247396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2509736">
                  <a:extLst>
                    <a:ext uri="{9D8B030D-6E8A-4147-A177-3AD203B41FA5}">
                      <a16:colId xmlns:a16="http://schemas.microsoft.com/office/drawing/2014/main" val="1274649808"/>
                    </a:ext>
                  </a:extLst>
                </a:gridCol>
                <a:gridCol w="2334639">
                  <a:extLst>
                    <a:ext uri="{9D8B030D-6E8A-4147-A177-3AD203B41FA5}">
                      <a16:colId xmlns:a16="http://schemas.microsoft.com/office/drawing/2014/main" val="2114671980"/>
                    </a:ext>
                  </a:extLst>
                </a:gridCol>
                <a:gridCol w="1361872">
                  <a:extLst>
                    <a:ext uri="{9D8B030D-6E8A-4147-A177-3AD203B41FA5}">
                      <a16:colId xmlns:a16="http://schemas.microsoft.com/office/drawing/2014/main" val="125575515"/>
                    </a:ext>
                  </a:extLst>
                </a:gridCol>
                <a:gridCol w="3000136">
                  <a:extLst>
                    <a:ext uri="{9D8B030D-6E8A-4147-A177-3AD203B41FA5}">
                      <a16:colId xmlns:a16="http://schemas.microsoft.com/office/drawing/2014/main" val="3464939645"/>
                    </a:ext>
                  </a:extLst>
                </a:gridCol>
                <a:gridCol w="1931987">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System / Domain</a:t>
                      </a:r>
                    </a:p>
                  </a:txBody>
                  <a:tcPr/>
                </a:tc>
                <a:tc>
                  <a:txBody>
                    <a:bodyPr/>
                    <a:lstStyle/>
                    <a:p>
                      <a:r>
                        <a:rPr lang="en-US" dirty="0"/>
                        <a:t>Scale Type</a:t>
                      </a:r>
                    </a:p>
                  </a:txBody>
                  <a:tcPr/>
                </a:tc>
                <a:tc>
                  <a:txBody>
                    <a:bodyPr/>
                    <a:lstStyle/>
                    <a:p>
                      <a:pPr>
                        <a:buNone/>
                      </a:pPr>
                      <a:r>
                        <a:rPr lang="en-US" dirty="0"/>
                        <a:t>Methodology</a:t>
                      </a:r>
                    </a:p>
                  </a:txBody>
                  <a:tcPr anchor="ctr"/>
                </a:tc>
                <a:tc>
                  <a:txBody>
                    <a:bodyPr/>
                    <a:lstStyle/>
                    <a:p>
                      <a:r>
                        <a:rPr lang="en-US" dirty="0"/>
                        <a:t>Inhibitor, Dosage</a:t>
                      </a:r>
                    </a:p>
                  </a:txBody>
                  <a:tcPr/>
                </a:tc>
                <a:extLst>
                  <a:ext uri="{0D108BD9-81ED-4DB2-BD59-A6C34878D82A}">
                    <a16:rowId xmlns:a16="http://schemas.microsoft.com/office/drawing/2014/main" val="229248636"/>
                  </a:ext>
                </a:extLst>
              </a:tr>
              <a:tr h="370840">
                <a:tc>
                  <a:txBody>
                    <a:bodyPr/>
                    <a:lstStyle/>
                    <a:p>
                      <a:r>
                        <a:rPr lang="en-US" dirty="0"/>
                        <a:t>7</a:t>
                      </a:r>
                    </a:p>
                  </a:txBody>
                  <a:tcPr/>
                </a:tc>
                <a:tc>
                  <a:txBody>
                    <a:bodyPr/>
                    <a:lstStyle/>
                    <a:p>
                      <a:r>
                        <a:rPr lang="en-US" dirty="0"/>
                        <a:t>Coupled transport of inhibitor + scaling ions</a:t>
                      </a:r>
                    </a:p>
                  </a:txBody>
                  <a:tcPr/>
                </a:tc>
                <a:tc>
                  <a:txBody>
                    <a:bodyPr/>
                    <a:lstStyle/>
                    <a:p>
                      <a:r>
                        <a:rPr lang="en-US" dirty="0"/>
                        <a:t>Trunkline with multiple flowlines</a:t>
                      </a:r>
                    </a:p>
                  </a:txBody>
                  <a:tcPr/>
                </a:tc>
                <a:tc>
                  <a:txBody>
                    <a:bodyPr/>
                    <a:lstStyle/>
                    <a:p>
                      <a:pPr>
                        <a:buNone/>
                      </a:pPr>
                      <a:r>
                        <a:rPr lang="en-US" dirty="0"/>
                        <a:t>General</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CFD </a:t>
                      </a:r>
                    </a:p>
                  </a:txBody>
                  <a:tcPr anchor="ctr"/>
                </a:tc>
                <a:tc>
                  <a:txBody>
                    <a:bodyPr/>
                    <a:lstStyle/>
                    <a:p>
                      <a:r>
                        <a:rPr lang="en-US" dirty="0"/>
                        <a:t>Enables optimization of </a:t>
                      </a:r>
                      <a:r>
                        <a:rPr lang="en-US" b="0" dirty="0"/>
                        <a:t>injection rate &amp; location</a:t>
                      </a:r>
                    </a:p>
                  </a:txBody>
                  <a:tcPr/>
                </a:tc>
                <a:extLst>
                  <a:ext uri="{0D108BD9-81ED-4DB2-BD59-A6C34878D82A}">
                    <a16:rowId xmlns:a16="http://schemas.microsoft.com/office/drawing/2014/main" val="1386937106"/>
                  </a:ext>
                </a:extLst>
              </a:tr>
              <a:tr h="370840">
                <a:tc>
                  <a:txBody>
                    <a:bodyPr/>
                    <a:lstStyle/>
                    <a:p>
                      <a:r>
                        <a:rPr lang="en-US" dirty="0"/>
                        <a:t>8</a:t>
                      </a:r>
                    </a:p>
                  </a:txBody>
                  <a:tcPr/>
                </a:tc>
                <a:tc>
                  <a:txBody>
                    <a:bodyPr/>
                    <a:lstStyle/>
                    <a:p>
                      <a:pPr>
                        <a:buNone/>
                      </a:pPr>
                      <a:r>
                        <a:rPr lang="en-US" dirty="0"/>
                        <a:t>Scaling rate prediction in pipelines</a:t>
                      </a:r>
                    </a:p>
                  </a:txBody>
                  <a:tcPr anchor="ctr"/>
                </a:tc>
                <a:tc>
                  <a:txBody>
                    <a:bodyPr/>
                    <a:lstStyle/>
                    <a:p>
                      <a:r>
                        <a:rPr lang="en-US" dirty="0"/>
                        <a:t>Wet-gas pipelines</a:t>
                      </a:r>
                    </a:p>
                  </a:txBody>
                  <a:tcPr/>
                </a:tc>
                <a:tc>
                  <a:txBody>
                    <a:bodyPr/>
                    <a:lstStyle/>
                    <a:p>
                      <a:r>
                        <a:rPr lang="en-US" dirty="0" err="1"/>
                        <a:t>CaCO</a:t>
                      </a:r>
                      <a:r>
                        <a:rPr lang="en-US" dirty="0"/>
                        <a:t>₃ </a:t>
                      </a:r>
                      <a:r>
                        <a:rPr lang="en-US" dirty="0" err="1"/>
                        <a:t>BaSO</a:t>
                      </a:r>
                      <a:r>
                        <a:rPr lang="en-US" dirty="0"/>
                        <a:t>₄, </a:t>
                      </a:r>
                      <a:r>
                        <a:rPr lang="en-US" dirty="0" err="1"/>
                        <a:t>SrSO</a:t>
                      </a:r>
                      <a:r>
                        <a:rPr lang="en-US" dirty="0"/>
                        <a:t>₄</a:t>
                      </a:r>
                    </a:p>
                  </a:txBody>
                  <a:tcPr/>
                </a:tc>
                <a:tc>
                  <a:txBody>
                    <a:bodyPr/>
                    <a:lstStyle/>
                    <a:p>
                      <a:r>
                        <a:rPr lang="en-US" dirty="0"/>
                        <a:t>CFD + reaction kinetics + particle transport</a:t>
                      </a:r>
                    </a:p>
                  </a:txBody>
                  <a:tcPr/>
                </a:tc>
                <a:tc>
                  <a:txBody>
                    <a:bodyPr/>
                    <a:lstStyle/>
                    <a:p>
                      <a:r>
                        <a:rPr lang="en-US" dirty="0"/>
                        <a:t>-</a:t>
                      </a:r>
                    </a:p>
                  </a:txBody>
                  <a:tcPr/>
                </a:tc>
                <a:extLst>
                  <a:ext uri="{0D108BD9-81ED-4DB2-BD59-A6C34878D82A}">
                    <a16:rowId xmlns:a16="http://schemas.microsoft.com/office/drawing/2014/main" val="1023817088"/>
                  </a:ext>
                </a:extLst>
              </a:tr>
            </a:tbl>
          </a:graphicData>
        </a:graphic>
      </p:graphicFrame>
      <p:sp>
        <p:nvSpPr>
          <p:cNvPr id="2" name="Content Placeholder 2">
            <a:extLst>
              <a:ext uri="{FF2B5EF4-FFF2-40B4-BE49-F238E27FC236}">
                <a16:creationId xmlns:a16="http://schemas.microsoft.com/office/drawing/2014/main" id="{C45C1C6A-56F7-D5E5-1630-AF4399B4FD2E}"/>
              </a:ext>
            </a:extLst>
          </p:cNvPr>
          <p:cNvSpPr txBox="1">
            <a:spLocks/>
          </p:cNvSpPr>
          <p:nvPr/>
        </p:nvSpPr>
        <p:spPr>
          <a:xfrm>
            <a:off x="300036" y="2633235"/>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Main Conclusions</a:t>
            </a:r>
          </a:p>
          <a:p>
            <a:pPr marL="457200" indent="-457200">
              <a:buFont typeface="Arial" panose="020B0604020202020204" pitchFamily="34" charset="0"/>
              <a:buAutoNum type="arabicPeriod"/>
            </a:pPr>
            <a:r>
              <a:rPr lang="en-US" dirty="0"/>
              <a:t>Bulk scaling predictions significantly underestimate real pipeline scaling risk</a:t>
            </a:r>
          </a:p>
          <a:p>
            <a:pPr marL="457200" lvl="1" indent="0">
              <a:buNone/>
            </a:pPr>
            <a:r>
              <a:rPr lang="en-US" dirty="0"/>
              <a:t>Bulk precipitation ≠ surface deposition</a:t>
            </a:r>
          </a:p>
          <a:p>
            <a:pPr marL="457200" indent="-457200">
              <a:buFont typeface="Arial" panose="020B0604020202020204" pitchFamily="34" charset="0"/>
              <a:buAutoNum type="arabicPeriod"/>
            </a:pPr>
            <a:r>
              <a:rPr lang="en-US" dirty="0"/>
              <a:t>Deposition is controlled by mass transfer, not just reaction kinetics</a:t>
            </a:r>
          </a:p>
          <a:p>
            <a:pPr marL="457200" indent="-457200">
              <a:buFont typeface="Arial" panose="020B0604020202020204" pitchFamily="34" charset="0"/>
              <a:buAutoNum type="arabicPeriod"/>
            </a:pPr>
            <a:r>
              <a:rPr lang="en-US" dirty="0"/>
              <a:t>Inhibitor performance depends on adsorption, not just concentration</a:t>
            </a:r>
          </a:p>
          <a:p>
            <a:pPr marL="457200" indent="-457200">
              <a:buFont typeface="Arial" panose="020B0604020202020204" pitchFamily="34" charset="0"/>
              <a:buAutoNum type="arabicPeriod"/>
            </a:pPr>
            <a:r>
              <a:rPr lang="en-US" dirty="0"/>
              <a:t>Current models require high-quality input data (practical limitation)</a:t>
            </a:r>
          </a:p>
        </p:txBody>
      </p:sp>
    </p:spTree>
    <p:extLst>
      <p:ext uri="{BB962C8B-B14F-4D97-AF65-F5344CB8AC3E}">
        <p14:creationId xmlns:p14="http://schemas.microsoft.com/office/powerpoint/2010/main" val="2995569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4A3B2-9AA3-400D-1CFF-6239E906D448}"/>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B46E505C-1042-A8D5-845C-813D8997324A}"/>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How they determine MIC</a:t>
            </a:r>
          </a:p>
          <a:p>
            <a:pPr marL="457200" indent="-457200">
              <a:buAutoNum type="arabicPeriod"/>
            </a:pPr>
            <a:r>
              <a:rPr lang="en-US" dirty="0"/>
              <a:t>Evaluates inhibitor performance by how much deposition remains under different turbulent conditions</a:t>
            </a:r>
          </a:p>
          <a:p>
            <a:pPr marL="457200" indent="-457200">
              <a:buAutoNum type="arabicPeriod"/>
            </a:pPr>
            <a:r>
              <a:rPr lang="en-US" dirty="0"/>
              <a:t>fit the inhibitor effect using mathematical model, predict MIC by solving for required protection time, or  maximum allowable deposition thickness rate. </a:t>
            </a:r>
          </a:p>
          <a:p>
            <a:pPr marL="457200" indent="-457200">
              <a:buAutoNum type="arabicPeriod"/>
            </a:pPr>
            <a:r>
              <a:rPr lang="en-US" dirty="0"/>
              <a:t>Incrementally increasing inhibitor concentration, pressure drop no longer increases significantly.</a:t>
            </a:r>
          </a:p>
          <a:p>
            <a:pPr marL="457200" indent="-457200">
              <a:buAutoNum type="arabicPeriod"/>
            </a:pPr>
            <a:r>
              <a:rPr lang="en-US" dirty="0"/>
              <a:t>trial-and-error / scenario-based optimization</a:t>
            </a:r>
          </a:p>
          <a:p>
            <a:pPr marL="457200" indent="-457200">
              <a:buAutoNum type="arabicPeriod"/>
            </a:pPr>
            <a:r>
              <a:rPr lang="en-US" dirty="0"/>
              <a:t>parametric sweep / threshold search</a:t>
            </a:r>
          </a:p>
        </p:txBody>
      </p:sp>
    </p:spTree>
    <p:extLst>
      <p:ext uri="{BB962C8B-B14F-4D97-AF65-F5344CB8AC3E}">
        <p14:creationId xmlns:p14="http://schemas.microsoft.com/office/powerpoint/2010/main" val="3598266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ACDE3-87BD-244B-0AB4-2CA3D2BB9BFC}"/>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5BB83759-7D9C-527E-9FDB-216783C713E8}"/>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dirty="0"/>
              <a:t>Ref</a:t>
            </a:r>
          </a:p>
          <a:p>
            <a:pPr marL="457200" indent="-457200">
              <a:buAutoNum type="arabicPeriod"/>
            </a:pPr>
            <a:r>
              <a:rPr lang="en-US" sz="1500" dirty="0"/>
              <a:t>Santoso, R. K., Rahmawati, S. D., Gadesa, A., &amp; </a:t>
            </a:r>
            <a:r>
              <a:rPr lang="en-US" sz="1500" dirty="0" err="1"/>
              <a:t>Wahyuningrum</a:t>
            </a:r>
            <a:r>
              <a:rPr lang="en-US" sz="1500" dirty="0"/>
              <a:t>, D. (2017, July). Scale build-up prediction of </a:t>
            </a:r>
            <a:r>
              <a:rPr lang="en-US" sz="1500" dirty="0" err="1"/>
              <a:t>FeS</a:t>
            </a:r>
            <a:r>
              <a:rPr lang="en-US" sz="1500" dirty="0"/>
              <a:t> and FeCO3 in gas production pipes. In Journal of Physics: Conference Series (Vol. 877, No. 1, p. 012029). IOP Publishing.</a:t>
            </a:r>
          </a:p>
          <a:p>
            <a:pPr marL="457200" indent="-457200">
              <a:buAutoNum type="arabicPeriod"/>
            </a:pPr>
            <a:r>
              <a:rPr lang="en-US" sz="1500" dirty="0"/>
              <a:t>Chen, T., Chen, P., Montgomerie, H., Hagen, T., Benvie, R., Guo, Q., ... &amp; Yang, X. (2014, May). Do we need higher dose scale inhibitors to inhibit scale under turbulent conditions? Insight into mechanisms and new test methodology. In SPE International Oilfield Scale Conference and Exhibition (p. D011S004R003). SPE.</a:t>
            </a:r>
          </a:p>
          <a:p>
            <a:pPr marL="457200" indent="-457200">
              <a:buAutoNum type="arabicPeriod"/>
            </a:pPr>
            <a:r>
              <a:rPr lang="en-US" sz="1500" dirty="0"/>
              <a:t>Dai, Z. J., Kan, A., Lu, Y. T. A., </a:t>
            </a:r>
            <a:r>
              <a:rPr lang="en-US" sz="1500" dirty="0" err="1"/>
              <a:t>Leschied</a:t>
            </a:r>
            <a:r>
              <a:rPr lang="en-US" sz="1500" dirty="0"/>
              <a:t>, C., Zhao, Y., Dai, C., ... &amp; Tomson, M. (2021, November). Novel Mineral Scale Deposition Model Under Different Flow Conditions with or Without Scale Inhibitors. In SPE International Conference on Oilfield Chemistry? (p. D021S009R002). SPE.</a:t>
            </a:r>
          </a:p>
          <a:p>
            <a:pPr marL="457200" indent="-457200">
              <a:buAutoNum type="arabicPeriod"/>
            </a:pPr>
            <a:r>
              <a:rPr lang="en-US" sz="1500" dirty="0"/>
              <a:t>Pimentel, D., Kan, A., Ye, Y., Wang, X., Reiss, A., Deng, G., ... &amp; Tomson, M. (2024, June). Methodology to Evaluate Calcite Scale Inhibitors Under Turbulent Flow for Subsea Oilfield Production Applications. In SPE International Oilfield Scale Conference and Exhibition (p. D023S009R004). SPE.</a:t>
            </a:r>
          </a:p>
          <a:p>
            <a:pPr marL="457200" indent="-457200">
              <a:buAutoNum type="arabicPeriod"/>
            </a:pPr>
            <a:r>
              <a:rPr lang="en-US" sz="1500" dirty="0"/>
              <a:t>Liu, M., Chen, T., Rached, R., &amp; Zhao, W. (2025, April). Numerical Simulation of Transient Transport of Scale Inhibitor in an Oil-Water Trunkline with Multiple Flowlines. In SPE Gas &amp; Oil Technology Showcase and Conference (p. D012S006R002). SPE.</a:t>
            </a:r>
          </a:p>
          <a:p>
            <a:pPr marL="457200" indent="-457200">
              <a:buAutoNum type="arabicPeriod"/>
            </a:pPr>
            <a:r>
              <a:rPr lang="en-US" sz="1500" dirty="0"/>
              <a:t>Rodriguez-Hernandez, C. D., Chen, T., Liu, M., Shafi, M., Rached, R., </a:t>
            </a:r>
            <a:r>
              <a:rPr lang="en-US" sz="1500" dirty="0" err="1"/>
              <a:t>Alfaleh</a:t>
            </a:r>
            <a:r>
              <a:rPr lang="en-US" sz="1500" dirty="0"/>
              <a:t>, K., &amp; Zhao, W. (2025, November). Transport Modeling of Scale Inhibitor and Scaling Ions in an Oil-Water Trunkline with Multiple Flowlines. In Abu Dhabi International Petroleum Exhibition and Conference (p. D021S067R005). SPE.</a:t>
            </a:r>
          </a:p>
          <a:p>
            <a:pPr marL="457200" indent="-457200">
              <a:buAutoNum type="arabicPeriod"/>
            </a:pPr>
            <a:r>
              <a:rPr lang="en-US" sz="1500" dirty="0"/>
              <a:t>Neville, A. (2012). Surface scaling in the oil and gas sector: Understanding the process and means of management. Energy &amp; fuels, 26(7), 4158-4166.</a:t>
            </a:r>
          </a:p>
          <a:p>
            <a:pPr marL="457200" indent="-457200">
              <a:buAutoNum type="arabicPeriod"/>
            </a:pPr>
            <a:r>
              <a:rPr lang="en-US" sz="1500" dirty="0"/>
              <a:t>Li, C., Wang, B., Jia, W., &amp; Li, G. (2020). Predicting the scaling rate of calcium carbonate in wet-gas pipes via a CFD method. Desalination and Water Treatment, 197, 14-29.</a:t>
            </a:r>
          </a:p>
        </p:txBody>
      </p:sp>
    </p:spTree>
    <p:extLst>
      <p:ext uri="{BB962C8B-B14F-4D97-AF65-F5344CB8AC3E}">
        <p14:creationId xmlns:p14="http://schemas.microsoft.com/office/powerpoint/2010/main" val="30827989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86A57-CB6C-4EA9-F506-D0B37153F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AAB1E2-5B91-8A0C-4809-976304F7CEDA}"/>
              </a:ext>
            </a:extLst>
          </p:cNvPr>
          <p:cNvSpPr>
            <a:spLocks noGrp="1"/>
          </p:cNvSpPr>
          <p:nvPr>
            <p:ph type="title"/>
          </p:nvPr>
        </p:nvSpPr>
        <p:spPr/>
        <p:txBody>
          <a:bodyPr/>
          <a:lstStyle/>
          <a:p>
            <a:r>
              <a:rPr lang="en-US" dirty="0"/>
              <a:t>Inhibitor modeling</a:t>
            </a:r>
          </a:p>
        </p:txBody>
      </p:sp>
    </p:spTree>
    <p:extLst>
      <p:ext uri="{BB962C8B-B14F-4D97-AF65-F5344CB8AC3E}">
        <p14:creationId xmlns:p14="http://schemas.microsoft.com/office/powerpoint/2010/main" val="27608148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00034A-4B39-06D7-5D64-E5201ED14FCF}"/>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C3CF7730-1CA7-27DC-0340-86399EB67816}"/>
              </a:ext>
            </a:extLst>
          </p:cNvPr>
          <p:cNvGraphicFramePr>
            <a:graphicFrameLocks noGrp="1"/>
          </p:cNvGraphicFramePr>
          <p:nvPr>
            <p:ph idx="4294967295"/>
            <p:extLst>
              <p:ext uri="{D42A27DB-BD31-4B8C-83A1-F6EECF244321}">
                <p14:modId xmlns:p14="http://schemas.microsoft.com/office/powerpoint/2010/main" val="2837054534"/>
              </p:ext>
            </p:extLst>
          </p:nvPr>
        </p:nvGraphicFramePr>
        <p:xfrm>
          <a:off x="300039" y="188624"/>
          <a:ext cx="11591922" cy="540004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2509736">
                  <a:extLst>
                    <a:ext uri="{9D8B030D-6E8A-4147-A177-3AD203B41FA5}">
                      <a16:colId xmlns:a16="http://schemas.microsoft.com/office/drawing/2014/main" val="1274649808"/>
                    </a:ext>
                  </a:extLst>
                </a:gridCol>
                <a:gridCol w="2334639">
                  <a:extLst>
                    <a:ext uri="{9D8B030D-6E8A-4147-A177-3AD203B41FA5}">
                      <a16:colId xmlns:a16="http://schemas.microsoft.com/office/drawing/2014/main" val="2114671980"/>
                    </a:ext>
                  </a:extLst>
                </a:gridCol>
                <a:gridCol w="1361872">
                  <a:extLst>
                    <a:ext uri="{9D8B030D-6E8A-4147-A177-3AD203B41FA5}">
                      <a16:colId xmlns:a16="http://schemas.microsoft.com/office/drawing/2014/main" val="125575515"/>
                    </a:ext>
                  </a:extLst>
                </a:gridCol>
                <a:gridCol w="3000136">
                  <a:extLst>
                    <a:ext uri="{9D8B030D-6E8A-4147-A177-3AD203B41FA5}">
                      <a16:colId xmlns:a16="http://schemas.microsoft.com/office/drawing/2014/main" val="3464939645"/>
                    </a:ext>
                  </a:extLst>
                </a:gridCol>
                <a:gridCol w="1931987">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System / Domain</a:t>
                      </a:r>
                    </a:p>
                  </a:txBody>
                  <a:tcPr/>
                </a:tc>
                <a:tc>
                  <a:txBody>
                    <a:bodyPr/>
                    <a:lstStyle/>
                    <a:p>
                      <a:r>
                        <a:rPr lang="en-US" dirty="0"/>
                        <a:t>Scale Type</a:t>
                      </a:r>
                    </a:p>
                  </a:txBody>
                  <a:tcPr/>
                </a:tc>
                <a:tc>
                  <a:txBody>
                    <a:bodyPr/>
                    <a:lstStyle/>
                    <a:p>
                      <a:pPr>
                        <a:buNone/>
                      </a:pPr>
                      <a:r>
                        <a:rPr lang="en-US" dirty="0"/>
                        <a:t>Methodology</a:t>
                      </a:r>
                    </a:p>
                  </a:txBody>
                  <a:tcPr anchor="ctr"/>
                </a:tc>
                <a:tc>
                  <a:txBody>
                    <a:bodyPr/>
                    <a:lstStyle/>
                    <a:p>
                      <a:r>
                        <a:rPr lang="en-US" dirty="0"/>
                        <a:t>Inhibitor, Dosage</a:t>
                      </a:r>
                    </a:p>
                  </a:txBody>
                  <a:tcPr/>
                </a:tc>
                <a:extLst>
                  <a:ext uri="{0D108BD9-81ED-4DB2-BD59-A6C34878D82A}">
                    <a16:rowId xmlns:a16="http://schemas.microsoft.com/office/drawing/2014/main" val="229248636"/>
                  </a:ext>
                </a:extLst>
              </a:tr>
              <a:tr h="370840">
                <a:tc>
                  <a:txBody>
                    <a:bodyPr/>
                    <a:lstStyle/>
                    <a:p>
                      <a:r>
                        <a:rPr lang="en-US" dirty="0"/>
                        <a:t>1</a:t>
                      </a:r>
                    </a:p>
                  </a:txBody>
                  <a:tcPr/>
                </a:tc>
                <a:tc>
                  <a:txBody>
                    <a:bodyPr/>
                    <a:lstStyle/>
                    <a:p>
                      <a:r>
                        <a:rPr lang="en-US" dirty="0"/>
                        <a:t>Kinetics + inhibition mechanism</a:t>
                      </a:r>
                    </a:p>
                  </a:txBody>
                  <a:tcPr/>
                </a:tc>
                <a:tc>
                  <a:txBody>
                    <a:bodyPr/>
                    <a:lstStyle/>
                    <a:p>
                      <a:r>
                        <a:rPr lang="en-US" dirty="0"/>
                        <a:t>Pipe flow system (lab-scale, flow loop)</a:t>
                      </a:r>
                    </a:p>
                  </a:txBody>
                  <a:tcPr/>
                </a:tc>
                <a:tc>
                  <a:txBody>
                    <a:bodyPr/>
                    <a:lstStyle/>
                    <a:p>
                      <a:r>
                        <a:rPr lang="en-US" dirty="0" err="1"/>
                        <a:t>CaCO</a:t>
                      </a:r>
                      <a:r>
                        <a:rPr lang="en-US" dirty="0"/>
                        <a:t>₃, </a:t>
                      </a:r>
                      <a:r>
                        <a:rPr lang="en-US" dirty="0" err="1"/>
                        <a:t>CaSO</a:t>
                      </a:r>
                      <a:r>
                        <a:rPr lang="en-US" dirty="0"/>
                        <a:t>₄</a:t>
                      </a:r>
                    </a:p>
                  </a:txBody>
                  <a:tcPr/>
                </a:tc>
                <a:tc>
                  <a:txBody>
                    <a:bodyPr/>
                    <a:lstStyle/>
                    <a:p>
                      <a:r>
                        <a:rPr lang="en-US" dirty="0"/>
                        <a:t>Mechanistic kinetic model (nucleation + growth + adsorption)</a:t>
                      </a:r>
                    </a:p>
                  </a:txBody>
                  <a:tcPr/>
                </a:tc>
                <a:tc>
                  <a:txBody>
                    <a:bodyPr/>
                    <a:lstStyle/>
                    <a:p>
                      <a:r>
                        <a:rPr lang="en-US" dirty="0"/>
                        <a:t>Scale mass vs time, rate constants, activation energy</a:t>
                      </a:r>
                    </a:p>
                  </a:txBody>
                  <a:tcPr/>
                </a:tc>
                <a:extLst>
                  <a:ext uri="{0D108BD9-81ED-4DB2-BD59-A6C34878D82A}">
                    <a16:rowId xmlns:a16="http://schemas.microsoft.com/office/drawing/2014/main" val="1386937106"/>
                  </a:ext>
                </a:extLst>
              </a:tr>
              <a:tr h="370840">
                <a:tc>
                  <a:txBody>
                    <a:bodyPr/>
                    <a:lstStyle/>
                    <a:p>
                      <a:r>
                        <a:rPr lang="en-US" dirty="0"/>
                        <a:t>2</a:t>
                      </a:r>
                    </a:p>
                  </a:txBody>
                  <a:tcPr/>
                </a:tc>
                <a:tc>
                  <a:txBody>
                    <a:bodyPr/>
                    <a:lstStyle/>
                    <a:p>
                      <a:r>
                        <a:rPr lang="en-US" dirty="0"/>
                        <a:t>Inhibitor dosage prediction (MIC)</a:t>
                      </a:r>
                    </a:p>
                  </a:txBody>
                  <a:tcPr/>
                </a:tc>
                <a:tc>
                  <a:txBody>
                    <a:bodyPr/>
                    <a:lstStyle/>
                    <a:p>
                      <a:r>
                        <a:rPr lang="en-US" dirty="0"/>
                        <a:t>Oilfield (lab + field validation)</a:t>
                      </a:r>
                    </a:p>
                  </a:txBody>
                  <a:tcPr/>
                </a:tc>
                <a:tc>
                  <a:txBody>
                    <a:bodyPr/>
                    <a:lstStyle/>
                    <a:p>
                      <a:pPr>
                        <a:buNone/>
                      </a:pPr>
                      <a:r>
                        <a:rPr lang="en-US" dirty="0" err="1"/>
                        <a:t>BaSO</a:t>
                      </a:r>
                      <a:r>
                        <a:rPr lang="en-US" dirty="0"/>
                        <a:t>₄, </a:t>
                      </a:r>
                      <a:r>
                        <a:rPr lang="en-US" dirty="0" err="1"/>
                        <a:t>CaCO</a:t>
                      </a:r>
                      <a:r>
                        <a:rPr lang="en-US" dirty="0"/>
                        <a:t>₃</a:t>
                      </a:r>
                    </a:p>
                  </a:txBody>
                  <a:tcPr anchor="ctr"/>
                </a:tc>
                <a:tc>
                  <a:txBody>
                    <a:bodyPr/>
                    <a:lstStyle/>
                    <a:p>
                      <a:r>
                        <a:rPr lang="en-US" dirty="0"/>
                        <a:t>Hybrid (experimental + semi-empirical + CNT-based models)</a:t>
                      </a:r>
                    </a:p>
                  </a:txBody>
                  <a:tcPr/>
                </a:tc>
                <a:tc>
                  <a:txBody>
                    <a:bodyPr/>
                    <a:lstStyle/>
                    <a:p>
                      <a:r>
                        <a:rPr lang="en-US" dirty="0"/>
                        <a:t>Minimum Inhibitor Concentration (MIC), induction time</a:t>
                      </a:r>
                    </a:p>
                  </a:txBody>
                  <a:tcPr/>
                </a:tc>
                <a:extLst>
                  <a:ext uri="{0D108BD9-81ED-4DB2-BD59-A6C34878D82A}">
                    <a16:rowId xmlns:a16="http://schemas.microsoft.com/office/drawing/2014/main" val="1023817088"/>
                  </a:ext>
                </a:extLst>
              </a:tr>
              <a:tr h="370840">
                <a:tc>
                  <a:txBody>
                    <a:bodyPr/>
                    <a:lstStyle/>
                    <a:p>
                      <a:r>
                        <a:rPr lang="en-US" dirty="0"/>
                        <a:t>3</a:t>
                      </a:r>
                    </a:p>
                  </a:txBody>
                  <a:tcPr/>
                </a:tc>
                <a:tc>
                  <a:txBody>
                    <a:bodyPr/>
                    <a:lstStyle/>
                    <a:p>
                      <a:pPr>
                        <a:buNone/>
                      </a:pPr>
                      <a:r>
                        <a:rPr lang="en-US" dirty="0"/>
                        <a:t>Inhibitor screening + dosage methodology</a:t>
                      </a:r>
                    </a:p>
                  </a:txBody>
                  <a:tcPr anchor="ctr"/>
                </a:tc>
                <a:tc>
                  <a:txBody>
                    <a:bodyPr/>
                    <a:lstStyle/>
                    <a:p>
                      <a:r>
                        <a:rPr lang="en-US" dirty="0"/>
                        <a:t>Oilfield (EOR + lab dynamic systems)</a:t>
                      </a:r>
                    </a:p>
                  </a:txBody>
                  <a:tcPr/>
                </a:tc>
                <a:tc>
                  <a:txBody>
                    <a:bodyPr/>
                    <a:lstStyle/>
                    <a:p>
                      <a:r>
                        <a:rPr lang="en-US" dirty="0" err="1"/>
                        <a:t>CaSO</a:t>
                      </a:r>
                      <a:r>
                        <a:rPr lang="en-US" dirty="0"/>
                        <a:t>₄</a:t>
                      </a:r>
                    </a:p>
                  </a:txBody>
                  <a:tcPr/>
                </a:tc>
                <a:tc>
                  <a:txBody>
                    <a:bodyPr/>
                    <a:lstStyle/>
                    <a:p>
                      <a:r>
                        <a:rPr lang="en-US" dirty="0"/>
                        <a:t>Experimental + semi-empirical modeling (</a:t>
                      </a:r>
                      <a:r>
                        <a:rPr lang="en-US" dirty="0" err="1"/>
                        <a:t>mCSTR</a:t>
                      </a:r>
                      <a:r>
                        <a:rPr lang="en-US" dirty="0"/>
                        <a:t>, </a:t>
                      </a:r>
                      <a:r>
                        <a:rPr lang="en-US" dirty="0" err="1"/>
                        <a:t>mKTT</a:t>
                      </a:r>
                      <a:r>
                        <a:rPr lang="en-US" dirty="0"/>
                        <a:t>)</a:t>
                      </a:r>
                    </a:p>
                  </a:txBody>
                  <a:tcPr/>
                </a:tc>
                <a:tc>
                  <a:txBody>
                    <a:bodyPr/>
                    <a:lstStyle/>
                    <a:p>
                      <a:r>
                        <a:rPr lang="en-US" dirty="0"/>
                        <a:t>Induction time vs concentration, dosage estimation</a:t>
                      </a:r>
                    </a:p>
                  </a:txBody>
                  <a:tcPr/>
                </a:tc>
                <a:extLst>
                  <a:ext uri="{0D108BD9-81ED-4DB2-BD59-A6C34878D82A}">
                    <a16:rowId xmlns:a16="http://schemas.microsoft.com/office/drawing/2014/main" val="2898086783"/>
                  </a:ext>
                </a:extLst>
              </a:tr>
              <a:tr h="370840">
                <a:tc>
                  <a:txBody>
                    <a:bodyPr/>
                    <a:lstStyle/>
                    <a:p>
                      <a:r>
                        <a:rPr lang="en-US" dirty="0"/>
                        <a:t>4</a:t>
                      </a:r>
                    </a:p>
                  </a:txBody>
                  <a:tcPr/>
                </a:tc>
                <a:tc>
                  <a:txBody>
                    <a:bodyPr/>
                    <a:lstStyle/>
                    <a:p>
                      <a:pPr>
                        <a:buNone/>
                      </a:pPr>
                      <a:r>
                        <a:rPr lang="en-US" dirty="0"/>
                        <a:t>Deposition kinetics + inhibition mechanism</a:t>
                      </a:r>
                    </a:p>
                  </a:txBody>
                  <a:tcPr anchor="ctr"/>
                </a:tc>
                <a:tc>
                  <a:txBody>
                    <a:bodyPr/>
                    <a:lstStyle/>
                    <a:p>
                      <a:r>
                        <a:rPr lang="en-US" dirty="0"/>
                        <a:t>Flow loop (pipeline-like tubing)</a:t>
                      </a:r>
                    </a:p>
                  </a:txBody>
                  <a:tcPr/>
                </a:tc>
                <a:tc>
                  <a:txBody>
                    <a:bodyPr/>
                    <a:lstStyle/>
                    <a:p>
                      <a:pPr>
                        <a:buNone/>
                      </a:pPr>
                      <a:r>
                        <a:rPr lang="en-US" dirty="0" err="1"/>
                        <a:t>BaSO</a:t>
                      </a:r>
                      <a:r>
                        <a:rPr lang="en-US" dirty="0"/>
                        <a:t>₄</a:t>
                      </a:r>
                    </a:p>
                  </a:txBody>
                  <a:tcPr anchor="ctr"/>
                </a:tc>
                <a:tc>
                  <a:txBody>
                    <a:bodyPr/>
                    <a:lstStyle/>
                    <a:p>
                      <a:r>
                        <a:rPr lang="en-US" dirty="0"/>
                        <a:t>Mechanistic + Langmuir adsorption model</a:t>
                      </a:r>
                    </a:p>
                  </a:txBody>
                  <a:tcPr/>
                </a:tc>
                <a:tc>
                  <a:txBody>
                    <a:bodyPr/>
                    <a:lstStyle/>
                    <a:p>
                      <a:r>
                        <a:rPr lang="en-US" dirty="0"/>
                        <a:t>Deposition rate constants, inhibition efficiency vs concentration</a:t>
                      </a:r>
                      <a:endParaRPr lang="en-US" b="0" dirty="0"/>
                    </a:p>
                  </a:txBody>
                  <a:tcPr/>
                </a:tc>
                <a:extLst>
                  <a:ext uri="{0D108BD9-81ED-4DB2-BD59-A6C34878D82A}">
                    <a16:rowId xmlns:a16="http://schemas.microsoft.com/office/drawing/2014/main" val="1625302993"/>
                  </a:ext>
                </a:extLst>
              </a:tr>
            </a:tbl>
          </a:graphicData>
        </a:graphic>
      </p:graphicFrame>
      <p:sp>
        <p:nvSpPr>
          <p:cNvPr id="2" name="Content Placeholder 2">
            <a:extLst>
              <a:ext uri="{FF2B5EF4-FFF2-40B4-BE49-F238E27FC236}">
                <a16:creationId xmlns:a16="http://schemas.microsoft.com/office/drawing/2014/main" id="{B64CFCAB-1A29-C24F-9655-CAEDA0F6632B}"/>
              </a:ext>
            </a:extLst>
          </p:cNvPr>
          <p:cNvSpPr txBox="1">
            <a:spLocks/>
          </p:cNvSpPr>
          <p:nvPr/>
        </p:nvSpPr>
        <p:spPr>
          <a:xfrm>
            <a:off x="600075" y="5872545"/>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en-US" dirty="0"/>
              <a:t>Field vs lab gap</a:t>
            </a:r>
          </a:p>
          <a:p>
            <a:pPr marL="457200" indent="-457200">
              <a:buFont typeface="Arial" panose="020B0604020202020204" pitchFamily="34" charset="0"/>
              <a:buAutoNum type="arabicPeriod"/>
            </a:pPr>
            <a:endParaRPr lang="en-US" dirty="0"/>
          </a:p>
        </p:txBody>
      </p:sp>
    </p:spTree>
    <p:extLst>
      <p:ext uri="{BB962C8B-B14F-4D97-AF65-F5344CB8AC3E}">
        <p14:creationId xmlns:p14="http://schemas.microsoft.com/office/powerpoint/2010/main" val="2368051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AE10721-B49F-AA30-AAFB-DB69863B209F}"/>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How they determine MIC</a:t>
            </a:r>
          </a:p>
          <a:p>
            <a:pPr marL="457200" indent="-457200">
              <a:buAutoNum type="arabicPeriod"/>
            </a:pPr>
            <a:r>
              <a:rPr lang="en-US" dirty="0"/>
              <a:t>induction time models</a:t>
            </a:r>
          </a:p>
          <a:p>
            <a:pPr marL="0" indent="0">
              <a:buNone/>
            </a:pPr>
            <a:endParaRPr lang="en-US" dirty="0"/>
          </a:p>
          <a:p>
            <a:pPr marL="0" indent="0">
              <a:buNone/>
            </a:pPr>
            <a:r>
              <a:rPr lang="en-US" dirty="0"/>
              <a:t>It is the time between when a solution becomes supersaturated and when detectable crystals (scale) appear.</a:t>
            </a:r>
          </a:p>
        </p:txBody>
      </p:sp>
    </p:spTree>
    <p:extLst>
      <p:ext uri="{BB962C8B-B14F-4D97-AF65-F5344CB8AC3E}">
        <p14:creationId xmlns:p14="http://schemas.microsoft.com/office/powerpoint/2010/main" val="32073351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56C4C-2E7B-E1E2-65CC-8ACEF79F1462}"/>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80397D6-EBCB-010B-7339-F556B63FD7C7}"/>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dirty="0"/>
              <a:t>Ref</a:t>
            </a:r>
          </a:p>
          <a:p>
            <a:pPr marL="342900" indent="-342900">
              <a:buAutoNum type="arabicPeriod"/>
            </a:pPr>
            <a:r>
              <a:rPr lang="en-US" sz="1500" dirty="0"/>
              <a:t>Al-</a:t>
            </a:r>
            <a:r>
              <a:rPr lang="en-US" sz="1500" dirty="0" err="1"/>
              <a:t>Roomi</a:t>
            </a:r>
            <a:r>
              <a:rPr lang="en-US" sz="1500" dirty="0"/>
              <a:t>, Y. M., &amp; Hussain, K. F. (2016). Potential kinetic model for scaling and scale inhibition mechanism. </a:t>
            </a:r>
            <a:r>
              <a:rPr lang="en-US" sz="1500" i="1" dirty="0"/>
              <a:t>Desalination</a:t>
            </a:r>
            <a:r>
              <a:rPr lang="en-US" sz="1500" dirty="0"/>
              <a:t>, </a:t>
            </a:r>
            <a:r>
              <a:rPr lang="en-US" sz="1500" i="1" dirty="0"/>
              <a:t>393</a:t>
            </a:r>
            <a:r>
              <a:rPr lang="en-US" sz="1500" dirty="0"/>
              <a:t>, 186-195.</a:t>
            </a:r>
          </a:p>
          <a:p>
            <a:pPr marL="342900" indent="-342900">
              <a:buAutoNum type="arabicPeriod"/>
            </a:pPr>
            <a:r>
              <a:rPr lang="en-US" sz="1500" dirty="0"/>
              <a:t>Dai, C., Dai, Z., Zhang, F., Zhao, Y., Deng, G., </a:t>
            </a:r>
            <a:r>
              <a:rPr lang="en-US" sz="1500" dirty="0" err="1"/>
              <a:t>Harouaka</a:t>
            </a:r>
            <a:r>
              <a:rPr lang="en-US" sz="1500" dirty="0"/>
              <a:t>, K., ... &amp; Tomson, M. (2019, March). A unified experimental method and model for predicting scale inhibition. In </a:t>
            </a:r>
            <a:r>
              <a:rPr lang="en-US" sz="1500" i="1" dirty="0"/>
              <a:t>SPE International Conference on Oilfield Chemistry?</a:t>
            </a:r>
            <a:r>
              <a:rPr lang="en-US" sz="1500" dirty="0"/>
              <a:t> (p. D011S006R004). SPE.</a:t>
            </a:r>
          </a:p>
          <a:p>
            <a:pPr marL="342900" indent="-342900">
              <a:buAutoNum type="arabicPeriod"/>
            </a:pPr>
            <a:r>
              <a:rPr lang="en-US" sz="1500" dirty="0"/>
              <a:t>Paudyal, S., Mateen, S., Dai, C., Ko, S., Wang, X., Deng, G., ... &amp; Tomson, M. B. (2020, June). Developments on calcium sulfate scaling prediction and control in oil and gas production. In </a:t>
            </a:r>
            <a:r>
              <a:rPr lang="en-US" sz="1500" i="1" dirty="0"/>
              <a:t>SPE International Oilfield Scale Conference and Exhibition</a:t>
            </a:r>
            <a:r>
              <a:rPr lang="en-US" sz="1500" dirty="0"/>
              <a:t> (p. D031S005R001). SPE.</a:t>
            </a:r>
          </a:p>
          <a:p>
            <a:pPr marL="342900" indent="-342900">
              <a:buAutoNum type="arabicPeriod"/>
            </a:pPr>
            <a:r>
              <a:rPr lang="en-US" sz="1500" dirty="0"/>
              <a:t>Lu, A. Y. T., Shi, W., Wang, J., Venkatesan, R., </a:t>
            </a:r>
            <a:r>
              <a:rPr lang="en-US" sz="1500" dirty="0" err="1"/>
              <a:t>Harouaka</a:t>
            </a:r>
            <a:r>
              <a:rPr lang="en-US" sz="1500" dirty="0"/>
              <a:t>, K., Paudyal, S., ... &amp; Tomson, M. (2019). The mechanism of barium sulfate deposition inhibition and the prediction of inhibitor dosage. </a:t>
            </a:r>
            <a:r>
              <a:rPr lang="en-US" sz="1500" i="1" dirty="0"/>
              <a:t>Journal of Chemical &amp; Engineering Data</a:t>
            </a:r>
            <a:r>
              <a:rPr lang="en-US" sz="1500" dirty="0"/>
              <a:t>, </a:t>
            </a:r>
            <a:r>
              <a:rPr lang="en-US" sz="1500" i="1" dirty="0"/>
              <a:t>64</a:t>
            </a:r>
            <a:r>
              <a:rPr lang="en-US" sz="1500" dirty="0"/>
              <a:t>(11), 4968-4976.</a:t>
            </a:r>
          </a:p>
          <a:p>
            <a:pPr marL="457200" indent="-457200">
              <a:buAutoNum type="arabicPeriod"/>
            </a:pPr>
            <a:endParaRPr lang="en-US" sz="1500" dirty="0"/>
          </a:p>
        </p:txBody>
      </p:sp>
    </p:spTree>
    <p:extLst>
      <p:ext uri="{BB962C8B-B14F-4D97-AF65-F5344CB8AC3E}">
        <p14:creationId xmlns:p14="http://schemas.microsoft.com/office/powerpoint/2010/main" val="2847961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72EDC-65A7-7BCC-E4F1-1421EBB7A2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0179D-A67C-E52B-9C49-887C4A571CA1}"/>
              </a:ext>
            </a:extLst>
          </p:cNvPr>
          <p:cNvSpPr>
            <a:spLocks noGrp="1"/>
          </p:cNvSpPr>
          <p:nvPr>
            <p:ph type="title"/>
          </p:nvPr>
        </p:nvSpPr>
        <p:spPr/>
        <p:txBody>
          <a:bodyPr/>
          <a:lstStyle/>
          <a:p>
            <a:r>
              <a:rPr lang="en-US" dirty="0"/>
              <a:t>ML / Scale Tendency</a:t>
            </a:r>
          </a:p>
        </p:txBody>
      </p:sp>
    </p:spTree>
    <p:extLst>
      <p:ext uri="{BB962C8B-B14F-4D97-AF65-F5344CB8AC3E}">
        <p14:creationId xmlns:p14="http://schemas.microsoft.com/office/powerpoint/2010/main" val="21048587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7">
            <a:extLst>
              <a:ext uri="{FF2B5EF4-FFF2-40B4-BE49-F238E27FC236}">
                <a16:creationId xmlns:a16="http://schemas.microsoft.com/office/drawing/2014/main" id="{71336B49-DC07-2C9B-0D5D-928BDF12B08D}"/>
              </a:ext>
            </a:extLst>
          </p:cNvPr>
          <p:cNvGraphicFramePr>
            <a:graphicFrameLocks/>
          </p:cNvGraphicFramePr>
          <p:nvPr>
            <p:extLst>
              <p:ext uri="{D42A27DB-BD31-4B8C-83A1-F6EECF244321}">
                <p14:modId xmlns:p14="http://schemas.microsoft.com/office/powerpoint/2010/main" val="3441553952"/>
              </p:ext>
            </p:extLst>
          </p:nvPr>
        </p:nvGraphicFramePr>
        <p:xfrm>
          <a:off x="300039" y="188624"/>
          <a:ext cx="11591922" cy="320548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2509736">
                  <a:extLst>
                    <a:ext uri="{9D8B030D-6E8A-4147-A177-3AD203B41FA5}">
                      <a16:colId xmlns:a16="http://schemas.microsoft.com/office/drawing/2014/main" val="1274649808"/>
                    </a:ext>
                  </a:extLst>
                </a:gridCol>
                <a:gridCol w="2334639">
                  <a:extLst>
                    <a:ext uri="{9D8B030D-6E8A-4147-A177-3AD203B41FA5}">
                      <a16:colId xmlns:a16="http://schemas.microsoft.com/office/drawing/2014/main" val="2114671980"/>
                    </a:ext>
                  </a:extLst>
                </a:gridCol>
                <a:gridCol w="1361872">
                  <a:extLst>
                    <a:ext uri="{9D8B030D-6E8A-4147-A177-3AD203B41FA5}">
                      <a16:colId xmlns:a16="http://schemas.microsoft.com/office/drawing/2014/main" val="125575515"/>
                    </a:ext>
                  </a:extLst>
                </a:gridCol>
                <a:gridCol w="3000136">
                  <a:extLst>
                    <a:ext uri="{9D8B030D-6E8A-4147-A177-3AD203B41FA5}">
                      <a16:colId xmlns:a16="http://schemas.microsoft.com/office/drawing/2014/main" val="3464939645"/>
                    </a:ext>
                  </a:extLst>
                </a:gridCol>
                <a:gridCol w="1931987">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System / Domain</a:t>
                      </a:r>
                    </a:p>
                  </a:txBody>
                  <a:tcPr/>
                </a:tc>
                <a:tc>
                  <a:txBody>
                    <a:bodyPr/>
                    <a:lstStyle/>
                    <a:p>
                      <a:r>
                        <a:rPr lang="en-US" dirty="0"/>
                        <a:t>Scale Type</a:t>
                      </a:r>
                    </a:p>
                  </a:txBody>
                  <a:tcPr/>
                </a:tc>
                <a:tc>
                  <a:txBody>
                    <a:bodyPr/>
                    <a:lstStyle/>
                    <a:p>
                      <a:pPr>
                        <a:buNone/>
                      </a:pPr>
                      <a:r>
                        <a:rPr lang="en-US" dirty="0"/>
                        <a:t>Methodology</a:t>
                      </a:r>
                    </a:p>
                  </a:txBody>
                  <a:tcPr anchor="ctr"/>
                </a:tc>
                <a:tc>
                  <a:txBody>
                    <a:bodyPr/>
                    <a:lstStyle/>
                    <a:p>
                      <a:r>
                        <a:rPr lang="en-US" dirty="0"/>
                        <a:t>Outputs</a:t>
                      </a:r>
                    </a:p>
                  </a:txBody>
                  <a:tcPr/>
                </a:tc>
                <a:extLst>
                  <a:ext uri="{0D108BD9-81ED-4DB2-BD59-A6C34878D82A}">
                    <a16:rowId xmlns:a16="http://schemas.microsoft.com/office/drawing/2014/main" val="229248636"/>
                  </a:ext>
                </a:extLst>
              </a:tr>
              <a:tr h="370840">
                <a:tc>
                  <a:txBody>
                    <a:bodyPr/>
                    <a:lstStyle/>
                    <a:p>
                      <a:r>
                        <a:rPr lang="en-US" dirty="0"/>
                        <a:t>1- 5</a:t>
                      </a:r>
                    </a:p>
                  </a:txBody>
                  <a:tcPr/>
                </a:tc>
                <a:tc>
                  <a:txBody>
                    <a:bodyPr/>
                    <a:lstStyle/>
                    <a:p>
                      <a:r>
                        <a:rPr lang="en-US" b="0" dirty="0"/>
                        <a:t>Scale tendency</a:t>
                      </a:r>
                      <a:endParaRPr lang="en-US" dirty="0"/>
                    </a:p>
                  </a:txBody>
                  <a:tcPr/>
                </a:tc>
                <a:tc>
                  <a:txBody>
                    <a:bodyPr/>
                    <a:lstStyle/>
                    <a:p>
                      <a:r>
                        <a:rPr lang="en-US" b="0" dirty="0"/>
                        <a:t>Reservoirs / Production well</a:t>
                      </a:r>
                    </a:p>
                  </a:txBody>
                  <a:tcPr/>
                </a:tc>
                <a:tc>
                  <a:txBody>
                    <a:bodyPr/>
                    <a:lstStyle/>
                    <a:p>
                      <a:r>
                        <a:rPr lang="en-US" dirty="0" err="1"/>
                        <a:t>CaCO</a:t>
                      </a:r>
                      <a:r>
                        <a:rPr lang="en-US" dirty="0"/>
                        <a:t>₃, </a:t>
                      </a:r>
                      <a:r>
                        <a:rPr lang="en-US" dirty="0" err="1"/>
                        <a:t>CaSO</a:t>
                      </a:r>
                      <a:r>
                        <a:rPr lang="en-US" dirty="0"/>
                        <a:t>₄</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200" dirty="0" err="1">
                          <a:solidFill>
                            <a:schemeClr val="dk1"/>
                          </a:solidFill>
                          <a:effectLst/>
                          <a:latin typeface="+mn-lt"/>
                          <a:ea typeface="+mn-ea"/>
                          <a:cs typeface="+mn-cs"/>
                        </a:rPr>
                        <a:t>BaSO</a:t>
                      </a:r>
                      <a:r>
                        <a:rPr lang="en-US" sz="1800" kern="1200" dirty="0">
                          <a:solidFill>
                            <a:schemeClr val="dk1"/>
                          </a:solidFill>
                          <a:effectLst/>
                          <a:latin typeface="+mn-lt"/>
                          <a:ea typeface="+mn-ea"/>
                          <a:cs typeface="+mn-cs"/>
                        </a:rPr>
                        <a:t>₄</a:t>
                      </a:r>
                    </a:p>
                    <a:p>
                      <a:endParaRPr lang="en-US" dirty="0"/>
                    </a:p>
                  </a:txBody>
                  <a:tcPr/>
                </a:tc>
                <a:tc>
                  <a:txBody>
                    <a:bodyPr/>
                    <a:lstStyle/>
                    <a:p>
                      <a:r>
                        <a:rPr lang="en-US" sz="1800" kern="1200" dirty="0">
                          <a:solidFill>
                            <a:schemeClr val="dk1"/>
                          </a:solidFill>
                          <a:effectLst/>
                          <a:latin typeface="+mn-lt"/>
                          <a:ea typeface="+mn-ea"/>
                          <a:cs typeface="+mn-cs"/>
                        </a:rPr>
                        <a:t>Decision Tree</a:t>
                      </a:r>
                    </a:p>
                    <a:p>
                      <a:r>
                        <a:rPr lang="en-US" sz="1800" kern="1200" dirty="0">
                          <a:solidFill>
                            <a:schemeClr val="dk1"/>
                          </a:solidFill>
                          <a:effectLst/>
                          <a:latin typeface="+mn-lt"/>
                          <a:ea typeface="+mn-ea"/>
                          <a:cs typeface="+mn-cs"/>
                        </a:rPr>
                        <a:t>Random Forest</a:t>
                      </a:r>
                    </a:p>
                    <a:p>
                      <a:r>
                        <a:rPr lang="en-US" sz="1800" kern="1200" dirty="0">
                          <a:solidFill>
                            <a:schemeClr val="dk1"/>
                          </a:solidFill>
                          <a:effectLst/>
                          <a:latin typeface="+mn-lt"/>
                          <a:ea typeface="+mn-ea"/>
                          <a:cs typeface="+mn-cs"/>
                        </a:rPr>
                        <a:t>Multilayer Perceptron</a:t>
                      </a:r>
                    </a:p>
                    <a:p>
                      <a:r>
                        <a:rPr lang="en-US" sz="1800" kern="1200" dirty="0">
                          <a:solidFill>
                            <a:schemeClr val="dk1"/>
                          </a:solidFill>
                          <a:effectLst/>
                          <a:latin typeface="+mn-lt"/>
                          <a:ea typeface="+mn-ea"/>
                          <a:cs typeface="+mn-cs"/>
                        </a:rPr>
                        <a:t>CNN</a:t>
                      </a:r>
                    </a:p>
                    <a:p>
                      <a:r>
                        <a:rPr lang="en-US" sz="1800" kern="1200" dirty="0">
                          <a:solidFill>
                            <a:schemeClr val="dk1"/>
                          </a:solidFill>
                          <a:effectLst/>
                          <a:latin typeface="+mn-lt"/>
                          <a:ea typeface="+mn-ea"/>
                          <a:cs typeface="+mn-cs"/>
                        </a:rPr>
                        <a:t>K-Nearest Neighbors</a:t>
                      </a:r>
                    </a:p>
                    <a:p>
                      <a:r>
                        <a:rPr lang="en-US" sz="1800" kern="1200" dirty="0">
                          <a:solidFill>
                            <a:schemeClr val="dk1"/>
                          </a:solidFill>
                          <a:effectLst/>
                          <a:latin typeface="+mn-lt"/>
                          <a:ea typeface="+mn-ea"/>
                          <a:cs typeface="+mn-cs"/>
                        </a:rPr>
                        <a:t>Support Vector Machine </a:t>
                      </a:r>
                    </a:p>
                    <a:p>
                      <a:r>
                        <a:rPr lang="en-US" sz="1800" kern="1200" dirty="0">
                          <a:solidFill>
                            <a:schemeClr val="dk1"/>
                          </a:solidFill>
                          <a:effectLst/>
                          <a:latin typeface="+mn-lt"/>
                          <a:ea typeface="+mn-ea"/>
                          <a:cs typeface="+mn-cs"/>
                        </a:rPr>
                        <a:t>Logistic Regression</a:t>
                      </a:r>
                    </a:p>
                    <a:p>
                      <a:r>
                        <a:rPr lang="en-US" sz="1800" kern="1200" dirty="0">
                          <a:solidFill>
                            <a:schemeClr val="dk1"/>
                          </a:solidFill>
                          <a:effectLst/>
                          <a:latin typeface="+mn-lt"/>
                          <a:ea typeface="+mn-ea"/>
                          <a:cs typeface="+mn-cs"/>
                        </a:rPr>
                        <a:t>Naïve Bayes</a:t>
                      </a:r>
                    </a:p>
                    <a:p>
                      <a:r>
                        <a:rPr lang="en-US" sz="1800" kern="1200" dirty="0">
                          <a:solidFill>
                            <a:schemeClr val="dk1"/>
                          </a:solidFill>
                          <a:effectLst/>
                          <a:latin typeface="+mn-lt"/>
                          <a:ea typeface="+mn-ea"/>
                          <a:cs typeface="+mn-cs"/>
                        </a:rPr>
                        <a:t>Adaptive Boosting </a:t>
                      </a:r>
                    </a:p>
                    <a:p>
                      <a:r>
                        <a:rPr lang="en-US" sz="1800" kern="1200" dirty="0">
                          <a:solidFill>
                            <a:schemeClr val="dk1"/>
                          </a:solidFill>
                          <a:effectLst/>
                          <a:latin typeface="+mn-lt"/>
                          <a:ea typeface="+mn-ea"/>
                          <a:cs typeface="+mn-cs"/>
                        </a:rPr>
                        <a:t>Ensemble Learning</a:t>
                      </a:r>
                      <a:endParaRPr lang="en-US" b="0" dirty="0"/>
                    </a:p>
                  </a:txBody>
                  <a:tcPr/>
                </a:tc>
                <a:tc>
                  <a:txBody>
                    <a:bodyPr/>
                    <a:lstStyle/>
                    <a:p>
                      <a:r>
                        <a:rPr lang="en-US" sz="1800" kern="1200" dirty="0">
                          <a:solidFill>
                            <a:schemeClr val="dk1"/>
                          </a:solidFill>
                          <a:effectLst/>
                          <a:latin typeface="+mn-lt"/>
                          <a:ea typeface="+mn-ea"/>
                          <a:cs typeface="+mn-cs"/>
                        </a:rPr>
                        <a:t>Binary classification ‘Scale / No scale’</a:t>
                      </a:r>
                      <a:endParaRPr lang="en-US" dirty="0"/>
                    </a:p>
                  </a:txBody>
                  <a:tcPr/>
                </a:tc>
                <a:extLst>
                  <a:ext uri="{0D108BD9-81ED-4DB2-BD59-A6C34878D82A}">
                    <a16:rowId xmlns:a16="http://schemas.microsoft.com/office/drawing/2014/main" val="1386937106"/>
                  </a:ext>
                </a:extLst>
              </a:tr>
            </a:tbl>
          </a:graphicData>
        </a:graphic>
      </p:graphicFrame>
    </p:spTree>
    <p:extLst>
      <p:ext uri="{BB962C8B-B14F-4D97-AF65-F5344CB8AC3E}">
        <p14:creationId xmlns:p14="http://schemas.microsoft.com/office/powerpoint/2010/main" val="9774154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AB457-E138-5A85-84EA-2F2020E6CFC5}"/>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E93C0CAE-143E-04E8-94F1-5861BD0D5DC7}"/>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dirty="0"/>
              <a:t>Ref</a:t>
            </a:r>
          </a:p>
          <a:p>
            <a:pPr marL="457200" indent="-457200">
              <a:buAutoNum type="arabicPeriod"/>
            </a:pPr>
            <a:r>
              <a:rPr lang="en-US" sz="1500" dirty="0"/>
              <a:t>Al-Hajri, N. M., Al-Ghamdi, A., Tariq, Z., &amp; Mahmoud, M. (2020). Scale-prediction/inhibition design using machine-learning techniques and probabilistic approach. SPE Prod Oper 35: 0987–1009.</a:t>
            </a:r>
          </a:p>
          <a:p>
            <a:pPr marL="457200" indent="-457200">
              <a:buAutoNum type="arabicPeriod"/>
            </a:pPr>
            <a:r>
              <a:rPr lang="en-US" sz="1500" dirty="0" err="1"/>
              <a:t>Ugoyah</a:t>
            </a:r>
            <a:r>
              <a:rPr lang="en-US" sz="1500" dirty="0"/>
              <a:t>, J. C., </a:t>
            </a:r>
            <a:r>
              <a:rPr lang="en-US" sz="1500" dirty="0" err="1"/>
              <a:t>Ajienka</a:t>
            </a:r>
            <a:r>
              <a:rPr lang="en-US" sz="1500" dirty="0"/>
              <a:t>, J. A., </a:t>
            </a:r>
            <a:r>
              <a:rPr lang="en-US" sz="1500" dirty="0" err="1"/>
              <a:t>Wachikwu</a:t>
            </a:r>
            <a:r>
              <a:rPr lang="en-US" sz="1500" dirty="0"/>
              <a:t>-Elechi, V. U., &amp; </a:t>
            </a:r>
            <a:r>
              <a:rPr lang="en-US" sz="1500" dirty="0" err="1"/>
              <a:t>Ikiensikimama</a:t>
            </a:r>
            <a:r>
              <a:rPr lang="en-US" sz="1500" dirty="0"/>
              <a:t>, S. S. (2022, August). Prediction of scale precipitation by modelling its thermodynamic properties using machine learning engineering. In SPE Nigeria Annual International Conference and Exhibition (p. D021S007R005). SPE.</a:t>
            </a:r>
          </a:p>
          <a:p>
            <a:pPr marL="457200" indent="-457200">
              <a:buAutoNum type="arabicPeriod"/>
            </a:pPr>
            <a:r>
              <a:rPr lang="en-US" sz="1500" dirty="0"/>
              <a:t>Yousefzadeh, R., </a:t>
            </a:r>
            <a:r>
              <a:rPr lang="en-US" sz="1500" dirty="0" err="1"/>
              <a:t>Bemani</a:t>
            </a:r>
            <a:r>
              <a:rPr lang="en-US" sz="1500" dirty="0"/>
              <a:t>, A., Kazemi, A., &amp; Ahmadi, M. (2023). An insight into the prediction of scale precipitation in harsh conditions using different machine learning algorithms. SPE Production &amp; Operations, 38(02), 286-304.</a:t>
            </a:r>
          </a:p>
          <a:p>
            <a:pPr marL="457200" indent="-457200">
              <a:buAutoNum type="arabicPeriod"/>
            </a:pPr>
            <a:r>
              <a:rPr lang="en-US" sz="1500" dirty="0"/>
              <a:t>Al-</a:t>
            </a:r>
            <a:r>
              <a:rPr lang="en-US" sz="1500" dirty="0" err="1"/>
              <a:t>Hatmi</a:t>
            </a:r>
            <a:r>
              <a:rPr lang="en-US" sz="1500" dirty="0"/>
              <a:t>, A. R. (2023). Application of Machine Learning Techniques For Inorganic Scale Precipitation Prediction in a Sandstone Reservoir. Sultan Qaboos University (Oman).</a:t>
            </a:r>
          </a:p>
          <a:p>
            <a:pPr marL="457200" indent="-457200">
              <a:buAutoNum type="arabicPeriod"/>
            </a:pPr>
            <a:r>
              <a:rPr lang="en-US" sz="1500" dirty="0"/>
              <a:t>Ferreira, B. X., Barbosa, C. R. H., </a:t>
            </a:r>
            <a:r>
              <a:rPr lang="en-US" sz="1500" dirty="0" err="1"/>
              <a:t>Cajaiba</a:t>
            </a:r>
            <a:r>
              <a:rPr lang="en-US" sz="1500" dirty="0"/>
              <a:t>, J., </a:t>
            </a:r>
            <a:r>
              <a:rPr lang="en-US" sz="1500" dirty="0" err="1"/>
              <a:t>Kartnaller</a:t>
            </a:r>
            <a:r>
              <a:rPr lang="en-US" sz="1500" dirty="0"/>
              <a:t>, V., &amp; Santos, B. F. (2022). Development of artificial neural network models for the simulation of a CaCO3 Scale formation process in the presence of </a:t>
            </a:r>
            <a:r>
              <a:rPr lang="en-US" sz="1500" dirty="0" err="1"/>
              <a:t>monoethylene</a:t>
            </a:r>
            <a:r>
              <a:rPr lang="en-US" sz="1500" dirty="0"/>
              <a:t> glycol (MEG) in dynamic tube blocking test equipment. Energy &amp; Fuels, 36(4), 2288-2299.</a:t>
            </a:r>
          </a:p>
        </p:txBody>
      </p:sp>
    </p:spTree>
    <p:extLst>
      <p:ext uri="{BB962C8B-B14F-4D97-AF65-F5344CB8AC3E}">
        <p14:creationId xmlns:p14="http://schemas.microsoft.com/office/powerpoint/2010/main" val="22331710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F9EB0F-887C-C29D-723B-151F818E63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DA2BB3-411C-80D4-63A4-30C07356DFB8}"/>
              </a:ext>
            </a:extLst>
          </p:cNvPr>
          <p:cNvSpPr>
            <a:spLocks noGrp="1"/>
          </p:cNvSpPr>
          <p:nvPr>
            <p:ph type="title"/>
          </p:nvPr>
        </p:nvSpPr>
        <p:spPr/>
        <p:txBody>
          <a:bodyPr/>
          <a:lstStyle/>
          <a:p>
            <a:r>
              <a:rPr lang="en-US" dirty="0"/>
              <a:t>ML / Scale Thermodynamics</a:t>
            </a:r>
          </a:p>
        </p:txBody>
      </p:sp>
    </p:spTree>
    <p:extLst>
      <p:ext uri="{BB962C8B-B14F-4D97-AF65-F5344CB8AC3E}">
        <p14:creationId xmlns:p14="http://schemas.microsoft.com/office/powerpoint/2010/main" val="843187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FD06E-E463-01FF-AB73-A364CCF473EE}"/>
            </a:ext>
          </a:extLst>
        </p:cNvPr>
        <p:cNvGrpSpPr/>
        <p:nvPr/>
      </p:nvGrpSpPr>
      <p:grpSpPr>
        <a:xfrm>
          <a:off x="0" y="0"/>
          <a:ext cx="0" cy="0"/>
          <a:chOff x="0" y="0"/>
          <a:chExt cx="0" cy="0"/>
        </a:xfrm>
      </p:grpSpPr>
      <p:graphicFrame>
        <p:nvGraphicFramePr>
          <p:cNvPr id="4" name="Content Placeholder 7">
            <a:extLst>
              <a:ext uri="{FF2B5EF4-FFF2-40B4-BE49-F238E27FC236}">
                <a16:creationId xmlns:a16="http://schemas.microsoft.com/office/drawing/2014/main" id="{8BABCBD5-1327-E0CD-D397-A7987B4B0299}"/>
              </a:ext>
            </a:extLst>
          </p:cNvPr>
          <p:cNvGraphicFramePr>
            <a:graphicFrameLocks/>
          </p:cNvGraphicFramePr>
          <p:nvPr>
            <p:extLst>
              <p:ext uri="{D42A27DB-BD31-4B8C-83A1-F6EECF244321}">
                <p14:modId xmlns:p14="http://schemas.microsoft.com/office/powerpoint/2010/main" val="3980195592"/>
              </p:ext>
            </p:extLst>
          </p:nvPr>
        </p:nvGraphicFramePr>
        <p:xfrm>
          <a:off x="300039" y="188624"/>
          <a:ext cx="11591922" cy="585724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1684809">
                  <a:extLst>
                    <a:ext uri="{9D8B030D-6E8A-4147-A177-3AD203B41FA5}">
                      <a16:colId xmlns:a16="http://schemas.microsoft.com/office/drawing/2014/main" val="1274649808"/>
                    </a:ext>
                  </a:extLst>
                </a:gridCol>
                <a:gridCol w="3396343">
                  <a:extLst>
                    <a:ext uri="{9D8B030D-6E8A-4147-A177-3AD203B41FA5}">
                      <a16:colId xmlns:a16="http://schemas.microsoft.com/office/drawing/2014/main" val="2114671980"/>
                    </a:ext>
                  </a:extLst>
                </a:gridCol>
                <a:gridCol w="2685143">
                  <a:extLst>
                    <a:ext uri="{9D8B030D-6E8A-4147-A177-3AD203B41FA5}">
                      <a16:colId xmlns:a16="http://schemas.microsoft.com/office/drawing/2014/main" val="125575515"/>
                    </a:ext>
                  </a:extLst>
                </a:gridCol>
                <a:gridCol w="1872343">
                  <a:extLst>
                    <a:ext uri="{9D8B030D-6E8A-4147-A177-3AD203B41FA5}">
                      <a16:colId xmlns:a16="http://schemas.microsoft.com/office/drawing/2014/main" val="3464939645"/>
                    </a:ext>
                  </a:extLst>
                </a:gridCol>
                <a:gridCol w="1499732">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Scale type</a:t>
                      </a:r>
                    </a:p>
                  </a:txBody>
                  <a:tcPr/>
                </a:tc>
                <a:tc>
                  <a:txBody>
                    <a:bodyPr/>
                    <a:lstStyle/>
                    <a:p>
                      <a:r>
                        <a:rPr lang="en-US" dirty="0"/>
                        <a:t>Algorithm</a:t>
                      </a:r>
                    </a:p>
                  </a:txBody>
                  <a:tcPr/>
                </a:tc>
                <a:tc>
                  <a:txBody>
                    <a:bodyPr/>
                    <a:lstStyle/>
                    <a:p>
                      <a:r>
                        <a:rPr lang="en-US" dirty="0"/>
                        <a:t>Input</a:t>
                      </a:r>
                    </a:p>
                  </a:txBody>
                  <a:tcPr/>
                </a:tc>
                <a:tc>
                  <a:txBody>
                    <a:bodyPr/>
                    <a:lstStyle/>
                    <a:p>
                      <a:pPr>
                        <a:buNone/>
                      </a:pPr>
                      <a:r>
                        <a:rPr lang="en-US" dirty="0"/>
                        <a:t>Output</a:t>
                      </a:r>
                    </a:p>
                  </a:txBody>
                  <a:tcPr anchor="ctr"/>
                </a:tc>
                <a:tc>
                  <a:txBody>
                    <a:bodyPr/>
                    <a:lstStyle/>
                    <a:p>
                      <a:r>
                        <a:rPr lang="en-US" dirty="0"/>
                        <a:t>Application</a:t>
                      </a:r>
                    </a:p>
                  </a:txBody>
                  <a:tcPr/>
                </a:tc>
                <a:extLst>
                  <a:ext uri="{0D108BD9-81ED-4DB2-BD59-A6C34878D82A}">
                    <a16:rowId xmlns:a16="http://schemas.microsoft.com/office/drawing/2014/main" val="229248636"/>
                  </a:ext>
                </a:extLst>
              </a:tr>
              <a:tr h="370840">
                <a:tc>
                  <a:txBody>
                    <a:bodyPr/>
                    <a:lstStyle/>
                    <a:p>
                      <a:r>
                        <a:rPr lang="en-US" dirty="0"/>
                        <a:t>1</a:t>
                      </a:r>
                    </a:p>
                  </a:txBody>
                  <a:tcPr/>
                </a:tc>
                <a:tc>
                  <a:txBody>
                    <a:bodyPr/>
                    <a:lstStyle/>
                    <a:p>
                      <a:r>
                        <a:rPr lang="en-US" sz="1800" kern="1200" dirty="0" err="1">
                          <a:solidFill>
                            <a:schemeClr val="dk1"/>
                          </a:solidFill>
                          <a:effectLst/>
                          <a:latin typeface="+mn-lt"/>
                          <a:ea typeface="+mn-ea"/>
                          <a:cs typeface="+mn-cs"/>
                        </a:rPr>
                        <a:t>CaCO</a:t>
                      </a:r>
                      <a:r>
                        <a:rPr lang="en-US" sz="1800" kern="1200" dirty="0">
                          <a:solidFill>
                            <a:schemeClr val="dk1"/>
                          </a:solidFill>
                          <a:effectLst/>
                          <a:latin typeface="+mn-lt"/>
                          <a:ea typeface="+mn-ea"/>
                          <a:cs typeface="+mn-cs"/>
                        </a:rPr>
                        <a:t>₃</a:t>
                      </a:r>
                      <a:endParaRPr lang="en-US" dirty="0"/>
                    </a:p>
                  </a:txBody>
                  <a:tcPr/>
                </a:tc>
                <a:tc>
                  <a:txBody>
                    <a:bodyPr/>
                    <a:lstStyle/>
                    <a:p>
                      <a:r>
                        <a:rPr lang="en-US" sz="1800" kern="1200" dirty="0">
                          <a:solidFill>
                            <a:schemeClr val="dk1"/>
                          </a:solidFill>
                          <a:effectLst/>
                          <a:latin typeface="+mn-lt"/>
                          <a:ea typeface="+mn-ea"/>
                          <a:cs typeface="+mn-cs"/>
                        </a:rPr>
                        <a:t>Least Squares SVC</a:t>
                      </a:r>
                    </a:p>
                    <a:p>
                      <a:r>
                        <a:rPr lang="en-US" sz="1800" kern="1200" dirty="0">
                          <a:solidFill>
                            <a:schemeClr val="dk1"/>
                          </a:solidFill>
                          <a:effectLst/>
                          <a:latin typeface="+mn-lt"/>
                          <a:ea typeface="+mn-ea"/>
                          <a:cs typeface="+mn-cs"/>
                        </a:rPr>
                        <a:t>Radial Basis Function</a:t>
                      </a:r>
                    </a:p>
                    <a:p>
                      <a:r>
                        <a:rPr lang="en-US" sz="1800" kern="1200" dirty="0">
                          <a:solidFill>
                            <a:schemeClr val="dk1"/>
                          </a:solidFill>
                          <a:effectLst/>
                          <a:latin typeface="+mn-lt"/>
                          <a:ea typeface="+mn-ea"/>
                          <a:cs typeface="+mn-cs"/>
                        </a:rPr>
                        <a:t>GA</a:t>
                      </a:r>
                      <a:endParaRPr lang="en-US" b="0" dirty="0"/>
                    </a:p>
                  </a:txBody>
                  <a:tcPr/>
                </a:tc>
                <a:tc>
                  <a:txBody>
                    <a:bodyPr/>
                    <a:lstStyle/>
                    <a:p>
                      <a:r>
                        <a:rPr lang="en-US" sz="1800" kern="1200" dirty="0">
                          <a:solidFill>
                            <a:schemeClr val="dk1"/>
                          </a:solidFill>
                          <a:effectLst/>
                          <a:latin typeface="+mn-lt"/>
                          <a:ea typeface="+mn-ea"/>
                          <a:cs typeface="+mn-cs"/>
                        </a:rPr>
                        <a:t>Pressure, Temperature</a:t>
                      </a:r>
                      <a:endParaRPr lang="en-US" dirty="0"/>
                    </a:p>
                  </a:txBody>
                  <a:tcPr/>
                </a:tc>
                <a:tc>
                  <a:txBody>
                    <a:bodyPr/>
                    <a:lstStyle/>
                    <a:p>
                      <a:r>
                        <a:rPr lang="en-US" sz="1800" kern="1200" dirty="0">
                          <a:solidFill>
                            <a:schemeClr val="dk1"/>
                          </a:solidFill>
                          <a:effectLst/>
                          <a:latin typeface="+mn-lt"/>
                          <a:ea typeface="+mn-ea"/>
                          <a:cs typeface="+mn-cs"/>
                        </a:rPr>
                        <a:t>Dissolved </a:t>
                      </a:r>
                      <a:r>
                        <a:rPr lang="en-US" sz="1800" kern="1200" dirty="0" err="1">
                          <a:solidFill>
                            <a:schemeClr val="dk1"/>
                          </a:solidFill>
                          <a:effectLst/>
                          <a:latin typeface="+mn-lt"/>
                          <a:ea typeface="+mn-ea"/>
                          <a:cs typeface="+mn-cs"/>
                        </a:rPr>
                        <a:t>CaCO</a:t>
                      </a:r>
                      <a:r>
                        <a:rPr lang="en-US" sz="1800" kern="1200" dirty="0">
                          <a:solidFill>
                            <a:schemeClr val="dk1"/>
                          </a:solidFill>
                          <a:effectLst/>
                          <a:latin typeface="+mn-lt"/>
                          <a:ea typeface="+mn-ea"/>
                          <a:cs typeface="+mn-cs"/>
                        </a:rPr>
                        <a:t>₃</a:t>
                      </a:r>
                    </a:p>
                  </a:txBody>
                  <a:tcPr/>
                </a:tc>
                <a:tc>
                  <a:txBody>
                    <a:bodyPr/>
                    <a:lstStyle/>
                    <a:p>
                      <a:r>
                        <a:rPr lang="en-US" dirty="0"/>
                        <a:t>reservoirs</a:t>
                      </a:r>
                    </a:p>
                  </a:txBody>
                  <a:tcPr/>
                </a:tc>
                <a:extLst>
                  <a:ext uri="{0D108BD9-81ED-4DB2-BD59-A6C34878D82A}">
                    <a16:rowId xmlns:a16="http://schemas.microsoft.com/office/drawing/2014/main" val="1386937106"/>
                  </a:ext>
                </a:extLst>
              </a:tr>
              <a:tr h="370840">
                <a:tc>
                  <a:txBody>
                    <a:bodyPr/>
                    <a:lstStyle/>
                    <a:p>
                      <a:r>
                        <a:rPr lang="en-US" dirty="0"/>
                        <a:t>2</a:t>
                      </a:r>
                    </a:p>
                  </a:txBody>
                  <a:tcPr/>
                </a:tc>
                <a:tc>
                  <a:txBody>
                    <a:bodyPr/>
                    <a:lstStyle/>
                    <a:p>
                      <a:r>
                        <a:rPr lang="en-US" sz="1800" kern="1200" dirty="0" err="1">
                          <a:solidFill>
                            <a:schemeClr val="dk1"/>
                          </a:solidFill>
                          <a:effectLst/>
                          <a:latin typeface="+mn-lt"/>
                          <a:ea typeface="+mn-ea"/>
                          <a:cs typeface="+mn-cs"/>
                        </a:rPr>
                        <a:t>SrSO</a:t>
                      </a:r>
                      <a:r>
                        <a:rPr lang="en-US" sz="1800" kern="1200" dirty="0">
                          <a:solidFill>
                            <a:schemeClr val="dk1"/>
                          </a:solidFill>
                          <a:effectLst/>
                          <a:latin typeface="+mn-lt"/>
                          <a:ea typeface="+mn-ea"/>
                          <a:cs typeface="+mn-cs"/>
                        </a:rPr>
                        <a:t>₄ </a:t>
                      </a:r>
                      <a:r>
                        <a:rPr lang="en-US" sz="1800" kern="1200" dirty="0" err="1">
                          <a:solidFill>
                            <a:schemeClr val="dk1"/>
                          </a:solidFill>
                          <a:effectLst/>
                          <a:latin typeface="+mn-lt"/>
                          <a:ea typeface="+mn-ea"/>
                          <a:cs typeface="+mn-cs"/>
                        </a:rPr>
                        <a:t>BaSO</a:t>
                      </a:r>
                      <a:r>
                        <a:rPr lang="en-US" sz="1800" kern="1200" dirty="0">
                          <a:solidFill>
                            <a:schemeClr val="dk1"/>
                          </a:solidFill>
                          <a:effectLst/>
                          <a:latin typeface="+mn-lt"/>
                          <a:ea typeface="+mn-ea"/>
                          <a:cs typeface="+mn-cs"/>
                        </a:rPr>
                        <a:t>₄</a:t>
                      </a:r>
                      <a:endParaRPr lang="en-US" dirty="0"/>
                    </a:p>
                  </a:txBody>
                  <a:tcPr/>
                </a:tc>
                <a:tc>
                  <a:txBody>
                    <a:bodyPr/>
                    <a:lstStyle/>
                    <a:p>
                      <a:r>
                        <a:rPr lang="en-US" sz="1800" kern="1200" dirty="0">
                          <a:solidFill>
                            <a:schemeClr val="dk1"/>
                          </a:solidFill>
                          <a:effectLst/>
                          <a:latin typeface="+mn-lt"/>
                          <a:ea typeface="+mn-ea"/>
                          <a:cs typeface="+mn-cs"/>
                        </a:rPr>
                        <a:t>Generalized Additive Model</a:t>
                      </a:r>
                    </a:p>
                    <a:p>
                      <a:r>
                        <a:rPr lang="en-US" sz="1800" kern="1200" dirty="0">
                          <a:solidFill>
                            <a:schemeClr val="dk1"/>
                          </a:solidFill>
                          <a:effectLst/>
                          <a:latin typeface="+mn-lt"/>
                          <a:ea typeface="+mn-ea"/>
                          <a:cs typeface="+mn-cs"/>
                        </a:rPr>
                        <a:t>Random Forest, Decision Tree</a:t>
                      </a:r>
                    </a:p>
                    <a:p>
                      <a:r>
                        <a:rPr lang="en-US" sz="1800" kern="1200" dirty="0">
                          <a:solidFill>
                            <a:schemeClr val="dk1"/>
                          </a:solidFill>
                          <a:effectLst/>
                          <a:latin typeface="+mn-lt"/>
                          <a:ea typeface="+mn-ea"/>
                          <a:cs typeface="+mn-cs"/>
                        </a:rPr>
                        <a:t>MLP, LSTM, </a:t>
                      </a:r>
                    </a:p>
                    <a:p>
                      <a:r>
                        <a:rPr lang="en-US" sz="1800" kern="1200" dirty="0">
                          <a:solidFill>
                            <a:schemeClr val="dk1"/>
                          </a:solidFill>
                          <a:effectLst/>
                          <a:latin typeface="+mn-lt"/>
                          <a:ea typeface="+mn-ea"/>
                          <a:cs typeface="+mn-cs"/>
                        </a:rPr>
                        <a:t>CNN–LSTM, SVM–RF, MLP–DT</a:t>
                      </a:r>
                      <a:endParaRPr lang="en-US" b="0" dirty="0"/>
                    </a:p>
                  </a:txBody>
                  <a:tcPr/>
                </a:tc>
                <a:tc>
                  <a:txBody>
                    <a:bodyPr/>
                    <a:lstStyle/>
                    <a:p>
                      <a:r>
                        <a:rPr lang="en-US" sz="1800" kern="1200" dirty="0">
                          <a:solidFill>
                            <a:schemeClr val="dk1"/>
                          </a:solidFill>
                          <a:effectLst/>
                          <a:latin typeface="+mn-lt"/>
                          <a:ea typeface="+mn-ea"/>
                          <a:cs typeface="+mn-cs"/>
                        </a:rPr>
                        <a:t>Pressure, Temperature, </a:t>
                      </a:r>
                    </a:p>
                    <a:p>
                      <a:r>
                        <a:rPr lang="en-US" sz="1800" kern="1200" dirty="0">
                          <a:solidFill>
                            <a:schemeClr val="dk1"/>
                          </a:solidFill>
                          <a:effectLst/>
                          <a:latin typeface="+mn-lt"/>
                          <a:ea typeface="+mn-ea"/>
                          <a:cs typeface="+mn-cs"/>
                        </a:rPr>
                        <a:t>NaCl, </a:t>
                      </a:r>
                      <a:r>
                        <a:rPr lang="en-US" sz="1800" kern="1200" dirty="0" err="1">
                          <a:solidFill>
                            <a:schemeClr val="dk1"/>
                          </a:solidFill>
                          <a:effectLst/>
                          <a:latin typeface="+mn-lt"/>
                          <a:ea typeface="+mn-ea"/>
                          <a:cs typeface="+mn-cs"/>
                        </a:rPr>
                        <a:t>CaCl</a:t>
                      </a:r>
                      <a:r>
                        <a:rPr lang="en-US" sz="1800" kern="1200" dirty="0">
                          <a:solidFill>
                            <a:schemeClr val="dk1"/>
                          </a:solidFill>
                          <a:effectLst/>
                          <a:latin typeface="+mn-lt"/>
                          <a:ea typeface="+mn-ea"/>
                          <a:cs typeface="+mn-cs"/>
                        </a:rPr>
                        <a:t>₂, </a:t>
                      </a:r>
                      <a:r>
                        <a:rPr lang="en-US" sz="1800" kern="1200" dirty="0" err="1">
                          <a:solidFill>
                            <a:schemeClr val="dk1"/>
                          </a:solidFill>
                          <a:effectLst/>
                          <a:latin typeface="+mn-lt"/>
                          <a:ea typeface="+mn-ea"/>
                          <a:cs typeface="+mn-cs"/>
                        </a:rPr>
                        <a:t>MgCl</a:t>
                      </a:r>
                      <a:r>
                        <a:rPr lang="en-US" sz="1800" kern="1200" dirty="0">
                          <a:solidFill>
                            <a:schemeClr val="dk1"/>
                          </a:solidFill>
                          <a:effectLst/>
                          <a:latin typeface="+mn-lt"/>
                          <a:ea typeface="+mn-ea"/>
                          <a:cs typeface="+mn-cs"/>
                        </a:rPr>
                        <a:t>₂,</a:t>
                      </a:r>
                    </a:p>
                    <a:p>
                      <a:r>
                        <a:rPr lang="en-US" sz="1800" kern="1200" dirty="0">
                          <a:solidFill>
                            <a:schemeClr val="dk1"/>
                          </a:solidFill>
                          <a:effectLst/>
                          <a:latin typeface="+mn-lt"/>
                          <a:ea typeface="+mn-ea"/>
                          <a:cs typeface="+mn-cs"/>
                        </a:rPr>
                        <a:t>Ionic strength</a:t>
                      </a:r>
                    </a:p>
                    <a:p>
                      <a:r>
                        <a:rPr lang="en-US" sz="1800" kern="1200" dirty="0">
                          <a:solidFill>
                            <a:schemeClr val="dk1"/>
                          </a:solidFill>
                          <a:effectLst/>
                          <a:latin typeface="+mn-lt"/>
                          <a:ea typeface="+mn-ea"/>
                          <a:cs typeface="+mn-cs"/>
                        </a:rPr>
                        <a:t>Electrolyte composition</a:t>
                      </a:r>
                      <a:endParaRPr lang="en-US" dirty="0"/>
                    </a:p>
                  </a:txBody>
                  <a:tcPr/>
                </a:tc>
                <a:tc>
                  <a:txBody>
                    <a:bodyPr/>
                    <a:lstStyle/>
                    <a:p>
                      <a:r>
                        <a:rPr lang="en-US" sz="1800" kern="1200" dirty="0">
                          <a:solidFill>
                            <a:schemeClr val="dk1"/>
                          </a:solidFill>
                          <a:effectLst/>
                          <a:latin typeface="+mn-lt"/>
                          <a:ea typeface="+mn-ea"/>
                          <a:cs typeface="+mn-cs"/>
                        </a:rPr>
                        <a:t>Sulfate mineral solubility</a:t>
                      </a:r>
                    </a:p>
                    <a:p>
                      <a:r>
                        <a:rPr lang="en-US" sz="1800" kern="1200" dirty="0" err="1">
                          <a:solidFill>
                            <a:schemeClr val="dk1"/>
                          </a:solidFill>
                          <a:effectLst/>
                          <a:latin typeface="+mn-lt"/>
                          <a:ea typeface="+mn-ea"/>
                          <a:cs typeface="+mn-cs"/>
                        </a:rPr>
                        <a:t>SrSO</a:t>
                      </a:r>
                      <a:r>
                        <a:rPr lang="en-US" sz="1800" kern="1200" dirty="0">
                          <a:solidFill>
                            <a:schemeClr val="dk1"/>
                          </a:solidFill>
                          <a:effectLst/>
                          <a:latin typeface="+mn-lt"/>
                          <a:ea typeface="+mn-ea"/>
                          <a:cs typeface="+mn-cs"/>
                        </a:rPr>
                        <a:t>₄, </a:t>
                      </a:r>
                      <a:r>
                        <a:rPr lang="en-US" sz="1800" kern="1200" dirty="0" err="1">
                          <a:solidFill>
                            <a:schemeClr val="dk1"/>
                          </a:solidFill>
                          <a:effectLst/>
                          <a:latin typeface="+mn-lt"/>
                          <a:ea typeface="+mn-ea"/>
                          <a:cs typeface="+mn-cs"/>
                        </a:rPr>
                        <a:t>BaSO</a:t>
                      </a:r>
                      <a:r>
                        <a:rPr lang="en-US" sz="1800" kern="1200" dirty="0">
                          <a:solidFill>
                            <a:schemeClr val="dk1"/>
                          </a:solidFill>
                          <a:effectLst/>
                          <a:latin typeface="+mn-lt"/>
                          <a:ea typeface="+mn-ea"/>
                          <a:cs typeface="+mn-cs"/>
                        </a:rPr>
                        <a:t>₄</a:t>
                      </a:r>
                    </a:p>
                  </a:txBody>
                  <a:tcPr/>
                </a:tc>
                <a:tc>
                  <a:txBody>
                    <a:bodyPr/>
                    <a:lstStyle/>
                    <a:p>
                      <a:r>
                        <a:rPr lang="en-US" dirty="0"/>
                        <a:t>Pipeline</a:t>
                      </a:r>
                    </a:p>
                  </a:txBody>
                  <a:tcPr/>
                </a:tc>
                <a:extLst>
                  <a:ext uri="{0D108BD9-81ED-4DB2-BD59-A6C34878D82A}">
                    <a16:rowId xmlns:a16="http://schemas.microsoft.com/office/drawing/2014/main" val="2856804235"/>
                  </a:ext>
                </a:extLst>
              </a:tr>
              <a:tr h="370840">
                <a:tc>
                  <a:txBody>
                    <a:bodyPr/>
                    <a:lstStyle/>
                    <a:p>
                      <a:r>
                        <a:rPr lang="en-US" dirty="0"/>
                        <a:t>3</a:t>
                      </a:r>
                    </a:p>
                  </a:txBody>
                  <a:tcPr/>
                </a:tc>
                <a:tc>
                  <a:txBody>
                    <a:bodyPr/>
                    <a:lstStyle/>
                    <a:p>
                      <a:r>
                        <a:rPr lang="fr-FR" sz="1800" kern="1200" dirty="0" err="1">
                          <a:solidFill>
                            <a:schemeClr val="dk1"/>
                          </a:solidFill>
                          <a:effectLst/>
                          <a:latin typeface="+mn-lt"/>
                          <a:ea typeface="+mn-ea"/>
                          <a:cs typeface="+mn-cs"/>
                        </a:rPr>
                        <a:t>CaSO</a:t>
                      </a:r>
                      <a:r>
                        <a:rPr lang="fr-FR" sz="1800" kern="1200" dirty="0">
                          <a:solidFill>
                            <a:schemeClr val="dk1"/>
                          </a:solidFill>
                          <a:effectLst/>
                          <a:latin typeface="+mn-lt"/>
                          <a:ea typeface="+mn-ea"/>
                          <a:cs typeface="+mn-cs"/>
                        </a:rPr>
                        <a:t>₄  </a:t>
                      </a:r>
                      <a:r>
                        <a:rPr lang="fr-FR" sz="1800" kern="1200" dirty="0" err="1">
                          <a:solidFill>
                            <a:schemeClr val="dk1"/>
                          </a:solidFill>
                          <a:effectLst/>
                          <a:latin typeface="+mn-lt"/>
                          <a:ea typeface="+mn-ea"/>
                          <a:cs typeface="+mn-cs"/>
                        </a:rPr>
                        <a:t>CaCO</a:t>
                      </a:r>
                      <a:r>
                        <a:rPr lang="fr-FR" sz="1800" kern="1200" dirty="0">
                          <a:solidFill>
                            <a:schemeClr val="dk1"/>
                          </a:solidFill>
                          <a:effectLst/>
                          <a:latin typeface="+mn-lt"/>
                          <a:ea typeface="+mn-ea"/>
                          <a:cs typeface="+mn-cs"/>
                        </a:rPr>
                        <a:t>₃ </a:t>
                      </a:r>
                      <a:endParaRPr lang="en-US" sz="1800" kern="1200" dirty="0">
                        <a:solidFill>
                          <a:schemeClr val="dk1"/>
                        </a:solidFill>
                        <a:effectLst/>
                        <a:latin typeface="+mn-lt"/>
                        <a:ea typeface="+mn-ea"/>
                        <a:cs typeface="+mn-cs"/>
                      </a:endParaRPr>
                    </a:p>
                    <a:p>
                      <a:r>
                        <a:rPr lang="fr-FR" sz="1800" kern="1200" dirty="0" err="1">
                          <a:solidFill>
                            <a:schemeClr val="dk1"/>
                          </a:solidFill>
                          <a:effectLst/>
                          <a:latin typeface="+mn-lt"/>
                          <a:ea typeface="+mn-ea"/>
                          <a:cs typeface="+mn-cs"/>
                        </a:rPr>
                        <a:t>BaSO</a:t>
                      </a:r>
                      <a:r>
                        <a:rPr lang="fr-FR" sz="1800" kern="1200" dirty="0">
                          <a:solidFill>
                            <a:schemeClr val="dk1"/>
                          </a:solidFill>
                          <a:effectLst/>
                          <a:latin typeface="+mn-lt"/>
                          <a:ea typeface="+mn-ea"/>
                          <a:cs typeface="+mn-cs"/>
                        </a:rPr>
                        <a:t>₄ </a:t>
                      </a:r>
                      <a:r>
                        <a:rPr lang="fr-FR" sz="1800" kern="1200" dirty="0" err="1">
                          <a:solidFill>
                            <a:schemeClr val="dk1"/>
                          </a:solidFill>
                          <a:effectLst/>
                          <a:latin typeface="+mn-lt"/>
                          <a:ea typeface="+mn-ea"/>
                          <a:cs typeface="+mn-cs"/>
                        </a:rPr>
                        <a:t>CaCO</a:t>
                      </a:r>
                      <a:r>
                        <a:rPr lang="fr-FR" sz="1800" kern="1200" dirty="0">
                          <a:solidFill>
                            <a:schemeClr val="dk1"/>
                          </a:solidFill>
                          <a:effectLst/>
                          <a:latin typeface="+mn-lt"/>
                          <a:ea typeface="+mn-ea"/>
                          <a:cs typeface="+mn-cs"/>
                        </a:rPr>
                        <a:t>₃</a:t>
                      </a:r>
                      <a:endParaRPr lang="en-US" sz="1800" kern="1200" dirty="0">
                        <a:solidFill>
                          <a:schemeClr val="dk1"/>
                        </a:solidFill>
                        <a:effectLst/>
                        <a:latin typeface="+mn-lt"/>
                        <a:ea typeface="+mn-ea"/>
                        <a:cs typeface="+mn-cs"/>
                      </a:endParaRPr>
                    </a:p>
                    <a:p>
                      <a:r>
                        <a:rPr lang="fr-FR" sz="1800" kern="1200" dirty="0" err="1">
                          <a:solidFill>
                            <a:schemeClr val="dk1"/>
                          </a:solidFill>
                          <a:effectLst/>
                          <a:latin typeface="+mn-lt"/>
                          <a:ea typeface="+mn-ea"/>
                          <a:cs typeface="+mn-cs"/>
                        </a:rPr>
                        <a:t>SrSO</a:t>
                      </a:r>
                      <a:r>
                        <a:rPr lang="fr-FR" sz="1800" kern="1200" dirty="0">
                          <a:solidFill>
                            <a:schemeClr val="dk1"/>
                          </a:solidFill>
                          <a:effectLst/>
                          <a:latin typeface="+mn-lt"/>
                          <a:ea typeface="+mn-ea"/>
                          <a:cs typeface="+mn-cs"/>
                        </a:rPr>
                        <a:t>₄ </a:t>
                      </a:r>
                      <a:r>
                        <a:rPr lang="fr-FR" sz="1800" kern="1200" dirty="0" err="1">
                          <a:solidFill>
                            <a:schemeClr val="dk1"/>
                          </a:solidFill>
                          <a:effectLst/>
                          <a:latin typeface="+mn-lt"/>
                          <a:ea typeface="+mn-ea"/>
                          <a:cs typeface="+mn-cs"/>
                        </a:rPr>
                        <a:t>NaCl</a:t>
                      </a:r>
                      <a:endParaRPr lang="en-US" sz="1800" kern="1200" dirty="0">
                        <a:solidFill>
                          <a:schemeClr val="dk1"/>
                        </a:solidFill>
                        <a:effectLst/>
                        <a:latin typeface="+mn-lt"/>
                        <a:ea typeface="+mn-ea"/>
                        <a:cs typeface="+mn-cs"/>
                      </a:endParaRPr>
                    </a:p>
                    <a:p>
                      <a:r>
                        <a:rPr lang="fr-FR" sz="1800" kern="1200" dirty="0" err="1">
                          <a:solidFill>
                            <a:schemeClr val="dk1"/>
                          </a:solidFill>
                          <a:effectLst/>
                          <a:latin typeface="+mn-lt"/>
                          <a:ea typeface="+mn-ea"/>
                          <a:cs typeface="+mn-cs"/>
                        </a:rPr>
                        <a:t>SiO</a:t>
                      </a:r>
                      <a:r>
                        <a:rPr lang="fr-FR" sz="1800" kern="1200" dirty="0">
                          <a:solidFill>
                            <a:schemeClr val="dk1"/>
                          </a:solidFill>
                          <a:effectLst/>
                          <a:latin typeface="+mn-lt"/>
                          <a:ea typeface="+mn-ea"/>
                          <a:cs typeface="+mn-cs"/>
                        </a:rPr>
                        <a:t>₂ </a:t>
                      </a:r>
                      <a:r>
                        <a:rPr lang="en-US" sz="1800" kern="1200" dirty="0" err="1">
                          <a:solidFill>
                            <a:schemeClr val="dk1"/>
                          </a:solidFill>
                          <a:effectLst/>
                          <a:latin typeface="+mn-lt"/>
                          <a:ea typeface="+mn-ea"/>
                          <a:cs typeface="+mn-cs"/>
                        </a:rPr>
                        <a:t>FeCO</a:t>
                      </a:r>
                      <a:r>
                        <a:rPr lang="en-US" sz="1800" kern="1200" dirty="0">
                          <a:solidFill>
                            <a:schemeClr val="dk1"/>
                          </a:solidFill>
                          <a:effectLst/>
                          <a:latin typeface="+mn-lt"/>
                          <a:ea typeface="+mn-ea"/>
                          <a:cs typeface="+mn-cs"/>
                        </a:rPr>
                        <a:t>₃</a:t>
                      </a:r>
                      <a:endParaRPr lang="en-US" dirty="0"/>
                    </a:p>
                  </a:txBody>
                  <a:tcPr/>
                </a:tc>
                <a:tc>
                  <a:txBody>
                    <a:bodyPr/>
                    <a:lstStyle/>
                    <a:p>
                      <a:r>
                        <a:rPr lang="en-US" sz="1800" kern="1200" dirty="0">
                          <a:solidFill>
                            <a:schemeClr val="dk1"/>
                          </a:solidFill>
                          <a:effectLst/>
                          <a:latin typeface="+mn-lt"/>
                          <a:ea typeface="+mn-ea"/>
                          <a:cs typeface="+mn-cs"/>
                        </a:rPr>
                        <a:t>Multiple Linear Regression</a:t>
                      </a:r>
                    </a:p>
                    <a:p>
                      <a:r>
                        <a:rPr lang="en-US" sz="1800" kern="1200" dirty="0">
                          <a:solidFill>
                            <a:schemeClr val="dk1"/>
                          </a:solidFill>
                          <a:effectLst/>
                          <a:latin typeface="+mn-lt"/>
                          <a:ea typeface="+mn-ea"/>
                          <a:cs typeface="+mn-cs"/>
                        </a:rPr>
                        <a:t>Random Forest</a:t>
                      </a:r>
                    </a:p>
                    <a:p>
                      <a:r>
                        <a:rPr lang="en-US" sz="1800" kern="1200" dirty="0">
                          <a:solidFill>
                            <a:schemeClr val="dk1"/>
                          </a:solidFill>
                          <a:effectLst/>
                          <a:latin typeface="+mn-lt"/>
                          <a:ea typeface="+mn-ea"/>
                          <a:cs typeface="+mn-cs"/>
                        </a:rPr>
                        <a:t>Extreme Gradient Boosting </a:t>
                      </a:r>
                    </a:p>
                    <a:p>
                      <a:r>
                        <a:rPr lang="en-US" sz="1800" kern="1200" dirty="0">
                          <a:solidFill>
                            <a:schemeClr val="dk1"/>
                          </a:solidFill>
                          <a:effectLst/>
                          <a:latin typeface="+mn-lt"/>
                          <a:ea typeface="+mn-ea"/>
                          <a:cs typeface="+mn-cs"/>
                        </a:rPr>
                        <a:t>Decision Trees</a:t>
                      </a:r>
                    </a:p>
                  </a:txBody>
                  <a:tcPr/>
                </a:tc>
                <a:tc>
                  <a:txBody>
                    <a:bodyPr/>
                    <a:lstStyle/>
                    <a:p>
                      <a:r>
                        <a:rPr lang="en-US" sz="1800" kern="1200" dirty="0">
                          <a:solidFill>
                            <a:schemeClr val="dk1"/>
                          </a:solidFill>
                          <a:effectLst/>
                          <a:latin typeface="+mn-lt"/>
                          <a:ea typeface="+mn-ea"/>
                          <a:cs typeface="+mn-cs"/>
                        </a:rPr>
                        <a:t>Ba²⁺, Ca²⁺, Cl⁻, Cu²⁺, Fe²⁺ / Fe³⁺, K⁺, Mg²⁺, Na⁺ Pb²⁺, S, Si, Sr²⁺, Zn²⁺, HCO₃⁻, SO₄²⁻,</a:t>
                      </a:r>
                      <a:endParaRPr lang="en-US" dirty="0"/>
                    </a:p>
                  </a:txBody>
                  <a:tcPr/>
                </a:tc>
                <a:tc>
                  <a:txBody>
                    <a:bodyPr/>
                    <a:lstStyle/>
                    <a:p>
                      <a:r>
                        <a:rPr lang="en-US" sz="1800" kern="1200" dirty="0">
                          <a:solidFill>
                            <a:schemeClr val="dk1"/>
                          </a:solidFill>
                          <a:effectLst/>
                          <a:latin typeface="+mn-lt"/>
                          <a:ea typeface="+mn-ea"/>
                          <a:cs typeface="+mn-cs"/>
                        </a:rPr>
                        <a:t>Saturation Index</a:t>
                      </a:r>
                    </a:p>
                  </a:txBody>
                  <a:tcPr/>
                </a:tc>
                <a:tc>
                  <a:txBody>
                    <a:bodyPr/>
                    <a:lstStyle/>
                    <a:p>
                      <a:r>
                        <a:rPr lang="en-US" dirty="0"/>
                        <a:t>Well</a:t>
                      </a:r>
                    </a:p>
                  </a:txBody>
                  <a:tcPr/>
                </a:tc>
                <a:extLst>
                  <a:ext uri="{0D108BD9-81ED-4DB2-BD59-A6C34878D82A}">
                    <a16:rowId xmlns:a16="http://schemas.microsoft.com/office/drawing/2014/main" val="2529742787"/>
                  </a:ext>
                </a:extLst>
              </a:tr>
              <a:tr h="370840">
                <a:tc>
                  <a:txBody>
                    <a:bodyPr/>
                    <a:lstStyle/>
                    <a:p>
                      <a:r>
                        <a:rPr lang="en-US" dirty="0"/>
                        <a:t>4</a:t>
                      </a:r>
                    </a:p>
                  </a:txBody>
                  <a:tcPr/>
                </a:tc>
                <a:tc>
                  <a:txBody>
                    <a:bodyPr/>
                    <a:lstStyle/>
                    <a:p>
                      <a:pPr marL="0" marR="0" indent="0" algn="l">
                        <a:lnSpc>
                          <a:spcPct val="100000"/>
                        </a:lnSpc>
                        <a:spcAft>
                          <a:spcPts val="0"/>
                        </a:spcAft>
                        <a:buNone/>
                      </a:pPr>
                      <a:r>
                        <a:rPr lang="en-US" sz="1800" kern="100" dirty="0" err="1">
                          <a:effectLst/>
                          <a:latin typeface="Times New Roman" panose="02020603050405020304" pitchFamily="18" charset="0"/>
                          <a:ea typeface="Times New Roman" panose="02020603050405020304" pitchFamily="18" charset="0"/>
                        </a:rPr>
                        <a:t>BaSO</a:t>
                      </a:r>
                      <a:r>
                        <a:rPr lang="en-US" sz="1800" kern="100" dirty="0">
                          <a:effectLst/>
                          <a:latin typeface="Times New Roman" panose="02020603050405020304" pitchFamily="18" charset="0"/>
                          <a:ea typeface="Times New Roman" panose="02020603050405020304" pitchFamily="18" charset="0"/>
                        </a:rPr>
                        <a:t>₄, </a:t>
                      </a:r>
                      <a:r>
                        <a:rPr lang="en-US" sz="1800" kern="100" dirty="0" err="1">
                          <a:effectLst/>
                          <a:latin typeface="Times New Roman" panose="02020603050405020304" pitchFamily="18" charset="0"/>
                          <a:ea typeface="Times New Roman" panose="02020603050405020304" pitchFamily="18" charset="0"/>
                        </a:rPr>
                        <a:t>CaSO</a:t>
                      </a:r>
                      <a:r>
                        <a:rPr lang="en-US" sz="1800" kern="100" dirty="0">
                          <a:effectLst/>
                          <a:latin typeface="Times New Roman" panose="02020603050405020304" pitchFamily="18" charset="0"/>
                          <a:ea typeface="Times New Roman" panose="02020603050405020304" pitchFamily="18" charset="0"/>
                        </a:rPr>
                        <a:t>₄</a:t>
                      </a:r>
                    </a:p>
                  </a:txBody>
                  <a:tcPr marL="68580" marR="68580" marT="0" marB="0" anchor="ctr"/>
                </a:tc>
                <a:tc>
                  <a:txBody>
                    <a:bodyPr/>
                    <a:lstStyle/>
                    <a:p>
                      <a:pPr marL="0" marR="0" indent="0" algn="just">
                        <a:lnSpc>
                          <a:spcPct val="100000"/>
                        </a:lnSpc>
                        <a:spcAft>
                          <a:spcPts val="0"/>
                        </a:spcAft>
                        <a:buNone/>
                      </a:pPr>
                      <a:r>
                        <a:rPr lang="en-US" sz="1800" kern="100" dirty="0">
                          <a:effectLst/>
                          <a:latin typeface="Times New Roman" panose="02020603050405020304" pitchFamily="18" charset="0"/>
                          <a:ea typeface="Times New Roman" panose="02020603050405020304" pitchFamily="18" charset="0"/>
                        </a:rPr>
                        <a:t>Statistical Neural Network </a:t>
                      </a:r>
                    </a:p>
                    <a:p>
                      <a:pPr marL="0" marR="0" indent="0" algn="just">
                        <a:lnSpc>
                          <a:spcPct val="100000"/>
                        </a:lnSpc>
                        <a:spcAft>
                          <a:spcPts val="0"/>
                        </a:spcAft>
                        <a:buNone/>
                      </a:pPr>
                      <a:r>
                        <a:rPr lang="en-US" sz="1800" kern="100" dirty="0">
                          <a:effectLst/>
                          <a:latin typeface="Times New Roman" panose="02020603050405020304" pitchFamily="18" charset="0"/>
                          <a:ea typeface="Times New Roman" panose="02020603050405020304" pitchFamily="18" charset="0"/>
                        </a:rPr>
                        <a:t>Multilayer Perceptron (MLP)</a:t>
                      </a:r>
                    </a:p>
                  </a:txBody>
                  <a:tcPr marL="68580" marR="68580" marT="0" marB="0" anchor="ctr"/>
                </a:tc>
                <a:tc>
                  <a:txBody>
                    <a:bodyPr/>
                    <a:lstStyle/>
                    <a:p>
                      <a:pPr marL="0" marR="0" indent="0" algn="just">
                        <a:lnSpc>
                          <a:spcPct val="100000"/>
                        </a:lnSpc>
                        <a:spcAft>
                          <a:spcPts val="0"/>
                        </a:spcAft>
                        <a:buNone/>
                      </a:pPr>
                      <a:r>
                        <a:rPr lang="en-US" sz="1800" kern="100">
                          <a:effectLst/>
                          <a:latin typeface="Times New Roman" panose="02020603050405020304" pitchFamily="18" charset="0"/>
                          <a:ea typeface="Times New Roman" panose="02020603050405020304" pitchFamily="18" charset="0"/>
                        </a:rPr>
                        <a:t>Temperature, Pressure</a:t>
                      </a:r>
                    </a:p>
                  </a:txBody>
                  <a:tcPr marL="68580" marR="68580" marT="0" marB="0" anchor="ctr"/>
                </a:tc>
                <a:tc>
                  <a:txBody>
                    <a:bodyPr/>
                    <a:lstStyle/>
                    <a:p>
                      <a:pPr marL="0" marR="0" indent="0" algn="l">
                        <a:lnSpc>
                          <a:spcPct val="100000"/>
                        </a:lnSpc>
                        <a:spcAft>
                          <a:spcPts val="0"/>
                        </a:spcAft>
                        <a:buNone/>
                      </a:pPr>
                      <a:r>
                        <a:rPr lang="en-US" sz="1800" kern="100" dirty="0" err="1">
                          <a:effectLst/>
                          <a:latin typeface="Times New Roman" panose="02020603050405020304" pitchFamily="18" charset="0"/>
                          <a:ea typeface="Times New Roman" panose="02020603050405020304" pitchFamily="18" charset="0"/>
                        </a:rPr>
                        <a:t>BaSO</a:t>
                      </a:r>
                      <a:r>
                        <a:rPr lang="en-US" sz="1800" kern="100" dirty="0">
                          <a:effectLst/>
                          <a:latin typeface="Times New Roman" panose="02020603050405020304" pitchFamily="18" charset="0"/>
                          <a:ea typeface="Times New Roman" panose="02020603050405020304" pitchFamily="18" charset="0"/>
                        </a:rPr>
                        <a:t>₄, </a:t>
                      </a:r>
                      <a:r>
                        <a:rPr lang="en-US" sz="1800" kern="100" dirty="0" err="1">
                          <a:effectLst/>
                          <a:latin typeface="Times New Roman" panose="02020603050405020304" pitchFamily="18" charset="0"/>
                          <a:ea typeface="Times New Roman" panose="02020603050405020304" pitchFamily="18" charset="0"/>
                        </a:rPr>
                        <a:t>CaSO</a:t>
                      </a:r>
                      <a:r>
                        <a:rPr lang="en-US" sz="1800" kern="100" dirty="0">
                          <a:effectLst/>
                          <a:latin typeface="Times New Roman" panose="02020603050405020304" pitchFamily="18" charset="0"/>
                          <a:ea typeface="Times New Roman" panose="02020603050405020304" pitchFamily="18" charset="0"/>
                        </a:rPr>
                        <a:t>₄</a:t>
                      </a:r>
                    </a:p>
                  </a:txBody>
                  <a:tcPr marL="68580" marR="68580" marT="0" marB="0" anchor="ctr"/>
                </a:tc>
                <a:tc>
                  <a:txBody>
                    <a:bodyPr/>
                    <a:lstStyle/>
                    <a:p>
                      <a:r>
                        <a:rPr lang="en-US" dirty="0"/>
                        <a:t>Well</a:t>
                      </a:r>
                    </a:p>
                  </a:txBody>
                  <a:tcPr/>
                </a:tc>
                <a:extLst>
                  <a:ext uri="{0D108BD9-81ED-4DB2-BD59-A6C34878D82A}">
                    <a16:rowId xmlns:a16="http://schemas.microsoft.com/office/drawing/2014/main" val="3681937866"/>
                  </a:ext>
                </a:extLst>
              </a:tr>
              <a:tr h="370840">
                <a:tc>
                  <a:txBody>
                    <a:bodyPr/>
                    <a:lstStyle/>
                    <a:p>
                      <a:r>
                        <a:rPr lang="en-US" dirty="0"/>
                        <a:t>5</a:t>
                      </a:r>
                    </a:p>
                  </a:txBody>
                  <a:tcPr/>
                </a:tc>
                <a:tc>
                  <a:txBody>
                    <a:bodyPr/>
                    <a:lstStyle/>
                    <a:p>
                      <a:pPr marL="0" marR="0" indent="0" algn="l">
                        <a:lnSpc>
                          <a:spcPct val="100000"/>
                        </a:lnSpc>
                        <a:spcAft>
                          <a:spcPts val="0"/>
                        </a:spcAft>
                        <a:buNone/>
                      </a:pPr>
                      <a:r>
                        <a:rPr lang="en-US" sz="1800" kern="100" dirty="0" err="1">
                          <a:effectLst/>
                          <a:latin typeface="Times New Roman" panose="02020603050405020304" pitchFamily="18" charset="0"/>
                          <a:ea typeface="Times New Roman" panose="02020603050405020304" pitchFamily="18" charset="0"/>
                        </a:rPr>
                        <a:t>BaSO</a:t>
                      </a:r>
                      <a:r>
                        <a:rPr lang="en-US" sz="1800" kern="100" dirty="0">
                          <a:effectLst/>
                          <a:latin typeface="Times New Roman" panose="02020603050405020304" pitchFamily="18" charset="0"/>
                          <a:ea typeface="Times New Roman" panose="02020603050405020304" pitchFamily="18" charset="0"/>
                        </a:rPr>
                        <a:t>₄, </a:t>
                      </a:r>
                      <a:r>
                        <a:rPr lang="en-US" sz="1800" kern="100" dirty="0" err="1">
                          <a:effectLst/>
                          <a:latin typeface="Times New Roman" panose="02020603050405020304" pitchFamily="18" charset="0"/>
                          <a:ea typeface="Times New Roman" panose="02020603050405020304" pitchFamily="18" charset="0"/>
                        </a:rPr>
                        <a:t>SrSO</a:t>
                      </a:r>
                      <a:r>
                        <a:rPr lang="en-US" sz="1800" kern="100" dirty="0">
                          <a:effectLst/>
                          <a:latin typeface="Times New Roman" panose="02020603050405020304" pitchFamily="18" charset="0"/>
                          <a:ea typeface="Times New Roman" panose="02020603050405020304" pitchFamily="18" charset="0"/>
                        </a:rPr>
                        <a:t>₄</a:t>
                      </a:r>
                    </a:p>
                  </a:txBody>
                  <a:tcPr marL="68580" marR="68580" marT="0" marB="0" anchor="ctr"/>
                </a:tc>
                <a:tc>
                  <a:txBody>
                    <a:bodyPr/>
                    <a:lstStyle/>
                    <a:p>
                      <a:pPr marL="0" marR="0" indent="0" algn="just">
                        <a:lnSpc>
                          <a:spcPct val="100000"/>
                        </a:lnSpc>
                        <a:spcAft>
                          <a:spcPts val="0"/>
                        </a:spcAft>
                        <a:buNone/>
                      </a:pPr>
                      <a:r>
                        <a:rPr lang="en-US" sz="1800" kern="100" dirty="0">
                          <a:effectLst/>
                          <a:latin typeface="Times New Roman" panose="02020603050405020304" pitchFamily="18" charset="0"/>
                          <a:ea typeface="Times New Roman" panose="02020603050405020304" pitchFamily="18" charset="0"/>
                        </a:rPr>
                        <a:t>DNN</a:t>
                      </a:r>
                    </a:p>
                  </a:txBody>
                  <a:tcPr marL="68580" marR="68580" marT="0" marB="0" anchor="ctr"/>
                </a:tc>
                <a:tc>
                  <a:txBody>
                    <a:bodyPr/>
                    <a:lstStyle/>
                    <a:p>
                      <a:pPr marL="0" marR="0" indent="0" algn="just">
                        <a:lnSpc>
                          <a:spcPct val="100000"/>
                        </a:lnSpc>
                        <a:spcAft>
                          <a:spcPts val="0"/>
                        </a:spcAft>
                        <a:buNone/>
                      </a:pPr>
                      <a:r>
                        <a:rPr lang="en-US" sz="1800" kern="100" dirty="0">
                          <a:effectLst/>
                          <a:latin typeface="Times New Roman" panose="02020603050405020304" pitchFamily="18" charset="0"/>
                          <a:ea typeface="Times New Roman" panose="02020603050405020304" pitchFamily="18" charset="0"/>
                        </a:rPr>
                        <a:t>Temperature, Pressure, Oil rate, Water Rate, Injection Gas, Gross Gas, Ca, Mg, Ba, St, Su, TDS</a:t>
                      </a:r>
                    </a:p>
                  </a:txBody>
                  <a:tcPr marL="68580" marR="68580" marT="0" marB="0" anchor="ctr"/>
                </a:tc>
                <a:tc>
                  <a:txBody>
                    <a:bodyPr/>
                    <a:lstStyle/>
                    <a:p>
                      <a:pPr marL="0" marR="0" indent="0" algn="l">
                        <a:lnSpc>
                          <a:spcPct val="100000"/>
                        </a:lnSpc>
                        <a:spcAft>
                          <a:spcPts val="0"/>
                        </a:spcAft>
                        <a:buNone/>
                      </a:pPr>
                      <a:r>
                        <a:rPr lang="en-US" sz="1800" kern="100" dirty="0">
                          <a:effectLst/>
                          <a:latin typeface="Times New Roman" panose="02020603050405020304" pitchFamily="18" charset="0"/>
                          <a:ea typeface="Times New Roman" panose="02020603050405020304" pitchFamily="18" charset="0"/>
                        </a:rPr>
                        <a:t>Weight percentage (%) of </a:t>
                      </a:r>
                      <a:r>
                        <a:rPr lang="en-US" sz="1800" kern="100" dirty="0" err="1">
                          <a:effectLst/>
                          <a:latin typeface="Times New Roman" panose="02020603050405020304" pitchFamily="18" charset="0"/>
                          <a:ea typeface="Times New Roman" panose="02020603050405020304" pitchFamily="18" charset="0"/>
                        </a:rPr>
                        <a:t>BaSO</a:t>
                      </a:r>
                      <a:r>
                        <a:rPr lang="en-US" sz="1800" kern="100" dirty="0">
                          <a:effectLst/>
                          <a:latin typeface="Times New Roman" panose="02020603050405020304" pitchFamily="18" charset="0"/>
                          <a:ea typeface="Times New Roman" panose="02020603050405020304" pitchFamily="18" charset="0"/>
                        </a:rPr>
                        <a:t>₄ or </a:t>
                      </a:r>
                      <a:r>
                        <a:rPr lang="en-US" sz="1800" kern="100" dirty="0" err="1">
                          <a:effectLst/>
                          <a:latin typeface="Times New Roman" panose="02020603050405020304" pitchFamily="18" charset="0"/>
                          <a:ea typeface="Times New Roman" panose="02020603050405020304" pitchFamily="18" charset="0"/>
                        </a:rPr>
                        <a:t>SrSO</a:t>
                      </a:r>
                      <a:r>
                        <a:rPr lang="en-US" sz="1800" kern="100" dirty="0">
                          <a:effectLst/>
                          <a:latin typeface="Times New Roman" panose="02020603050405020304" pitchFamily="18" charset="0"/>
                          <a:ea typeface="Times New Roman" panose="02020603050405020304" pitchFamily="18" charset="0"/>
                        </a:rPr>
                        <a:t>₄ in deposited scale sample</a:t>
                      </a:r>
                    </a:p>
                    <a:p>
                      <a:pPr marL="0" marR="0" indent="0" algn="l">
                        <a:lnSpc>
                          <a:spcPct val="100000"/>
                        </a:lnSpc>
                        <a:spcAft>
                          <a:spcPts val="0"/>
                        </a:spcAft>
                        <a:buNone/>
                      </a:pPr>
                      <a:r>
                        <a:rPr lang="en-US" sz="1800" kern="100" dirty="0">
                          <a:effectLst/>
                          <a:latin typeface="Times New Roman" panose="02020603050405020304" pitchFamily="18" charset="0"/>
                          <a:ea typeface="Times New Roman" panose="02020603050405020304" pitchFamily="18" charset="0"/>
                        </a:rPr>
                        <a:t>Binary </a:t>
                      </a:r>
                      <a:r>
                        <a:rPr lang="en-US" sz="1800" kern="100" dirty="0" err="1">
                          <a:effectLst/>
                          <a:latin typeface="Times New Roman" panose="02020603050405020304" pitchFamily="18" charset="0"/>
                          <a:ea typeface="Times New Roman" panose="02020603050405020304" pitchFamily="18" charset="0"/>
                        </a:rPr>
                        <a:t>classificatuion</a:t>
                      </a:r>
                      <a:endParaRPr lang="en-US" sz="1800" kern="100" dirty="0">
                        <a:effectLst/>
                        <a:latin typeface="Times New Roman" panose="02020603050405020304" pitchFamily="18" charset="0"/>
                        <a:ea typeface="Times New Roman" panose="02020603050405020304" pitchFamily="18" charset="0"/>
                      </a:endParaRPr>
                    </a:p>
                  </a:txBody>
                  <a:tcPr marL="68580" marR="68580" marT="0" marB="0" anchor="ctr"/>
                </a:tc>
                <a:tc>
                  <a:txBody>
                    <a:bodyPr/>
                    <a:lstStyle/>
                    <a:p>
                      <a:r>
                        <a:rPr lang="en-US" dirty="0"/>
                        <a:t>reservoirs</a:t>
                      </a:r>
                    </a:p>
                  </a:txBody>
                  <a:tcPr/>
                </a:tc>
                <a:extLst>
                  <a:ext uri="{0D108BD9-81ED-4DB2-BD59-A6C34878D82A}">
                    <a16:rowId xmlns:a16="http://schemas.microsoft.com/office/drawing/2014/main" val="2715682450"/>
                  </a:ext>
                </a:extLst>
              </a:tr>
            </a:tbl>
          </a:graphicData>
        </a:graphic>
      </p:graphicFrame>
    </p:spTree>
    <p:extLst>
      <p:ext uri="{BB962C8B-B14F-4D97-AF65-F5344CB8AC3E}">
        <p14:creationId xmlns:p14="http://schemas.microsoft.com/office/powerpoint/2010/main" val="2947765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3A11D-2673-BF7B-6E40-35B650A5583E}"/>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421D5BF-E083-E176-9D87-02843901C258}"/>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dirty="0"/>
              <a:t>Ref</a:t>
            </a:r>
          </a:p>
          <a:p>
            <a:pPr marL="457200" indent="-457200">
              <a:buAutoNum type="arabicPeriod"/>
            </a:pPr>
            <a:r>
              <a:rPr lang="en-US" sz="1500" dirty="0"/>
              <a:t>Ahmadi, M. A., Bahadori, A., &amp; </a:t>
            </a:r>
            <a:r>
              <a:rPr lang="en-US" sz="1500" dirty="0" err="1"/>
              <a:t>Shadizadeh</a:t>
            </a:r>
            <a:r>
              <a:rPr lang="en-US" sz="1500" dirty="0"/>
              <a:t>, S. R. (2015). A rigorous model to predict the amount of dissolved calcium carbonate concentration throughout oil field brines: side effect of pressure and temperature. Fuel, 139, 154-159.</a:t>
            </a:r>
          </a:p>
          <a:p>
            <a:pPr marL="457200" indent="-457200">
              <a:buAutoNum type="arabicPeriod"/>
            </a:pPr>
            <a:r>
              <a:rPr lang="en-US" sz="1500" dirty="0"/>
              <a:t>Cao, Z., Hu, Y., &amp; Zhang, P. (2024). Predicting sulfate mineral scale solubility with machine learning. Journal of Cleaner Production, 461, 142655.</a:t>
            </a:r>
          </a:p>
          <a:p>
            <a:pPr marL="457200" indent="-457200">
              <a:buAutoNum type="arabicPeriod"/>
            </a:pPr>
            <a:r>
              <a:rPr lang="en-US" sz="1500" dirty="0"/>
              <a:t>Askar, M. M., Ela, M. A. E., El-</a:t>
            </a:r>
            <a:r>
              <a:rPr lang="en-US" sz="1500" dirty="0" err="1"/>
              <a:t>Banbi</a:t>
            </a:r>
            <a:r>
              <a:rPr lang="en-US" sz="1500" dirty="0"/>
              <a:t>, A. H., &amp; </a:t>
            </a:r>
            <a:r>
              <a:rPr lang="en-US" sz="1500" dirty="0" err="1"/>
              <a:t>Sayyouh</a:t>
            </a:r>
            <a:r>
              <a:rPr lang="en-US" sz="1500" dirty="0"/>
              <a:t>, M. H. (2025). Development of machine learning models for predicting the deposition of sulfide scales in oil production wells. Journal of King Saud University–Engineering Sciences, 37(7), 1-34.</a:t>
            </a:r>
          </a:p>
          <a:p>
            <a:pPr marL="457200" indent="-457200">
              <a:buAutoNum type="arabicPeriod"/>
            </a:pPr>
            <a:r>
              <a:rPr lang="en-US" sz="1500" dirty="0"/>
              <a:t>Askar, M. M., El Ela, M. A., El-</a:t>
            </a:r>
            <a:r>
              <a:rPr lang="en-US" sz="1500" dirty="0" err="1"/>
              <a:t>Banbi</a:t>
            </a:r>
            <a:r>
              <a:rPr lang="en-US" sz="1500" dirty="0"/>
              <a:t>, A. H., &amp; </a:t>
            </a:r>
            <a:r>
              <a:rPr lang="en-US" sz="1500" dirty="0" err="1"/>
              <a:t>Sayyouh</a:t>
            </a:r>
            <a:r>
              <a:rPr lang="en-US" sz="1500" dirty="0"/>
              <a:t>, M. H. (2024, November). Predicting scale depositions of barium and strontium sulfates using novel artificial neural network algorithms. In Abu Dhabi International Petroleum Exhibition and Conference (p. D021S045R006). SPE.</a:t>
            </a:r>
          </a:p>
          <a:p>
            <a:pPr marL="457200" indent="-457200">
              <a:buAutoNum type="arabicPeriod"/>
            </a:pPr>
            <a:r>
              <a:rPr lang="en-US" sz="1500" dirty="0"/>
              <a:t>Belkacem, O., </a:t>
            </a:r>
            <a:r>
              <a:rPr lang="en-US" sz="1500" dirty="0" err="1"/>
              <a:t>Rezrazi</a:t>
            </a:r>
            <a:r>
              <a:rPr lang="en-US" sz="1500" dirty="0"/>
              <a:t>, A., </a:t>
            </a:r>
            <a:r>
              <a:rPr lang="en-US" sz="1500" dirty="0" err="1"/>
              <a:t>Aizi</a:t>
            </a:r>
            <a:r>
              <a:rPr lang="en-US" sz="1500" dirty="0"/>
              <a:t>, K., Abdelouahed, L., Laidi, M., Touil, A., ... &amp; </a:t>
            </a:r>
            <a:r>
              <a:rPr lang="en-US" sz="1500" dirty="0" err="1"/>
              <a:t>Hanini</a:t>
            </a:r>
            <a:r>
              <a:rPr lang="en-US" sz="1500" dirty="0"/>
              <a:t>, S. (2025). Prediction of barite scale formation and inhibition in hydrocarbon reservoirs using AI modeling: Focus on different optimization algorithms. Results in engineering, 26, 105222.</a:t>
            </a:r>
          </a:p>
          <a:p>
            <a:pPr marL="457200" indent="-457200">
              <a:buAutoNum type="arabicPeriod"/>
            </a:pPr>
            <a:endParaRPr lang="en-US" sz="1500" dirty="0"/>
          </a:p>
        </p:txBody>
      </p:sp>
    </p:spTree>
    <p:extLst>
      <p:ext uri="{BB962C8B-B14F-4D97-AF65-F5344CB8AC3E}">
        <p14:creationId xmlns:p14="http://schemas.microsoft.com/office/powerpoint/2010/main" val="2425218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39263-7839-13B8-DF2F-61EA469858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AFD1B-3FD4-88EF-0DC0-E6EAB4F73415}"/>
              </a:ext>
            </a:extLst>
          </p:cNvPr>
          <p:cNvSpPr>
            <a:spLocks noGrp="1"/>
          </p:cNvSpPr>
          <p:nvPr>
            <p:ph type="title"/>
          </p:nvPr>
        </p:nvSpPr>
        <p:spPr/>
        <p:txBody>
          <a:bodyPr/>
          <a:lstStyle/>
          <a:p>
            <a:r>
              <a:rPr lang="en-US" dirty="0"/>
              <a:t>ML </a:t>
            </a:r>
            <a:r>
              <a:rPr lang="en-US"/>
              <a:t>/ Scale thicknes</a:t>
            </a:r>
            <a:endParaRPr lang="en-US" dirty="0"/>
          </a:p>
        </p:txBody>
      </p:sp>
    </p:spTree>
    <p:extLst>
      <p:ext uri="{BB962C8B-B14F-4D97-AF65-F5344CB8AC3E}">
        <p14:creationId xmlns:p14="http://schemas.microsoft.com/office/powerpoint/2010/main" val="20743025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BBC8B-A0F9-76D3-AB1F-6936A7033C17}"/>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D098D56A-D2B0-5F62-D240-076FD6026097}"/>
              </a:ext>
            </a:extLst>
          </p:cNvPr>
          <p:cNvGraphicFramePr>
            <a:graphicFrameLocks noGrp="1"/>
          </p:cNvGraphicFramePr>
          <p:nvPr>
            <p:ph idx="4294967295"/>
            <p:extLst>
              <p:ext uri="{D42A27DB-BD31-4B8C-83A1-F6EECF244321}">
                <p14:modId xmlns:p14="http://schemas.microsoft.com/office/powerpoint/2010/main" val="2641486085"/>
              </p:ext>
            </p:extLst>
          </p:nvPr>
        </p:nvGraphicFramePr>
        <p:xfrm>
          <a:off x="300039" y="188624"/>
          <a:ext cx="11591922" cy="183388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2509736">
                  <a:extLst>
                    <a:ext uri="{9D8B030D-6E8A-4147-A177-3AD203B41FA5}">
                      <a16:colId xmlns:a16="http://schemas.microsoft.com/office/drawing/2014/main" val="1274649808"/>
                    </a:ext>
                  </a:extLst>
                </a:gridCol>
                <a:gridCol w="2334639">
                  <a:extLst>
                    <a:ext uri="{9D8B030D-6E8A-4147-A177-3AD203B41FA5}">
                      <a16:colId xmlns:a16="http://schemas.microsoft.com/office/drawing/2014/main" val="2114671980"/>
                    </a:ext>
                  </a:extLst>
                </a:gridCol>
                <a:gridCol w="1361872">
                  <a:extLst>
                    <a:ext uri="{9D8B030D-6E8A-4147-A177-3AD203B41FA5}">
                      <a16:colId xmlns:a16="http://schemas.microsoft.com/office/drawing/2014/main" val="125575515"/>
                    </a:ext>
                  </a:extLst>
                </a:gridCol>
                <a:gridCol w="3000136">
                  <a:extLst>
                    <a:ext uri="{9D8B030D-6E8A-4147-A177-3AD203B41FA5}">
                      <a16:colId xmlns:a16="http://schemas.microsoft.com/office/drawing/2014/main" val="3464939645"/>
                    </a:ext>
                  </a:extLst>
                </a:gridCol>
                <a:gridCol w="1931987">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System / Domain</a:t>
                      </a:r>
                    </a:p>
                  </a:txBody>
                  <a:tcPr/>
                </a:tc>
                <a:tc>
                  <a:txBody>
                    <a:bodyPr/>
                    <a:lstStyle/>
                    <a:p>
                      <a:r>
                        <a:rPr lang="en-US" dirty="0"/>
                        <a:t>Scale Type</a:t>
                      </a:r>
                    </a:p>
                  </a:txBody>
                  <a:tcPr/>
                </a:tc>
                <a:tc>
                  <a:txBody>
                    <a:bodyPr/>
                    <a:lstStyle/>
                    <a:p>
                      <a:pPr>
                        <a:buNone/>
                      </a:pPr>
                      <a:r>
                        <a:rPr lang="en-US" dirty="0"/>
                        <a:t>Methodology</a:t>
                      </a:r>
                    </a:p>
                  </a:txBody>
                  <a:tcPr anchor="ctr"/>
                </a:tc>
                <a:tc>
                  <a:txBody>
                    <a:bodyPr/>
                    <a:lstStyle/>
                    <a:p>
                      <a:r>
                        <a:rPr lang="en-US" dirty="0"/>
                        <a:t>Outputs</a:t>
                      </a:r>
                    </a:p>
                  </a:txBody>
                  <a:tcPr/>
                </a:tc>
                <a:extLst>
                  <a:ext uri="{0D108BD9-81ED-4DB2-BD59-A6C34878D82A}">
                    <a16:rowId xmlns:a16="http://schemas.microsoft.com/office/drawing/2014/main" val="229248636"/>
                  </a:ext>
                </a:extLst>
              </a:tr>
              <a:tr h="370840">
                <a:tc>
                  <a:txBody>
                    <a:bodyPr/>
                    <a:lstStyle/>
                    <a:p>
                      <a:r>
                        <a:rPr lang="en-US" dirty="0"/>
                        <a:t>1-9</a:t>
                      </a:r>
                    </a:p>
                  </a:txBody>
                  <a:tcPr/>
                </a:tc>
                <a:tc>
                  <a:txBody>
                    <a:bodyPr/>
                    <a:lstStyle/>
                    <a:p>
                      <a:r>
                        <a:rPr lang="en-US" b="0" dirty="0"/>
                        <a:t>Scale thickness prediction and detection </a:t>
                      </a:r>
                      <a:r>
                        <a:rPr lang="en-US" dirty="0"/>
                        <a:t>under varying flow conditions</a:t>
                      </a:r>
                    </a:p>
                  </a:txBody>
                  <a:tcPr/>
                </a:tc>
                <a:tc>
                  <a:txBody>
                    <a:bodyPr/>
                    <a:lstStyle/>
                    <a:p>
                      <a:r>
                        <a:rPr lang="en-US" b="0" dirty="0"/>
                        <a:t>pipelines / flowlines (multiphase flow systems) with some simplified regimes</a:t>
                      </a:r>
                    </a:p>
                  </a:txBody>
                  <a:tcPr/>
                </a:tc>
                <a:tc>
                  <a:txBody>
                    <a:bodyPr/>
                    <a:lstStyle/>
                    <a:p>
                      <a:r>
                        <a:rPr lang="en-US" dirty="0" err="1"/>
                        <a:t>CaCO</a:t>
                      </a:r>
                      <a:r>
                        <a:rPr lang="en-US" dirty="0"/>
                        <a:t>₃, </a:t>
                      </a:r>
                      <a:r>
                        <a:rPr lang="en-US" dirty="0" err="1"/>
                        <a:t>CaSO</a:t>
                      </a:r>
                      <a:r>
                        <a:rPr lang="en-US" dirty="0"/>
                        <a:t>₄</a:t>
                      </a:r>
                    </a:p>
                  </a:txBody>
                  <a:tcPr/>
                </a:tc>
                <a:tc>
                  <a:txBody>
                    <a:bodyPr/>
                    <a:lstStyle/>
                    <a:p>
                      <a:r>
                        <a:rPr lang="en-US" b="0" dirty="0"/>
                        <a:t>AI/ML (ANN, DNN, GMDH, MLP) combined with gamma/neutron radiation-based sensing and MCNP simulations</a:t>
                      </a:r>
                    </a:p>
                  </a:txBody>
                  <a:tcPr/>
                </a:tc>
                <a:tc>
                  <a:txBody>
                    <a:bodyPr/>
                    <a:lstStyle/>
                    <a:p>
                      <a:r>
                        <a:rPr lang="en-US" dirty="0"/>
                        <a:t>Scale thickness (concentric/eccentric), sometimes fluid volume fractions</a:t>
                      </a:r>
                    </a:p>
                  </a:txBody>
                  <a:tcPr/>
                </a:tc>
                <a:extLst>
                  <a:ext uri="{0D108BD9-81ED-4DB2-BD59-A6C34878D82A}">
                    <a16:rowId xmlns:a16="http://schemas.microsoft.com/office/drawing/2014/main" val="1386937106"/>
                  </a:ext>
                </a:extLst>
              </a:tr>
            </a:tbl>
          </a:graphicData>
        </a:graphic>
      </p:graphicFrame>
      <p:sp>
        <p:nvSpPr>
          <p:cNvPr id="2" name="Content Placeholder 2">
            <a:extLst>
              <a:ext uri="{FF2B5EF4-FFF2-40B4-BE49-F238E27FC236}">
                <a16:creationId xmlns:a16="http://schemas.microsoft.com/office/drawing/2014/main" id="{3D933367-605D-4948-6A3E-D4A10900B596}"/>
              </a:ext>
            </a:extLst>
          </p:cNvPr>
          <p:cNvSpPr txBox="1">
            <a:spLocks/>
          </p:cNvSpPr>
          <p:nvPr/>
        </p:nvSpPr>
        <p:spPr>
          <a:xfrm>
            <a:off x="424977" y="2324280"/>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AutoNum type="arabicPeriod"/>
            </a:pPr>
            <a:r>
              <a:rPr lang="en-US" dirty="0"/>
              <a:t>Invers model from flow, temperature to scale thickness</a:t>
            </a:r>
          </a:p>
          <a:p>
            <a:pPr marL="457200" indent="-457200">
              <a:buFont typeface="Arial" panose="020B0604020202020204" pitchFamily="34" charset="0"/>
              <a:buAutoNum type="arabicPeriod"/>
            </a:pPr>
            <a:r>
              <a:rPr lang="en-US" dirty="0"/>
              <a:t>No inhibitor modeling or dosage optimization</a:t>
            </a:r>
          </a:p>
          <a:p>
            <a:pPr marL="457200" indent="-457200">
              <a:buFont typeface="Arial" panose="020B0604020202020204" pitchFamily="34" charset="0"/>
              <a:buAutoNum type="arabicPeriod"/>
            </a:pPr>
            <a:endParaRPr lang="en-US" dirty="0"/>
          </a:p>
        </p:txBody>
      </p:sp>
    </p:spTree>
    <p:extLst>
      <p:ext uri="{BB962C8B-B14F-4D97-AF65-F5344CB8AC3E}">
        <p14:creationId xmlns:p14="http://schemas.microsoft.com/office/powerpoint/2010/main" val="22301148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9DF11-A4B4-35C1-7B7C-FA8910039B4F}"/>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8BBC4C51-7C55-76F3-5C8E-31423CBF5B76}"/>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dirty="0"/>
              <a:t>Ref</a:t>
            </a:r>
          </a:p>
          <a:p>
            <a:pPr marL="457200" indent="-457200">
              <a:buAutoNum type="arabicPeriod"/>
            </a:pPr>
            <a:r>
              <a:rPr lang="en-US" sz="1500" dirty="0"/>
              <a:t>Carvalho, A. C. L., Salgado, W. L., Dam, R. D. F., Conti, C. C., &amp; Salgado, C. M. (2024). Calcium carbonate scale thickness prediction in annular three-phase flow using gamma-ray densitometry and artificial neural networks. Radiation Physics and Chemistry, 223, 112018.</a:t>
            </a:r>
          </a:p>
          <a:p>
            <a:pPr marL="457200" indent="-457200">
              <a:buAutoNum type="arabicPeriod"/>
            </a:pPr>
            <a:r>
              <a:rPr lang="en-US" sz="1500" dirty="0"/>
              <a:t>Salgado, C. M., Salgado, W. L., de Freitas Dam, R. S., &amp; Conti, C. C. (2021). Calculation of scales in oil pipeline using gamma-ray scattering and artificial intelligence. Measurement, 179, 109455.</a:t>
            </a:r>
          </a:p>
          <a:p>
            <a:pPr marL="457200" indent="-457200">
              <a:buAutoNum type="arabicPeriod"/>
            </a:pPr>
            <a:r>
              <a:rPr lang="en-US" sz="1500" dirty="0"/>
              <a:t>Salgado, W. L., de Freitas Dam, R. S., Puertas, E. J. A., &amp; Salgado, C. M. (2025). Predicting scale thickness in three-phase flow using neutron activation analysis and deep learning. Measurement, 242, 115880.</a:t>
            </a:r>
          </a:p>
          <a:p>
            <a:pPr marL="457200" indent="-457200">
              <a:buAutoNum type="arabicPeriod"/>
            </a:pPr>
            <a:r>
              <a:rPr lang="en-US" sz="1500" dirty="0"/>
              <a:t>de Freitas Dam, R. S., Salgado, W. L., Schirru, R., &amp; Salgado, C. M. (2022). Application of deep neural network and gamma-ray scattering in eccentric scale calculation regardless of the fluids volume fraction inside a pipeline. Applied Radiation and Isotopes, 188, 110353.</a:t>
            </a:r>
          </a:p>
          <a:p>
            <a:pPr marL="457200" indent="-457200">
              <a:buAutoNum type="arabicPeriod"/>
            </a:pPr>
            <a:r>
              <a:rPr lang="en-US" sz="1500" dirty="0"/>
              <a:t>de Freitas Dam, R. S., Dos Santos, M. C., Salgado, W. L., da Cruz, B. L., Schirru, R., &amp; Salgado, C. M. (2023). Prediction of fluids volume fraction and barium sulfate scale in a multiphase system using gamma radiation and deep neural network. Applied Radiation and Isotopes, 201, 111021.</a:t>
            </a:r>
          </a:p>
          <a:p>
            <a:pPr marL="457200" indent="-457200">
              <a:buAutoNum type="arabicPeriod"/>
            </a:pPr>
            <a:r>
              <a:rPr lang="en-US" sz="1500" dirty="0"/>
              <a:t>Iliyasu, A. M., Mayet, A. M., Hanus, R., El-Latif, A. A. A., &amp; Salama, A. S. (2022). Employing GMDH-type neural network and signal frequency feature extraction approaches for detection of scale thickness inside oil pipelines. Energies, 15(12), 4500.</a:t>
            </a:r>
          </a:p>
          <a:p>
            <a:pPr marL="457200" indent="-457200">
              <a:buAutoNum type="arabicPeriod"/>
            </a:pPr>
            <a:r>
              <a:rPr lang="en-US" sz="1500" dirty="0"/>
              <a:t>Chen, T. C., Iliyasu, A. M., Hanus, R., Salama, A. S., &amp; Hirota, K. (2022). Predicting scale thickness in oil pipelines using frequency characteristics and an artificial neural network in a stratified flow regime. Energies, 15(20), 7564.</a:t>
            </a:r>
          </a:p>
          <a:p>
            <a:pPr marL="457200" indent="-457200">
              <a:buAutoNum type="arabicPeriod"/>
            </a:pPr>
            <a:r>
              <a:rPr lang="en-US" sz="1500" dirty="0"/>
              <a:t>Alamoudi, M., Sattari, M. A., </a:t>
            </a:r>
            <a:r>
              <a:rPr lang="en-US" sz="1500" dirty="0" err="1"/>
              <a:t>Balubaid</a:t>
            </a:r>
            <a:r>
              <a:rPr lang="en-US" sz="1500" dirty="0"/>
              <a:t>, M., Eftekhari-Zadeh, E., Nazemi, E., Taylan, O., &amp; </a:t>
            </a:r>
            <a:r>
              <a:rPr lang="en-US" sz="1500" dirty="0" err="1"/>
              <a:t>Kalmoun</a:t>
            </a:r>
            <a:r>
              <a:rPr lang="en-US" sz="1500" dirty="0"/>
              <a:t>, E. M. (2021). Application of gamma attenuation technique and artificial intelligence to detect scale thickness in pipelines in which two-phase flows with different flow regimes and void fractions exist. Symmetry, 13(7), 1198.</a:t>
            </a:r>
          </a:p>
          <a:p>
            <a:pPr marL="457200" indent="-457200">
              <a:buAutoNum type="arabicPeriod"/>
            </a:pPr>
            <a:r>
              <a:rPr lang="en-US" sz="1500" dirty="0"/>
              <a:t>Chen, T. C., Iliyasu, A. M., Alizadeh, S. M., Salama, A. S., Eftekhari-Zadeh, E., &amp; Hirota, K. (2023). The use of artificial intelligence and time characteristics in the optimization of the structure of the volumetric percentage detection system independent of the scale value inside the pipe. Applied Artificial Intelligence, 37(1), 2166225.</a:t>
            </a:r>
          </a:p>
          <a:p>
            <a:pPr marL="457200" indent="-457200">
              <a:buAutoNum type="arabicPeriod"/>
            </a:pPr>
            <a:endParaRPr lang="en-US" sz="1500" dirty="0"/>
          </a:p>
        </p:txBody>
      </p:sp>
    </p:spTree>
    <p:extLst>
      <p:ext uri="{BB962C8B-B14F-4D97-AF65-F5344CB8AC3E}">
        <p14:creationId xmlns:p14="http://schemas.microsoft.com/office/powerpoint/2010/main" val="5913807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B78FE-0A1A-EE2D-67D9-4FCDA1FED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208D7-45A0-E063-49A2-F1AF47D966F9}"/>
              </a:ext>
            </a:extLst>
          </p:cNvPr>
          <p:cNvSpPr>
            <a:spLocks noGrp="1"/>
          </p:cNvSpPr>
          <p:nvPr>
            <p:ph type="title"/>
          </p:nvPr>
        </p:nvSpPr>
        <p:spPr/>
        <p:txBody>
          <a:bodyPr/>
          <a:lstStyle/>
          <a:p>
            <a:r>
              <a:rPr lang="en-US" dirty="0"/>
              <a:t>Similar applications</a:t>
            </a:r>
          </a:p>
        </p:txBody>
      </p:sp>
    </p:spTree>
    <p:extLst>
      <p:ext uri="{BB962C8B-B14F-4D97-AF65-F5344CB8AC3E}">
        <p14:creationId xmlns:p14="http://schemas.microsoft.com/office/powerpoint/2010/main" val="11401412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94565-FB1E-64BB-5350-AAFF4294DC6F}"/>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C521E61B-64D5-E586-04F8-977BDE210B1E}"/>
              </a:ext>
            </a:extLst>
          </p:cNvPr>
          <p:cNvGraphicFramePr>
            <a:graphicFrameLocks noGrp="1"/>
          </p:cNvGraphicFramePr>
          <p:nvPr>
            <p:ph idx="4294967295"/>
            <p:extLst>
              <p:ext uri="{D42A27DB-BD31-4B8C-83A1-F6EECF244321}">
                <p14:modId xmlns:p14="http://schemas.microsoft.com/office/powerpoint/2010/main" val="3692209252"/>
              </p:ext>
            </p:extLst>
          </p:nvPr>
        </p:nvGraphicFramePr>
        <p:xfrm>
          <a:off x="300039" y="188624"/>
          <a:ext cx="11591922" cy="594868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2509736">
                  <a:extLst>
                    <a:ext uri="{9D8B030D-6E8A-4147-A177-3AD203B41FA5}">
                      <a16:colId xmlns:a16="http://schemas.microsoft.com/office/drawing/2014/main" val="1274649808"/>
                    </a:ext>
                  </a:extLst>
                </a:gridCol>
                <a:gridCol w="2334639">
                  <a:extLst>
                    <a:ext uri="{9D8B030D-6E8A-4147-A177-3AD203B41FA5}">
                      <a16:colId xmlns:a16="http://schemas.microsoft.com/office/drawing/2014/main" val="2114671980"/>
                    </a:ext>
                  </a:extLst>
                </a:gridCol>
                <a:gridCol w="1361872">
                  <a:extLst>
                    <a:ext uri="{9D8B030D-6E8A-4147-A177-3AD203B41FA5}">
                      <a16:colId xmlns:a16="http://schemas.microsoft.com/office/drawing/2014/main" val="125575515"/>
                    </a:ext>
                  </a:extLst>
                </a:gridCol>
                <a:gridCol w="3000136">
                  <a:extLst>
                    <a:ext uri="{9D8B030D-6E8A-4147-A177-3AD203B41FA5}">
                      <a16:colId xmlns:a16="http://schemas.microsoft.com/office/drawing/2014/main" val="3464939645"/>
                    </a:ext>
                  </a:extLst>
                </a:gridCol>
                <a:gridCol w="1931987">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System / Domain</a:t>
                      </a:r>
                    </a:p>
                  </a:txBody>
                  <a:tcPr/>
                </a:tc>
                <a:tc>
                  <a:txBody>
                    <a:bodyPr/>
                    <a:lstStyle/>
                    <a:p>
                      <a:r>
                        <a:rPr lang="en-US" dirty="0"/>
                        <a:t>Scale Type</a:t>
                      </a:r>
                    </a:p>
                  </a:txBody>
                  <a:tcPr/>
                </a:tc>
                <a:tc>
                  <a:txBody>
                    <a:bodyPr/>
                    <a:lstStyle/>
                    <a:p>
                      <a:pPr>
                        <a:buNone/>
                      </a:pPr>
                      <a:r>
                        <a:rPr lang="en-US" dirty="0"/>
                        <a:t>Methodology</a:t>
                      </a:r>
                    </a:p>
                  </a:txBody>
                  <a:tcPr anchor="ctr"/>
                </a:tc>
                <a:tc>
                  <a:txBody>
                    <a:bodyPr/>
                    <a:lstStyle/>
                    <a:p>
                      <a:r>
                        <a:rPr lang="en-US" dirty="0"/>
                        <a:t>Notes</a:t>
                      </a:r>
                    </a:p>
                  </a:txBody>
                  <a:tcPr/>
                </a:tc>
                <a:extLst>
                  <a:ext uri="{0D108BD9-81ED-4DB2-BD59-A6C34878D82A}">
                    <a16:rowId xmlns:a16="http://schemas.microsoft.com/office/drawing/2014/main" val="229248636"/>
                  </a:ext>
                </a:extLst>
              </a:tr>
              <a:tr h="370840">
                <a:tc>
                  <a:txBody>
                    <a:bodyPr/>
                    <a:lstStyle/>
                    <a:p>
                      <a:r>
                        <a:rPr lang="en-US" dirty="0"/>
                        <a:t>1</a:t>
                      </a:r>
                    </a:p>
                  </a:txBody>
                  <a:tcPr/>
                </a:tc>
                <a:tc>
                  <a:txBody>
                    <a:bodyPr/>
                    <a:lstStyle/>
                    <a:p>
                      <a:r>
                        <a:rPr lang="en-US" dirty="0"/>
                        <a:t>ML framework for scale prediction and prevention</a:t>
                      </a:r>
                    </a:p>
                  </a:txBody>
                  <a:tcPr/>
                </a:tc>
                <a:tc>
                  <a:txBody>
                    <a:bodyPr/>
                    <a:lstStyle/>
                    <a:p>
                      <a:r>
                        <a:rPr lang="en-US" dirty="0"/>
                        <a:t>Offshore production / well operations</a:t>
                      </a:r>
                      <a:endParaRPr lang="en-US" b="0" dirty="0"/>
                    </a:p>
                  </a:txBody>
                  <a:tcPr/>
                </a:tc>
                <a:tc>
                  <a:txBody>
                    <a:bodyPr/>
                    <a:lstStyle/>
                    <a:p>
                      <a:r>
                        <a:rPr lang="en-US" dirty="0" err="1"/>
                        <a:t>CaCO</a:t>
                      </a:r>
                      <a:r>
                        <a:rPr lang="en-US" dirty="0"/>
                        <a:t>₃, </a:t>
                      </a:r>
                      <a:r>
                        <a:rPr lang="en-US" dirty="0" err="1"/>
                        <a:t>MgSO</a:t>
                      </a:r>
                      <a:r>
                        <a:rPr lang="en-US" dirty="0"/>
                        <a:t>₄</a:t>
                      </a:r>
                    </a:p>
                  </a:txBody>
                  <a:tcPr/>
                </a:tc>
                <a:tc>
                  <a:txBody>
                    <a:bodyPr/>
                    <a:lstStyle/>
                    <a:p>
                      <a:r>
                        <a:rPr lang="en-US" dirty="0"/>
                        <a:t>GAN-based machine learning + SCADA + sensors</a:t>
                      </a:r>
                      <a:endParaRPr lang="en-US" b="0" dirty="0"/>
                    </a:p>
                  </a:txBody>
                  <a:tcPr/>
                </a:tc>
                <a:tc>
                  <a:txBody>
                    <a:bodyPr/>
                    <a:lstStyle/>
                    <a:p>
                      <a:endParaRPr lang="en-US" dirty="0"/>
                    </a:p>
                  </a:txBody>
                  <a:tcPr/>
                </a:tc>
                <a:extLst>
                  <a:ext uri="{0D108BD9-81ED-4DB2-BD59-A6C34878D82A}">
                    <a16:rowId xmlns:a16="http://schemas.microsoft.com/office/drawing/2014/main" val="1386937106"/>
                  </a:ext>
                </a:extLst>
              </a:tr>
              <a:tr h="370840">
                <a:tc>
                  <a:txBody>
                    <a:bodyPr/>
                    <a:lstStyle/>
                    <a:p>
                      <a:r>
                        <a:rPr lang="en-US" dirty="0"/>
                        <a:t>2</a:t>
                      </a:r>
                    </a:p>
                  </a:txBody>
                  <a:tcPr/>
                </a:tc>
                <a:tc>
                  <a:txBody>
                    <a:bodyPr/>
                    <a:lstStyle/>
                    <a:p>
                      <a:r>
                        <a:rPr lang="en-US" dirty="0"/>
                        <a:t>Near real-time scale monitoring</a:t>
                      </a:r>
                    </a:p>
                  </a:txBody>
                  <a:tcPr/>
                </a:tc>
                <a:tc>
                  <a:txBody>
                    <a:bodyPr/>
                    <a:lstStyle/>
                    <a:p>
                      <a:r>
                        <a:rPr lang="en-US" dirty="0"/>
                        <a:t>Wells and production facilities</a:t>
                      </a:r>
                      <a:endParaRPr lang="en-US" b="0" dirty="0"/>
                    </a:p>
                  </a:txBody>
                  <a:tcPr/>
                </a:tc>
                <a:tc>
                  <a:txBody>
                    <a:bodyPr/>
                    <a:lstStyle/>
                    <a:p>
                      <a:r>
                        <a:rPr lang="en-US" dirty="0" err="1"/>
                        <a:t>BaSO</a:t>
                      </a:r>
                      <a:r>
                        <a:rPr lang="en-US" dirty="0"/>
                        <a:t>₄</a:t>
                      </a:r>
                    </a:p>
                  </a:txBody>
                  <a:tcPr/>
                </a:tc>
                <a:tc>
                  <a:txBody>
                    <a:bodyPr/>
                    <a:lstStyle/>
                    <a:p>
                      <a:r>
                        <a:rPr lang="en-US" dirty="0"/>
                        <a:t>Thickness Shear Mode Resonator (TSMR) sensor</a:t>
                      </a:r>
                      <a:endParaRPr lang="en-US" b="0" dirty="0"/>
                    </a:p>
                  </a:txBody>
                  <a:tcPr/>
                </a:tc>
                <a:tc>
                  <a:txBody>
                    <a:bodyPr/>
                    <a:lstStyle/>
                    <a:p>
                      <a:endParaRPr lang="en-US" dirty="0"/>
                    </a:p>
                  </a:txBody>
                  <a:tcPr/>
                </a:tc>
                <a:extLst>
                  <a:ext uri="{0D108BD9-81ED-4DB2-BD59-A6C34878D82A}">
                    <a16:rowId xmlns:a16="http://schemas.microsoft.com/office/drawing/2014/main" val="1522205272"/>
                  </a:ext>
                </a:extLst>
              </a:tr>
              <a:tr h="370840">
                <a:tc>
                  <a:txBody>
                    <a:bodyPr/>
                    <a:lstStyle/>
                    <a:p>
                      <a:r>
                        <a:rPr lang="en-US" dirty="0"/>
                        <a:t>3</a:t>
                      </a:r>
                    </a:p>
                  </a:txBody>
                  <a:tcPr/>
                </a:tc>
                <a:tc>
                  <a:txBody>
                    <a:bodyPr/>
                    <a:lstStyle/>
                    <a:p>
                      <a:r>
                        <a:rPr lang="en-US" dirty="0"/>
                        <a:t>Combined scale/corrosion inhibitor optimization</a:t>
                      </a:r>
                    </a:p>
                  </a:txBody>
                  <a:tcPr/>
                </a:tc>
                <a:tc>
                  <a:txBody>
                    <a:bodyPr/>
                    <a:lstStyle/>
                    <a:p>
                      <a:r>
                        <a:rPr lang="en-US" dirty="0"/>
                        <a:t>Subsea flowlines &amp; topside facilities</a:t>
                      </a:r>
                      <a:endParaRPr lang="en-US" b="0" dirty="0"/>
                    </a:p>
                  </a:txBody>
                  <a:tcPr/>
                </a:tc>
                <a:tc>
                  <a:txBody>
                    <a:bodyPr/>
                    <a:lstStyle/>
                    <a:p>
                      <a:r>
                        <a:rPr lang="en-US" dirty="0" err="1"/>
                        <a:t>BaSO</a:t>
                      </a:r>
                      <a:r>
                        <a:rPr lang="en-US" dirty="0"/>
                        <a:t>₄, </a:t>
                      </a:r>
                      <a:r>
                        <a:rPr lang="en-US" dirty="0" err="1"/>
                        <a:t>CaCO</a:t>
                      </a:r>
                      <a:r>
                        <a:rPr lang="en-US" dirty="0"/>
                        <a:t>₃</a:t>
                      </a:r>
                    </a:p>
                  </a:txBody>
                  <a:tcPr/>
                </a:tc>
                <a:tc>
                  <a:txBody>
                    <a:bodyPr/>
                    <a:lstStyle/>
                    <a:p>
                      <a:r>
                        <a:rPr lang="en-US" dirty="0"/>
                        <a:t>Field monitoring + laboratory testing + TSMR</a:t>
                      </a:r>
                      <a:endParaRPr lang="en-US" b="0" dirty="0"/>
                    </a:p>
                  </a:txBody>
                  <a:tcPr/>
                </a:tc>
                <a:tc>
                  <a:txBody>
                    <a:bodyPr/>
                    <a:lstStyle/>
                    <a:p>
                      <a:endParaRPr lang="en-US" dirty="0"/>
                    </a:p>
                  </a:txBody>
                  <a:tcPr/>
                </a:tc>
                <a:extLst>
                  <a:ext uri="{0D108BD9-81ED-4DB2-BD59-A6C34878D82A}">
                    <a16:rowId xmlns:a16="http://schemas.microsoft.com/office/drawing/2014/main" val="1981753190"/>
                  </a:ext>
                </a:extLst>
              </a:tr>
              <a:tr h="370840">
                <a:tc>
                  <a:txBody>
                    <a:bodyPr/>
                    <a:lstStyle/>
                    <a:p>
                      <a:r>
                        <a:rPr lang="en-US" dirty="0"/>
                        <a:t>4</a:t>
                      </a:r>
                    </a:p>
                  </a:txBody>
                  <a:tcPr/>
                </a:tc>
                <a:tc>
                  <a:txBody>
                    <a:bodyPr/>
                    <a:lstStyle/>
                    <a:p>
                      <a:r>
                        <a:rPr lang="en-US" dirty="0"/>
                        <a:t>In-situ real-time scale detection</a:t>
                      </a:r>
                    </a:p>
                  </a:txBody>
                  <a:tcPr/>
                </a:tc>
                <a:tc>
                  <a:txBody>
                    <a:bodyPr/>
                    <a:lstStyle/>
                    <a:p>
                      <a:r>
                        <a:rPr lang="en-US" dirty="0"/>
                        <a:t>Flowlines &amp; production systems</a:t>
                      </a:r>
                      <a:endParaRPr lang="en-US" b="0" dirty="0"/>
                    </a:p>
                  </a:txBody>
                  <a:tcPr/>
                </a:tc>
                <a:tc>
                  <a:txBody>
                    <a:bodyPr/>
                    <a:lstStyle/>
                    <a:p>
                      <a:r>
                        <a:rPr lang="en-US" dirty="0" err="1"/>
                        <a:t>CaCO</a:t>
                      </a:r>
                      <a:r>
                        <a:rPr lang="en-US" dirty="0"/>
                        <a:t>₃</a:t>
                      </a:r>
                    </a:p>
                  </a:txBody>
                  <a:tcPr/>
                </a:tc>
                <a:tc>
                  <a:txBody>
                    <a:bodyPr/>
                    <a:lstStyle/>
                    <a:p>
                      <a:r>
                        <a:rPr lang="en-US" dirty="0"/>
                        <a:t>ATR spectroscopy sensor</a:t>
                      </a:r>
                      <a:endParaRPr lang="en-US" b="0" dirty="0"/>
                    </a:p>
                  </a:txBody>
                  <a:tcPr/>
                </a:tc>
                <a:tc>
                  <a:txBody>
                    <a:bodyPr/>
                    <a:lstStyle/>
                    <a:p>
                      <a:endParaRPr lang="en-US" dirty="0"/>
                    </a:p>
                  </a:txBody>
                  <a:tcPr/>
                </a:tc>
                <a:extLst>
                  <a:ext uri="{0D108BD9-81ED-4DB2-BD59-A6C34878D82A}">
                    <a16:rowId xmlns:a16="http://schemas.microsoft.com/office/drawing/2014/main" val="3644106550"/>
                  </a:ext>
                </a:extLst>
              </a:tr>
              <a:tr h="522041">
                <a:tc>
                  <a:txBody>
                    <a:bodyPr/>
                    <a:lstStyle/>
                    <a:p>
                      <a:r>
                        <a:rPr lang="en-US" dirty="0"/>
                        <a:t>5</a:t>
                      </a:r>
                    </a:p>
                  </a:txBody>
                  <a:tcPr/>
                </a:tc>
                <a:tc>
                  <a:txBody>
                    <a:bodyPr/>
                    <a:lstStyle/>
                    <a:p>
                      <a:r>
                        <a:rPr lang="en-US" dirty="0"/>
                        <a:t>Smart flow assurance management system</a:t>
                      </a:r>
                    </a:p>
                  </a:txBody>
                  <a:tcPr/>
                </a:tc>
                <a:tc>
                  <a:txBody>
                    <a:bodyPr/>
                    <a:lstStyle/>
                    <a:p>
                      <a:r>
                        <a:rPr lang="en-US" dirty="0"/>
                        <a:t>Field-wide (700+ wells)</a:t>
                      </a:r>
                      <a:endParaRPr lang="en-US" b="0" dirty="0"/>
                    </a:p>
                  </a:txBody>
                  <a:tcPr/>
                </a:tc>
                <a:tc>
                  <a:txBody>
                    <a:bodyPr/>
                    <a:lstStyle/>
                    <a:p>
                      <a:r>
                        <a:rPr lang="en-US" dirty="0"/>
                        <a:t>Multiple scales</a:t>
                      </a:r>
                    </a:p>
                  </a:txBody>
                  <a:tcPr/>
                </a:tc>
                <a:tc>
                  <a:txBody>
                    <a:bodyPr/>
                    <a:lstStyle/>
                    <a:p>
                      <a:r>
                        <a:rPr lang="en-US" dirty="0"/>
                        <a:t>Integrated software platform + dashboards</a:t>
                      </a:r>
                      <a:endParaRPr lang="en-US" b="0" dirty="0"/>
                    </a:p>
                  </a:txBody>
                  <a:tcPr/>
                </a:tc>
                <a:tc>
                  <a:txBody>
                    <a:bodyPr/>
                    <a:lstStyle/>
                    <a:p>
                      <a:endParaRPr lang="en-US" dirty="0"/>
                    </a:p>
                  </a:txBody>
                  <a:tcPr/>
                </a:tc>
                <a:extLst>
                  <a:ext uri="{0D108BD9-81ED-4DB2-BD59-A6C34878D82A}">
                    <a16:rowId xmlns:a16="http://schemas.microsoft.com/office/drawing/2014/main" val="1193139400"/>
                  </a:ext>
                </a:extLst>
              </a:tr>
              <a:tr h="370840">
                <a:tc>
                  <a:txBody>
                    <a:bodyPr/>
                    <a:lstStyle/>
                    <a:p>
                      <a:r>
                        <a:rPr lang="en-US" dirty="0"/>
                        <a:t>6</a:t>
                      </a:r>
                    </a:p>
                  </a:txBody>
                  <a:tcPr/>
                </a:tc>
                <a:tc>
                  <a:txBody>
                    <a:bodyPr/>
                    <a:lstStyle/>
                    <a:p>
                      <a:r>
                        <a:rPr lang="en-US" dirty="0"/>
                        <a:t>ML thermodynamic water-property prediction</a:t>
                      </a:r>
                    </a:p>
                  </a:txBody>
                  <a:tcPr/>
                </a:tc>
                <a:tc>
                  <a:txBody>
                    <a:bodyPr/>
                    <a:lstStyle/>
                    <a:p>
                      <a:r>
                        <a:rPr lang="en-US" dirty="0"/>
                        <a:t>General oilfield applications</a:t>
                      </a:r>
                      <a:endParaRPr lang="en-US"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11 scale minerals</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txBody>
                  <a:tcPr/>
                </a:tc>
                <a:tc>
                  <a:txBody>
                    <a:bodyPr/>
                    <a:lstStyle/>
                    <a:p>
                      <a:r>
                        <a:rPr lang="en-US" dirty="0" err="1"/>
                        <a:t>CatBoost</a:t>
                      </a:r>
                      <a:r>
                        <a:rPr lang="en-US" dirty="0"/>
                        <a:t> reduced-order ML models trained on thermodynamic simulations</a:t>
                      </a:r>
                      <a:endParaRPr lang="en-US" b="0" dirty="0"/>
                    </a:p>
                  </a:txBody>
                  <a:tcPr/>
                </a:tc>
                <a:tc>
                  <a:txBody>
                    <a:bodyPr/>
                    <a:lstStyle/>
                    <a:p>
                      <a:endParaRPr lang="en-US" dirty="0"/>
                    </a:p>
                  </a:txBody>
                  <a:tcPr/>
                </a:tc>
                <a:extLst>
                  <a:ext uri="{0D108BD9-81ED-4DB2-BD59-A6C34878D82A}">
                    <a16:rowId xmlns:a16="http://schemas.microsoft.com/office/drawing/2014/main" val="2541180746"/>
                  </a:ext>
                </a:extLst>
              </a:tr>
              <a:tr h="370840">
                <a:tc>
                  <a:txBody>
                    <a:bodyPr/>
                    <a:lstStyle/>
                    <a:p>
                      <a:r>
                        <a:rPr lang="en-US" dirty="0"/>
                        <a:t>7</a:t>
                      </a:r>
                    </a:p>
                  </a:txBody>
                  <a:tcPr/>
                </a:tc>
                <a:tc>
                  <a:txBody>
                    <a:bodyPr/>
                    <a:lstStyle/>
                    <a:p>
                      <a:r>
                        <a:rPr lang="en-US" dirty="0"/>
                        <a:t>Comprehensive scale management strategy</a:t>
                      </a:r>
                    </a:p>
                  </a:txBody>
                  <a:tcPr/>
                </a:tc>
                <a:tc>
                  <a:txBody>
                    <a:bodyPr/>
                    <a:lstStyle/>
                    <a:p>
                      <a:r>
                        <a:rPr lang="en-US" dirty="0"/>
                        <a:t>Surface facilities &amp; flowlines</a:t>
                      </a:r>
                      <a:endParaRPr lang="en-US"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BaSO</a:t>
                      </a:r>
                      <a:r>
                        <a:rPr lang="en-US" dirty="0"/>
                        <a:t>₄ (primary), </a:t>
                      </a:r>
                      <a:r>
                        <a:rPr lang="en-US" dirty="0" err="1"/>
                        <a:t>CaCO</a:t>
                      </a:r>
                      <a:r>
                        <a:rPr lang="en-US" dirty="0"/>
                        <a:t>₃</a:t>
                      </a:r>
                    </a:p>
                  </a:txBody>
                  <a:tcPr/>
                </a:tc>
                <a:tc>
                  <a:txBody>
                    <a:bodyPr/>
                    <a:lstStyle/>
                    <a:p>
                      <a:r>
                        <a:rPr lang="en-US" dirty="0"/>
                        <a:t>Scale prediction + Power BI + Scale Risk Factor (SRF)</a:t>
                      </a:r>
                      <a:endParaRPr lang="en-US" b="0" dirty="0"/>
                    </a:p>
                  </a:txBody>
                  <a:tcPr/>
                </a:tc>
                <a:tc>
                  <a:txBody>
                    <a:bodyPr/>
                    <a:lstStyle/>
                    <a:p>
                      <a:endParaRPr lang="en-US" dirty="0"/>
                    </a:p>
                  </a:txBody>
                  <a:tcPr/>
                </a:tc>
                <a:extLst>
                  <a:ext uri="{0D108BD9-81ED-4DB2-BD59-A6C34878D82A}">
                    <a16:rowId xmlns:a16="http://schemas.microsoft.com/office/drawing/2014/main" val="4230795815"/>
                  </a:ext>
                </a:extLst>
              </a:tr>
            </a:tbl>
          </a:graphicData>
        </a:graphic>
      </p:graphicFrame>
    </p:spTree>
    <p:extLst>
      <p:ext uri="{BB962C8B-B14F-4D97-AF65-F5344CB8AC3E}">
        <p14:creationId xmlns:p14="http://schemas.microsoft.com/office/powerpoint/2010/main" val="20499880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FDB81-BEE9-5B1A-AE73-8FD1D73B8C2E}"/>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0EE8A632-2246-AA74-E95E-D47818519073}"/>
              </a:ext>
            </a:extLst>
          </p:cNvPr>
          <p:cNvGraphicFramePr>
            <a:graphicFrameLocks noGrp="1"/>
          </p:cNvGraphicFramePr>
          <p:nvPr>
            <p:ph idx="4294967295"/>
            <p:extLst>
              <p:ext uri="{D42A27DB-BD31-4B8C-83A1-F6EECF244321}">
                <p14:modId xmlns:p14="http://schemas.microsoft.com/office/powerpoint/2010/main" val="1538756299"/>
              </p:ext>
            </p:extLst>
          </p:nvPr>
        </p:nvGraphicFramePr>
        <p:xfrm>
          <a:off x="300039" y="188624"/>
          <a:ext cx="11591922" cy="4851400"/>
        </p:xfrm>
        <a:graphic>
          <a:graphicData uri="http://schemas.openxmlformats.org/drawingml/2006/table">
            <a:tbl>
              <a:tblPr firstRow="1" bandRow="1">
                <a:tableStyleId>{5C22544A-7EE6-4342-B048-85BDC9FD1C3A}</a:tableStyleId>
              </a:tblPr>
              <a:tblGrid>
                <a:gridCol w="453552">
                  <a:extLst>
                    <a:ext uri="{9D8B030D-6E8A-4147-A177-3AD203B41FA5}">
                      <a16:colId xmlns:a16="http://schemas.microsoft.com/office/drawing/2014/main" val="3025585402"/>
                    </a:ext>
                  </a:extLst>
                </a:gridCol>
                <a:gridCol w="2509736">
                  <a:extLst>
                    <a:ext uri="{9D8B030D-6E8A-4147-A177-3AD203B41FA5}">
                      <a16:colId xmlns:a16="http://schemas.microsoft.com/office/drawing/2014/main" val="1274649808"/>
                    </a:ext>
                  </a:extLst>
                </a:gridCol>
                <a:gridCol w="2334639">
                  <a:extLst>
                    <a:ext uri="{9D8B030D-6E8A-4147-A177-3AD203B41FA5}">
                      <a16:colId xmlns:a16="http://schemas.microsoft.com/office/drawing/2014/main" val="2114671980"/>
                    </a:ext>
                  </a:extLst>
                </a:gridCol>
                <a:gridCol w="1361872">
                  <a:extLst>
                    <a:ext uri="{9D8B030D-6E8A-4147-A177-3AD203B41FA5}">
                      <a16:colId xmlns:a16="http://schemas.microsoft.com/office/drawing/2014/main" val="125575515"/>
                    </a:ext>
                  </a:extLst>
                </a:gridCol>
                <a:gridCol w="3000136">
                  <a:extLst>
                    <a:ext uri="{9D8B030D-6E8A-4147-A177-3AD203B41FA5}">
                      <a16:colId xmlns:a16="http://schemas.microsoft.com/office/drawing/2014/main" val="3464939645"/>
                    </a:ext>
                  </a:extLst>
                </a:gridCol>
                <a:gridCol w="1931987">
                  <a:extLst>
                    <a:ext uri="{9D8B030D-6E8A-4147-A177-3AD203B41FA5}">
                      <a16:colId xmlns:a16="http://schemas.microsoft.com/office/drawing/2014/main" val="911007856"/>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System / Domain</a:t>
                      </a:r>
                    </a:p>
                  </a:txBody>
                  <a:tcPr/>
                </a:tc>
                <a:tc>
                  <a:txBody>
                    <a:bodyPr/>
                    <a:lstStyle/>
                    <a:p>
                      <a:r>
                        <a:rPr lang="en-US" dirty="0"/>
                        <a:t>Scale Type</a:t>
                      </a:r>
                    </a:p>
                  </a:txBody>
                  <a:tcPr/>
                </a:tc>
                <a:tc>
                  <a:txBody>
                    <a:bodyPr/>
                    <a:lstStyle/>
                    <a:p>
                      <a:pPr>
                        <a:buNone/>
                      </a:pPr>
                      <a:r>
                        <a:rPr lang="en-US" dirty="0"/>
                        <a:t>Methodology</a:t>
                      </a:r>
                    </a:p>
                  </a:txBody>
                  <a:tcPr anchor="ctr"/>
                </a:tc>
                <a:tc>
                  <a:txBody>
                    <a:bodyPr/>
                    <a:lstStyle/>
                    <a:p>
                      <a:r>
                        <a:rPr lang="en-US" dirty="0"/>
                        <a:t>Notes</a:t>
                      </a:r>
                    </a:p>
                  </a:txBody>
                  <a:tcPr/>
                </a:tc>
                <a:extLst>
                  <a:ext uri="{0D108BD9-81ED-4DB2-BD59-A6C34878D82A}">
                    <a16:rowId xmlns:a16="http://schemas.microsoft.com/office/drawing/2014/main" val="229248636"/>
                  </a:ext>
                </a:extLst>
              </a:tr>
              <a:tr h="370840">
                <a:tc>
                  <a:txBody>
                    <a:bodyPr/>
                    <a:lstStyle/>
                    <a:p>
                      <a:r>
                        <a:rPr lang="en-US" dirty="0"/>
                        <a:t>8</a:t>
                      </a:r>
                    </a:p>
                  </a:txBody>
                  <a:tcPr/>
                </a:tc>
                <a:tc>
                  <a:txBody>
                    <a:bodyPr/>
                    <a:lstStyle/>
                    <a:p>
                      <a:r>
                        <a:rPr lang="en-US" dirty="0"/>
                        <a:t>Field evaluation of </a:t>
                      </a:r>
                      <a:r>
                        <a:rPr lang="en-US" dirty="0" err="1"/>
                        <a:t>antiscalants</a:t>
                      </a:r>
                      <a:endParaRPr lang="en-US" dirty="0"/>
                    </a:p>
                  </a:txBody>
                  <a:tcPr/>
                </a:tc>
                <a:tc>
                  <a:txBody>
                    <a:bodyPr/>
                    <a:lstStyle/>
                    <a:p>
                      <a:r>
                        <a:rPr lang="en-US" dirty="0"/>
                        <a:t>Seawater RO plant</a:t>
                      </a:r>
                      <a:endParaRPr lang="en-US" b="0" dirty="0"/>
                    </a:p>
                  </a:txBody>
                  <a:tcPr/>
                </a:tc>
                <a:tc>
                  <a:txBody>
                    <a:bodyPr/>
                    <a:lstStyle/>
                    <a:p>
                      <a:r>
                        <a:rPr lang="en-US" dirty="0" err="1"/>
                        <a:t>CaCO</a:t>
                      </a:r>
                      <a:r>
                        <a:rPr lang="en-US" dirty="0"/>
                        <a:t>₃, </a:t>
                      </a:r>
                      <a:r>
                        <a:rPr lang="en-US" dirty="0" err="1"/>
                        <a:t>CaSO</a:t>
                      </a:r>
                      <a:r>
                        <a:rPr lang="en-US" dirty="0"/>
                        <a:t>₄, </a:t>
                      </a:r>
                      <a:r>
                        <a:rPr lang="en-US" dirty="0" err="1"/>
                        <a:t>BaSO</a:t>
                      </a:r>
                      <a:r>
                        <a:rPr lang="en-US" dirty="0"/>
                        <a:t>₄, </a:t>
                      </a:r>
                      <a:r>
                        <a:rPr lang="en-US" dirty="0" err="1"/>
                        <a:t>SrSO</a:t>
                      </a:r>
                      <a:r>
                        <a:rPr lang="en-US" dirty="0"/>
                        <a:t>₄</a:t>
                      </a:r>
                    </a:p>
                  </a:txBody>
                  <a:tcPr/>
                </a:tc>
                <a:tc>
                  <a:txBody>
                    <a:bodyPr/>
                    <a:lstStyle/>
                    <a:p>
                      <a:r>
                        <a:rPr lang="en-US" dirty="0"/>
                        <a:t>Bench-scale testing + full-scale plant performance monitoring</a:t>
                      </a:r>
                      <a:endParaRPr lang="en-US" b="0" dirty="0"/>
                    </a:p>
                  </a:txBody>
                  <a:tcPr/>
                </a:tc>
                <a:tc>
                  <a:txBody>
                    <a:bodyPr/>
                    <a:lstStyle/>
                    <a:p>
                      <a:endParaRPr lang="en-US" dirty="0"/>
                    </a:p>
                  </a:txBody>
                  <a:tcPr/>
                </a:tc>
                <a:extLst>
                  <a:ext uri="{0D108BD9-81ED-4DB2-BD59-A6C34878D82A}">
                    <a16:rowId xmlns:a16="http://schemas.microsoft.com/office/drawing/2014/main" val="1386937106"/>
                  </a:ext>
                </a:extLst>
              </a:tr>
              <a:tr h="370840">
                <a:tc>
                  <a:txBody>
                    <a:bodyPr/>
                    <a:lstStyle/>
                    <a:p>
                      <a:r>
                        <a:rPr lang="en-US" dirty="0"/>
                        <a:t>9</a:t>
                      </a:r>
                    </a:p>
                  </a:txBody>
                  <a:tcPr/>
                </a:tc>
                <a:tc>
                  <a:txBody>
                    <a:bodyPr/>
                    <a:lstStyle/>
                    <a:p>
                      <a:r>
                        <a:rPr lang="en-US" dirty="0"/>
                        <a:t>Real-time optimization</a:t>
                      </a:r>
                    </a:p>
                  </a:txBody>
                  <a:tcPr/>
                </a:tc>
                <a:tc>
                  <a:txBody>
                    <a:bodyPr/>
                    <a:lstStyle/>
                    <a:p>
                      <a:r>
                        <a:rPr lang="en-US" dirty="0"/>
                        <a:t>Brackish water RO</a:t>
                      </a:r>
                      <a:endParaRPr lang="en-US" b="0" dirty="0"/>
                    </a:p>
                  </a:txBody>
                  <a:tcPr/>
                </a:tc>
                <a:tc>
                  <a:txBody>
                    <a:bodyPr/>
                    <a:lstStyle/>
                    <a:p>
                      <a:r>
                        <a:rPr lang="en-US" dirty="0" err="1"/>
                        <a:t>CaCO</a:t>
                      </a:r>
                      <a:r>
                        <a:rPr lang="en-US" dirty="0"/>
                        <a:t>₃</a:t>
                      </a:r>
                    </a:p>
                  </a:txBody>
                  <a:tcPr/>
                </a:tc>
                <a:tc>
                  <a:txBody>
                    <a:bodyPr/>
                    <a:lstStyle/>
                    <a:p>
                      <a:r>
                        <a:rPr lang="en-US" dirty="0"/>
                        <a:t>Dynamic control algorithm + pilot RO validation</a:t>
                      </a:r>
                      <a:endParaRPr lang="en-US" b="0" dirty="0"/>
                    </a:p>
                  </a:txBody>
                  <a:tcPr/>
                </a:tc>
                <a:tc>
                  <a:txBody>
                    <a:bodyPr/>
                    <a:lstStyle/>
                    <a:p>
                      <a:endParaRPr lang="en-US" dirty="0"/>
                    </a:p>
                  </a:txBody>
                  <a:tcPr/>
                </a:tc>
                <a:extLst>
                  <a:ext uri="{0D108BD9-81ED-4DB2-BD59-A6C34878D82A}">
                    <a16:rowId xmlns:a16="http://schemas.microsoft.com/office/drawing/2014/main" val="1522205272"/>
                  </a:ext>
                </a:extLst>
              </a:tr>
              <a:tr h="370840">
                <a:tc>
                  <a:txBody>
                    <a:bodyPr/>
                    <a:lstStyle/>
                    <a:p>
                      <a:r>
                        <a:rPr lang="en-US" dirty="0"/>
                        <a:t>10</a:t>
                      </a:r>
                    </a:p>
                  </a:txBody>
                  <a:tcPr/>
                </a:tc>
                <a:tc>
                  <a:txBody>
                    <a:bodyPr/>
                    <a:lstStyle/>
                    <a:p>
                      <a:r>
                        <a:rPr lang="en-US" dirty="0"/>
                        <a:t>Physics-based prediction &amp; dosage modeling</a:t>
                      </a:r>
                    </a:p>
                  </a:txBody>
                  <a:tcPr/>
                </a:tc>
                <a:tc>
                  <a:txBody>
                    <a:bodyPr/>
                    <a:lstStyle/>
                    <a:p>
                      <a:r>
                        <a:rPr lang="en-US" dirty="0"/>
                        <a:t>Membrane systems</a:t>
                      </a:r>
                      <a:endParaRPr lang="en-US" b="0" dirty="0"/>
                    </a:p>
                  </a:txBody>
                  <a:tcPr/>
                </a:tc>
                <a:tc>
                  <a:txBody>
                    <a:bodyPr/>
                    <a:lstStyle/>
                    <a:p>
                      <a:r>
                        <a:rPr lang="en-US" dirty="0" err="1"/>
                        <a:t>CaCO</a:t>
                      </a:r>
                      <a:r>
                        <a:rPr lang="en-US" dirty="0"/>
                        <a:t>₃, </a:t>
                      </a:r>
                      <a:r>
                        <a:rPr lang="en-US" dirty="0" err="1"/>
                        <a:t>CaSO</a:t>
                      </a:r>
                      <a:r>
                        <a:rPr lang="en-US" dirty="0"/>
                        <a:t>₄, </a:t>
                      </a:r>
                      <a:r>
                        <a:rPr lang="en-US" dirty="0" err="1"/>
                        <a:t>BaSO</a:t>
                      </a:r>
                      <a:r>
                        <a:rPr lang="en-US" dirty="0"/>
                        <a:t>₄, </a:t>
                      </a:r>
                      <a:r>
                        <a:rPr lang="en-US" dirty="0" err="1"/>
                        <a:t>SrSO</a:t>
                      </a:r>
                      <a:r>
                        <a:rPr lang="en-US" dirty="0"/>
                        <a:t>₄, silica, Ca phosphate</a:t>
                      </a:r>
                    </a:p>
                  </a:txBody>
                  <a:tcPr/>
                </a:tc>
                <a:tc>
                  <a:txBody>
                    <a:bodyPr/>
                    <a:lstStyle/>
                    <a:p>
                      <a:r>
                        <a:rPr lang="en-US" dirty="0"/>
                        <a:t>Ion-association thermodynamic model + induction-time model</a:t>
                      </a:r>
                      <a:endParaRPr lang="en-US" b="0" dirty="0"/>
                    </a:p>
                  </a:txBody>
                  <a:tcPr/>
                </a:tc>
                <a:tc>
                  <a:txBody>
                    <a:bodyPr/>
                    <a:lstStyle/>
                    <a:p>
                      <a:endParaRPr lang="en-US" dirty="0"/>
                    </a:p>
                  </a:txBody>
                  <a:tcPr/>
                </a:tc>
                <a:extLst>
                  <a:ext uri="{0D108BD9-81ED-4DB2-BD59-A6C34878D82A}">
                    <a16:rowId xmlns:a16="http://schemas.microsoft.com/office/drawing/2014/main" val="3291808220"/>
                  </a:ext>
                </a:extLst>
              </a:tr>
              <a:tr h="370840">
                <a:tc>
                  <a:txBody>
                    <a:bodyPr/>
                    <a:lstStyle/>
                    <a:p>
                      <a:r>
                        <a:rPr lang="en-US" dirty="0"/>
                        <a:t>11</a:t>
                      </a:r>
                    </a:p>
                  </a:txBody>
                  <a:tcPr/>
                </a:tc>
                <a:tc>
                  <a:txBody>
                    <a:bodyPr/>
                    <a:lstStyle/>
                    <a:p>
                      <a:r>
                        <a:rPr lang="en-US" dirty="0"/>
                        <a:t>AI prediction of pipeline deposition</a:t>
                      </a:r>
                    </a:p>
                  </a:txBody>
                  <a:tcPr/>
                </a:tc>
                <a:tc>
                  <a:txBody>
                    <a:bodyPr/>
                    <a:lstStyle/>
                    <a:p>
                      <a:r>
                        <a:rPr lang="en-US" dirty="0"/>
                        <a:t>Oil pipeline</a:t>
                      </a:r>
                      <a:endParaRPr lang="en-US" b="0" dirty="0"/>
                    </a:p>
                  </a:txBody>
                  <a:tcPr/>
                </a:tc>
                <a:tc>
                  <a:txBody>
                    <a:bodyPr/>
                    <a:lstStyle/>
                    <a:p>
                      <a:r>
                        <a:rPr lang="en-US" dirty="0"/>
                        <a:t>Wax</a:t>
                      </a:r>
                    </a:p>
                  </a:txBody>
                  <a:tcPr/>
                </a:tc>
                <a:tc>
                  <a:txBody>
                    <a:bodyPr/>
                    <a:lstStyle/>
                    <a:p>
                      <a:r>
                        <a:rPr lang="en-US" dirty="0"/>
                        <a:t>OLGA simulation + RRR wax model + Stacked Autoencoder (SAE)</a:t>
                      </a:r>
                      <a:endParaRPr lang="en-US" b="0" dirty="0"/>
                    </a:p>
                  </a:txBody>
                  <a:tcPr/>
                </a:tc>
                <a:tc>
                  <a:txBody>
                    <a:bodyPr/>
                    <a:lstStyle/>
                    <a:p>
                      <a:r>
                        <a:rPr lang="en-US" dirty="0"/>
                        <a:t>Prediction Target : Wax location and thickness</a:t>
                      </a:r>
                    </a:p>
                  </a:txBody>
                  <a:tcPr/>
                </a:tc>
                <a:extLst>
                  <a:ext uri="{0D108BD9-81ED-4DB2-BD59-A6C34878D82A}">
                    <a16:rowId xmlns:a16="http://schemas.microsoft.com/office/drawing/2014/main" val="952889646"/>
                  </a:ext>
                </a:extLst>
              </a:tr>
            </a:tbl>
          </a:graphicData>
        </a:graphic>
      </p:graphicFrame>
    </p:spTree>
    <p:extLst>
      <p:ext uri="{BB962C8B-B14F-4D97-AF65-F5344CB8AC3E}">
        <p14:creationId xmlns:p14="http://schemas.microsoft.com/office/powerpoint/2010/main" val="26213438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FBC05-5552-B089-ED97-B6B69F1EC3DC}"/>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1D6BC0D9-0BDB-582E-A470-0D5BDC956EDC}"/>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dirty="0"/>
              <a:t>Ref</a:t>
            </a:r>
          </a:p>
          <a:p>
            <a:pPr marL="457200" indent="-457200">
              <a:buAutoNum type="arabicPeriod"/>
            </a:pPr>
            <a:r>
              <a:rPr lang="en-US" sz="1500" dirty="0" err="1"/>
              <a:t>Arukhe</a:t>
            </a:r>
            <a:r>
              <a:rPr lang="en-US" sz="1500" dirty="0"/>
              <a:t>, J. O., Ghamdi, K. A., &amp; </a:t>
            </a:r>
            <a:r>
              <a:rPr lang="en-US" sz="1500" dirty="0" err="1"/>
              <a:t>Anazi</a:t>
            </a:r>
            <a:r>
              <a:rPr lang="en-US" sz="1500" dirty="0"/>
              <a:t>, A. F. (2025, April). Machine Learning Framework for Treating and Preventing Scale Formation. In Offshore Technology Conference (p. D041S056R002). OTC.</a:t>
            </a:r>
          </a:p>
          <a:p>
            <a:pPr marL="457200" indent="-457200">
              <a:buAutoNum type="arabicPeriod"/>
            </a:pPr>
            <a:r>
              <a:rPr lang="en-US" sz="1500" dirty="0"/>
              <a:t>Emmons, D. H., Graham, G. C., Holt, S. P., Jordan, M. M., </a:t>
            </a:r>
            <a:r>
              <a:rPr lang="en-US" sz="1500" dirty="0" err="1"/>
              <a:t>Locardel</a:t>
            </a:r>
            <a:r>
              <a:rPr lang="en-US" sz="1500" dirty="0"/>
              <a:t>, L. P., &amp; </a:t>
            </a:r>
            <a:r>
              <a:rPr lang="en-US" sz="1500" dirty="0" err="1"/>
              <a:t>Locardel</a:t>
            </a:r>
            <a:r>
              <a:rPr lang="en-US" sz="1500" dirty="0"/>
              <a:t>, B. (1999, October). On-site, near-real-time monitoring of scale deposition. In SPE Annual Technical Conference and Exhibition? (pp. SPE-56776). SPE.</a:t>
            </a:r>
          </a:p>
          <a:p>
            <a:pPr marL="457200" indent="-457200">
              <a:buAutoNum type="arabicPeriod"/>
            </a:pPr>
            <a:r>
              <a:rPr lang="en-US" sz="1500" dirty="0"/>
              <a:t>Jordan, M. M., Archibald, I., Donaldson, L., Stevens, K., &amp; Kemp, S. (2003, February). Deployment, Monitoring and </a:t>
            </a:r>
            <a:r>
              <a:rPr lang="en-US" sz="1500" dirty="0" err="1"/>
              <a:t>Optimisation</a:t>
            </a:r>
            <a:r>
              <a:rPr lang="en-US" sz="1500" dirty="0"/>
              <a:t> of a Combined Scale/Corrosion Inhibitor within a Subsea Facility in the North Sea Basin. In SPE International Conference on Oilfield Chemistry? (pp. SPE-80214). SPE.</a:t>
            </a:r>
          </a:p>
          <a:p>
            <a:pPr marL="457200" indent="-457200">
              <a:buAutoNum type="arabicPeriod"/>
            </a:pPr>
            <a:r>
              <a:rPr lang="en-US" sz="1500" dirty="0"/>
              <a:t>Smith, J. K., Yuan, M., Lopez, T. H., Means, M., &amp; Przybylinski, J. L. (2004). Real-time and in-situ detection of calcium carbonate scale in a west Texas oil field. SPE Production &amp; Facilities, 19(02), 94-99.</a:t>
            </a:r>
          </a:p>
          <a:p>
            <a:pPr marL="457200" indent="-457200">
              <a:buAutoNum type="arabicPeriod"/>
            </a:pPr>
            <a:r>
              <a:rPr lang="en-US" sz="1500" dirty="0"/>
              <a:t>Jain, A., Patel, N., Hammonds, P., &amp; Pandey, S. (2018, October). A smart software system for flow assurance management. In SPE Asia Pacific Oil and Gas Conference and Exhibition (p. D022S006R007). SPE.</a:t>
            </a:r>
          </a:p>
          <a:p>
            <a:pPr marL="457200" indent="-457200">
              <a:buAutoNum type="arabicPeriod"/>
            </a:pPr>
            <a:r>
              <a:rPr lang="en-US" sz="1500" dirty="0"/>
              <a:t>Farrell, J., &amp; </a:t>
            </a:r>
            <a:r>
              <a:rPr lang="en-US" sz="1500" dirty="0" err="1"/>
              <a:t>Makarychev</a:t>
            </a:r>
            <a:r>
              <a:rPr lang="en-US" sz="1500" dirty="0"/>
              <a:t>-Mikhailov, S. (2023, June). Water digital avatar—where chemistry is mixed with machine learning. In SPE International Conference on Oilfield Chemistry? (p. D011S004R006). SPE.</a:t>
            </a:r>
          </a:p>
          <a:p>
            <a:pPr marL="457200" indent="-457200">
              <a:buAutoNum type="arabicPeriod"/>
            </a:pPr>
            <a:r>
              <a:rPr lang="en-US" sz="1500" dirty="0"/>
              <a:t>Ness, G., Langvik, M., &amp; Ree, L. S. (2024, June). How to Develop a Comprehensive Scale Management Strategy and Use the Scale Risk Factor (SRF) for Chemical </a:t>
            </a:r>
            <a:r>
              <a:rPr lang="en-US" sz="1500" dirty="0" err="1"/>
              <a:t>Optimisation</a:t>
            </a:r>
            <a:r>
              <a:rPr lang="en-US" sz="1500" dirty="0"/>
              <a:t>. In SPE International Oilfield Scale Conference and Exhibition (p. D013S004R001). SPE.</a:t>
            </a:r>
          </a:p>
        </p:txBody>
      </p:sp>
    </p:spTree>
    <p:extLst>
      <p:ext uri="{BB962C8B-B14F-4D97-AF65-F5344CB8AC3E}">
        <p14:creationId xmlns:p14="http://schemas.microsoft.com/office/powerpoint/2010/main" val="23602742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6C1D6-0FE0-93A0-7C62-83697AFFCA26}"/>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3555F55D-F2D8-2C99-0C1B-50F0642DE3E9}"/>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dirty="0"/>
              <a:t>Ref</a:t>
            </a:r>
          </a:p>
          <a:p>
            <a:pPr marL="457200" indent="-457200">
              <a:buFont typeface="+mj-lt"/>
              <a:buAutoNum type="arabicPeriod" startAt="8"/>
            </a:pPr>
            <a:r>
              <a:rPr lang="en-US" sz="1500" dirty="0"/>
              <a:t>Al-</a:t>
            </a:r>
            <a:r>
              <a:rPr lang="en-US" sz="1500" dirty="0" err="1"/>
              <a:t>Shammiri</a:t>
            </a:r>
            <a:r>
              <a:rPr lang="en-US" sz="1500" dirty="0"/>
              <a:t>, M., Safar, M., &amp; Al-</a:t>
            </a:r>
            <a:r>
              <a:rPr lang="en-US" sz="1500" dirty="0" err="1"/>
              <a:t>Dawas</a:t>
            </a:r>
            <a:r>
              <a:rPr lang="en-US" sz="1500" dirty="0"/>
              <a:t>, M. (2000). Evaluation of two different </a:t>
            </a:r>
            <a:r>
              <a:rPr lang="en-US" sz="1500" dirty="0" err="1"/>
              <a:t>antiscalants</a:t>
            </a:r>
            <a:r>
              <a:rPr lang="en-US" sz="1500" dirty="0"/>
              <a:t> in real operation at the Doha research plant. Desalination, 128(1), 1-16.</a:t>
            </a:r>
          </a:p>
          <a:p>
            <a:pPr marL="457200" indent="-457200">
              <a:buFont typeface="+mj-lt"/>
              <a:buAutoNum type="arabicPeriod" startAt="8"/>
            </a:pPr>
            <a:r>
              <a:rPr lang="en-US" sz="1500" dirty="0"/>
              <a:t>Mangal, M. N., </a:t>
            </a:r>
            <a:r>
              <a:rPr lang="en-US" sz="1500" dirty="0" err="1"/>
              <a:t>Yangali</a:t>
            </a:r>
            <a:r>
              <a:rPr lang="en-US" sz="1500" dirty="0"/>
              <a:t>-Quintanilla, V. A., Salinas-Rodriguez, S. G., Dusseldorp, J., Blankert, B., Kemperman, A. J., ... &amp; van der Meer, W. G. (2022). Application of a smart dosing pump algorithm in identifying real-time optimum dose of </a:t>
            </a:r>
            <a:r>
              <a:rPr lang="en-US" sz="1500" dirty="0" err="1"/>
              <a:t>antiscalant</a:t>
            </a:r>
            <a:r>
              <a:rPr lang="en-US" sz="1500" dirty="0"/>
              <a:t> in reverse osmosis systems. Journal of membrane science, 658, 120717.</a:t>
            </a:r>
          </a:p>
          <a:p>
            <a:pPr marL="457200" indent="-457200">
              <a:buFont typeface="+mj-lt"/>
              <a:buAutoNum type="arabicPeriod" startAt="8"/>
            </a:pPr>
            <a:r>
              <a:rPr lang="en-US" sz="1500" dirty="0"/>
              <a:t>Ferguson, R. J., Ferguson, B. R., &amp; Stancavage, R. F. (2011). Modeling scale formation and optimizing scale inhibitor dosages in Membrane Systems. In RJ Ferguson, BR Ferguson, RF Stancavage/AWWA Membrane Technology Conference.—2011.</a:t>
            </a:r>
          </a:p>
          <a:p>
            <a:pPr marL="457200" indent="-457200">
              <a:buFont typeface="+mj-lt"/>
              <a:buAutoNum type="arabicPeriod" startAt="8"/>
            </a:pPr>
            <a:r>
              <a:rPr lang="en-US" sz="1500" dirty="0"/>
              <a:t>Kim, J., Han, S., Seo, Y., Moon, B., &amp; Lee, Y. (2022). The development of an AI-based model to predict the location and amount of wax in oil pipelines. Journal of Petroleum Science and Engineering, 209, 109813.</a:t>
            </a:r>
          </a:p>
        </p:txBody>
      </p:sp>
    </p:spTree>
    <p:extLst>
      <p:ext uri="{BB962C8B-B14F-4D97-AF65-F5344CB8AC3E}">
        <p14:creationId xmlns:p14="http://schemas.microsoft.com/office/powerpoint/2010/main" val="28985166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645EF-25CB-A8AC-FD34-5A95FA95A7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3A00F-9585-1070-4E3C-71DE1D3D0769}"/>
              </a:ext>
            </a:extLst>
          </p:cNvPr>
          <p:cNvSpPr>
            <a:spLocks noGrp="1"/>
          </p:cNvSpPr>
          <p:nvPr>
            <p:ph type="title"/>
          </p:nvPr>
        </p:nvSpPr>
        <p:spPr/>
        <p:txBody>
          <a:bodyPr/>
          <a:lstStyle/>
          <a:p>
            <a:r>
              <a:rPr lang="en-US" dirty="0"/>
              <a:t>Pipe monitoring</a:t>
            </a:r>
          </a:p>
        </p:txBody>
      </p:sp>
    </p:spTree>
    <p:extLst>
      <p:ext uri="{BB962C8B-B14F-4D97-AF65-F5344CB8AC3E}">
        <p14:creationId xmlns:p14="http://schemas.microsoft.com/office/powerpoint/2010/main" val="3547286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7A0B-1C90-05CB-D78B-F1C9C9FC037F}"/>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6F377C0-13BB-9D3B-C141-614453DFB436}"/>
              </a:ext>
            </a:extLst>
          </p:cNvPr>
          <p:cNvGraphicFramePr>
            <a:graphicFrameLocks noGrp="1"/>
          </p:cNvGraphicFramePr>
          <p:nvPr>
            <p:ph idx="4294967295"/>
            <p:extLst>
              <p:ext uri="{D42A27DB-BD31-4B8C-83A1-F6EECF244321}">
                <p14:modId xmlns:p14="http://schemas.microsoft.com/office/powerpoint/2010/main" val="2220050209"/>
              </p:ext>
            </p:extLst>
          </p:nvPr>
        </p:nvGraphicFramePr>
        <p:xfrm>
          <a:off x="300039" y="188624"/>
          <a:ext cx="11539035" cy="6223000"/>
        </p:xfrm>
        <a:graphic>
          <a:graphicData uri="http://schemas.openxmlformats.org/drawingml/2006/table">
            <a:tbl>
              <a:tblPr firstRow="1" bandRow="1">
                <a:tableStyleId>{5C22544A-7EE6-4342-B048-85BDC9FD1C3A}</a:tableStyleId>
              </a:tblPr>
              <a:tblGrid>
                <a:gridCol w="341645">
                  <a:extLst>
                    <a:ext uri="{9D8B030D-6E8A-4147-A177-3AD203B41FA5}">
                      <a16:colId xmlns:a16="http://schemas.microsoft.com/office/drawing/2014/main" val="3025585402"/>
                    </a:ext>
                  </a:extLst>
                </a:gridCol>
                <a:gridCol w="4251158">
                  <a:extLst>
                    <a:ext uri="{9D8B030D-6E8A-4147-A177-3AD203B41FA5}">
                      <a16:colId xmlns:a16="http://schemas.microsoft.com/office/drawing/2014/main" val="1274649808"/>
                    </a:ext>
                  </a:extLst>
                </a:gridCol>
                <a:gridCol w="4074695">
                  <a:extLst>
                    <a:ext uri="{9D8B030D-6E8A-4147-A177-3AD203B41FA5}">
                      <a16:colId xmlns:a16="http://schemas.microsoft.com/office/drawing/2014/main" val="2114671980"/>
                    </a:ext>
                  </a:extLst>
                </a:gridCol>
                <a:gridCol w="2871537">
                  <a:extLst>
                    <a:ext uri="{9D8B030D-6E8A-4147-A177-3AD203B41FA5}">
                      <a16:colId xmlns:a16="http://schemas.microsoft.com/office/drawing/2014/main" val="125575515"/>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Approach</a:t>
                      </a:r>
                    </a:p>
                  </a:txBody>
                  <a:tcPr/>
                </a:tc>
                <a:tc>
                  <a:txBody>
                    <a:bodyPr/>
                    <a:lstStyle/>
                    <a:p>
                      <a:r>
                        <a:rPr lang="en-US" dirty="0"/>
                        <a:t>Main Application</a:t>
                      </a:r>
                    </a:p>
                  </a:txBody>
                  <a:tcPr/>
                </a:tc>
                <a:extLst>
                  <a:ext uri="{0D108BD9-81ED-4DB2-BD59-A6C34878D82A}">
                    <a16:rowId xmlns:a16="http://schemas.microsoft.com/office/drawing/2014/main" val="229248636"/>
                  </a:ext>
                </a:extLst>
              </a:tr>
              <a:tr h="370840">
                <a:tc>
                  <a:txBody>
                    <a:bodyPr/>
                    <a:lstStyle/>
                    <a:p>
                      <a:r>
                        <a:rPr lang="en-US" dirty="0"/>
                        <a:t>1</a:t>
                      </a:r>
                    </a:p>
                  </a:txBody>
                  <a:tcPr/>
                </a:tc>
                <a:tc>
                  <a:txBody>
                    <a:bodyPr/>
                    <a:lstStyle/>
                    <a:p>
                      <a:r>
                        <a:rPr lang="en-US" dirty="0"/>
                        <a:t>Review of guided-wave structural health monitoring (SHM) methods for reliable pipeline monitoring under varying environmental and operational conditions.</a:t>
                      </a:r>
                    </a:p>
                  </a:txBody>
                  <a:tcPr/>
                </a:tc>
                <a:tc>
                  <a:txBody>
                    <a:bodyPr/>
                    <a:lstStyle/>
                    <a:p>
                      <a:r>
                        <a:rPr lang="en-US" dirty="0"/>
                        <a:t>Ultrasonic guided waves (UGW), SHM, baseline compensation, machine learning (PCA, ICA, SVD, ANN, SVM), signal processing, and false-alarm mitigation.</a:t>
                      </a:r>
                      <a:endParaRPr lang="en-US" b="0" dirty="0"/>
                    </a:p>
                  </a:txBody>
                  <a:tcPr/>
                </a:tc>
                <a:tc>
                  <a:txBody>
                    <a:bodyPr/>
                    <a:lstStyle/>
                    <a:p>
                      <a:r>
                        <a:rPr lang="en-US" dirty="0"/>
                        <a:t>Continuous pipeline integrity monitoring, defect detection, and robust SHM under real operating conditions.</a:t>
                      </a:r>
                    </a:p>
                  </a:txBody>
                  <a:tcPr/>
                </a:tc>
                <a:extLst>
                  <a:ext uri="{0D108BD9-81ED-4DB2-BD59-A6C34878D82A}">
                    <a16:rowId xmlns:a16="http://schemas.microsoft.com/office/drawing/2014/main" val="1386937106"/>
                  </a:ext>
                </a:extLst>
              </a:tr>
              <a:tr h="370840">
                <a:tc>
                  <a:txBody>
                    <a:bodyPr/>
                    <a:lstStyle/>
                    <a:p>
                      <a:r>
                        <a:rPr lang="en-US" dirty="0"/>
                        <a:t>2</a:t>
                      </a:r>
                    </a:p>
                  </a:txBody>
                  <a:tcPr/>
                </a:tc>
                <a:tc>
                  <a:txBody>
                    <a:bodyPr/>
                    <a:lstStyle/>
                    <a:p>
                      <a:r>
                        <a:rPr lang="en-US" dirty="0"/>
                        <a:t>Comprehensive review of pipeline monitoring, inspection, and fitness-for-service (FFS) assessment technologies for oil and gas pipeline networks.</a:t>
                      </a:r>
                    </a:p>
                  </a:txBody>
                  <a:tcPr/>
                </a:tc>
                <a:tc>
                  <a:txBody>
                    <a:bodyPr/>
                    <a:lstStyle/>
                    <a:p>
                      <a:r>
                        <a:rPr lang="en-US" dirty="0"/>
                        <a:t>In-line inspection (MFL, UT, eddy current, IMU), optical fiber sensing (DAS, Φ-OTDR, OFDR), guided waves, SCADA, AI/machine learning, multi-sensor fusion, and FFS assessment.</a:t>
                      </a:r>
                      <a:endParaRPr lang="en-US" b="0" dirty="0"/>
                    </a:p>
                  </a:txBody>
                  <a:tcPr/>
                </a:tc>
                <a:tc>
                  <a:txBody>
                    <a:bodyPr/>
                    <a:lstStyle/>
                    <a:p>
                      <a:r>
                        <a:rPr lang="en-US" dirty="0"/>
                        <a:t>Pipeline integrity management, leak detection, defect inspection, optical fiber monitoring, AI-assisted monitoring, and FFS assessment.</a:t>
                      </a:r>
                    </a:p>
                  </a:txBody>
                  <a:tcPr/>
                </a:tc>
                <a:extLst>
                  <a:ext uri="{0D108BD9-81ED-4DB2-BD59-A6C34878D82A}">
                    <a16:rowId xmlns:a16="http://schemas.microsoft.com/office/drawing/2014/main" val="1522205272"/>
                  </a:ext>
                </a:extLst>
              </a:tr>
              <a:tr h="370840">
                <a:tc>
                  <a:txBody>
                    <a:bodyPr/>
                    <a:lstStyle/>
                    <a:p>
                      <a:r>
                        <a:rPr lang="en-US" dirty="0"/>
                        <a:t>3</a:t>
                      </a:r>
                    </a:p>
                  </a:txBody>
                  <a:tcPr/>
                </a:tc>
                <a:tc>
                  <a:txBody>
                    <a:bodyPr/>
                    <a:lstStyle/>
                    <a:p>
                      <a:r>
                        <a:rPr lang="en-US" dirty="0"/>
                        <a:t>Development of an ultrasonic nondestructive method to measure scale thickness on the inner surface of pipes.</a:t>
                      </a:r>
                    </a:p>
                  </a:txBody>
                  <a:tcPr/>
                </a:tc>
                <a:tc>
                  <a:txBody>
                    <a:bodyPr/>
                    <a:lstStyle/>
                    <a:p>
                      <a:r>
                        <a:rPr lang="en-US" dirty="0"/>
                        <a:t>Pulse-echo ultrasonic testing using time-of-flight (TOF) measurements between the pipe/scale and scale/fluid interfaces to calculate scale thickness.</a:t>
                      </a:r>
                      <a:endParaRPr lang="en-US" b="0" dirty="0"/>
                    </a:p>
                  </a:txBody>
                  <a:tcPr/>
                </a:tc>
                <a:tc>
                  <a:txBody>
                    <a:bodyPr/>
                    <a:lstStyle/>
                    <a:p>
                      <a:r>
                        <a:rPr lang="en-US" dirty="0"/>
                        <a:t>Nondestructive in-situ measurement of internal pipe scale thickness (laboratory validation on PP, PVC, and steel pipes).</a:t>
                      </a:r>
                    </a:p>
                  </a:txBody>
                  <a:tcPr/>
                </a:tc>
                <a:extLst>
                  <a:ext uri="{0D108BD9-81ED-4DB2-BD59-A6C34878D82A}">
                    <a16:rowId xmlns:a16="http://schemas.microsoft.com/office/drawing/2014/main" val="1981753190"/>
                  </a:ext>
                </a:extLst>
              </a:tr>
              <a:tr h="370840">
                <a:tc>
                  <a:txBody>
                    <a:bodyPr/>
                    <a:lstStyle/>
                    <a:p>
                      <a:r>
                        <a:rPr lang="en-US" dirty="0"/>
                        <a:t>4</a:t>
                      </a:r>
                    </a:p>
                  </a:txBody>
                  <a:tcPr/>
                </a:tc>
                <a:tc>
                  <a:txBody>
                    <a:bodyPr/>
                    <a:lstStyle/>
                    <a:p>
                      <a:r>
                        <a:rPr lang="en-US" dirty="0"/>
                        <a:t>Development of an ultrasonic system for detecting and profiling hydrate blockage in gas pipelines during operation.</a:t>
                      </a:r>
                    </a:p>
                  </a:txBody>
                  <a:tcPr/>
                </a:tc>
                <a:tc>
                  <a:txBody>
                    <a:bodyPr/>
                    <a:lstStyle/>
                    <a:p>
                      <a:r>
                        <a:rPr lang="en-US" dirty="0"/>
                        <a:t>Non-contact focused ultrasonic transducer, time-of-flight (TOF) analysis, 360° circumferential scanning, blockage contour reconstruction, and validation on a full-scale flow loop.</a:t>
                      </a:r>
                      <a:endParaRPr lang="en-US" b="0" dirty="0"/>
                    </a:p>
                  </a:txBody>
                  <a:tcPr/>
                </a:tc>
                <a:tc>
                  <a:txBody>
                    <a:bodyPr/>
                    <a:lstStyle/>
                    <a:p>
                      <a:r>
                        <a:rPr lang="en-US" dirty="0"/>
                        <a:t>Real-time monitoring and early warning of hydrate blockage in operating natural gas pipelines.</a:t>
                      </a:r>
                    </a:p>
                  </a:txBody>
                  <a:tcPr/>
                </a:tc>
                <a:extLst>
                  <a:ext uri="{0D108BD9-81ED-4DB2-BD59-A6C34878D82A}">
                    <a16:rowId xmlns:a16="http://schemas.microsoft.com/office/drawing/2014/main" val="3644106550"/>
                  </a:ext>
                </a:extLst>
              </a:tr>
            </a:tbl>
          </a:graphicData>
        </a:graphic>
      </p:graphicFrame>
    </p:spTree>
    <p:extLst>
      <p:ext uri="{BB962C8B-B14F-4D97-AF65-F5344CB8AC3E}">
        <p14:creationId xmlns:p14="http://schemas.microsoft.com/office/powerpoint/2010/main" val="9068573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854536-47AB-FD81-FA2D-E5FC006D85DD}"/>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8AE2F102-A491-0595-41B6-665BD381F306}"/>
              </a:ext>
            </a:extLst>
          </p:cNvPr>
          <p:cNvGraphicFramePr>
            <a:graphicFrameLocks noGrp="1"/>
          </p:cNvGraphicFramePr>
          <p:nvPr>
            <p:ph idx="4294967295"/>
            <p:extLst>
              <p:ext uri="{D42A27DB-BD31-4B8C-83A1-F6EECF244321}">
                <p14:modId xmlns:p14="http://schemas.microsoft.com/office/powerpoint/2010/main" val="2942569962"/>
              </p:ext>
            </p:extLst>
          </p:nvPr>
        </p:nvGraphicFramePr>
        <p:xfrm>
          <a:off x="300039" y="188624"/>
          <a:ext cx="11539035" cy="3571240"/>
        </p:xfrm>
        <a:graphic>
          <a:graphicData uri="http://schemas.openxmlformats.org/drawingml/2006/table">
            <a:tbl>
              <a:tblPr firstRow="1" bandRow="1">
                <a:tableStyleId>{5C22544A-7EE6-4342-B048-85BDC9FD1C3A}</a:tableStyleId>
              </a:tblPr>
              <a:tblGrid>
                <a:gridCol w="341645">
                  <a:extLst>
                    <a:ext uri="{9D8B030D-6E8A-4147-A177-3AD203B41FA5}">
                      <a16:colId xmlns:a16="http://schemas.microsoft.com/office/drawing/2014/main" val="3025585402"/>
                    </a:ext>
                  </a:extLst>
                </a:gridCol>
                <a:gridCol w="4251158">
                  <a:extLst>
                    <a:ext uri="{9D8B030D-6E8A-4147-A177-3AD203B41FA5}">
                      <a16:colId xmlns:a16="http://schemas.microsoft.com/office/drawing/2014/main" val="1274649808"/>
                    </a:ext>
                  </a:extLst>
                </a:gridCol>
                <a:gridCol w="4074695">
                  <a:extLst>
                    <a:ext uri="{9D8B030D-6E8A-4147-A177-3AD203B41FA5}">
                      <a16:colId xmlns:a16="http://schemas.microsoft.com/office/drawing/2014/main" val="2114671980"/>
                    </a:ext>
                  </a:extLst>
                </a:gridCol>
                <a:gridCol w="2871537">
                  <a:extLst>
                    <a:ext uri="{9D8B030D-6E8A-4147-A177-3AD203B41FA5}">
                      <a16:colId xmlns:a16="http://schemas.microsoft.com/office/drawing/2014/main" val="125575515"/>
                    </a:ext>
                  </a:extLst>
                </a:gridCol>
              </a:tblGrid>
              <a:tr h="370840">
                <a:tc>
                  <a:txBody>
                    <a:bodyPr/>
                    <a:lstStyle/>
                    <a:p>
                      <a:r>
                        <a:rPr lang="en-US" dirty="0"/>
                        <a:t>#</a:t>
                      </a:r>
                    </a:p>
                  </a:txBody>
                  <a:tcPr/>
                </a:tc>
                <a:tc>
                  <a:txBody>
                    <a:bodyPr/>
                    <a:lstStyle/>
                    <a:p>
                      <a:r>
                        <a:rPr lang="en-US" dirty="0"/>
                        <a:t>Focus</a:t>
                      </a:r>
                    </a:p>
                  </a:txBody>
                  <a:tcPr/>
                </a:tc>
                <a:tc>
                  <a:txBody>
                    <a:bodyPr/>
                    <a:lstStyle/>
                    <a:p>
                      <a:r>
                        <a:rPr lang="en-US" dirty="0"/>
                        <a:t>Approach</a:t>
                      </a:r>
                    </a:p>
                  </a:txBody>
                  <a:tcPr/>
                </a:tc>
                <a:tc>
                  <a:txBody>
                    <a:bodyPr/>
                    <a:lstStyle/>
                    <a:p>
                      <a:r>
                        <a:rPr lang="en-US" dirty="0"/>
                        <a:t>Main Application</a:t>
                      </a:r>
                    </a:p>
                  </a:txBody>
                  <a:tcPr/>
                </a:tc>
                <a:extLst>
                  <a:ext uri="{0D108BD9-81ED-4DB2-BD59-A6C34878D82A}">
                    <a16:rowId xmlns:a16="http://schemas.microsoft.com/office/drawing/2014/main" val="229248636"/>
                  </a:ext>
                </a:extLst>
              </a:tr>
              <a:tr h="370840">
                <a:tc>
                  <a:txBody>
                    <a:bodyPr/>
                    <a:lstStyle/>
                    <a:p>
                      <a:r>
                        <a:rPr lang="en-US" dirty="0"/>
                        <a:t>5</a:t>
                      </a:r>
                    </a:p>
                  </a:txBody>
                  <a:tcPr/>
                </a:tc>
                <a:tc>
                  <a:txBody>
                    <a:bodyPr/>
                    <a:lstStyle/>
                    <a:p>
                      <a:r>
                        <a:rPr lang="en-US" dirty="0"/>
                        <a:t>Review of ultrasonic guided-wave techniques for long-range pipeline inspection and structural health monitoring (SHM).</a:t>
                      </a:r>
                    </a:p>
                  </a:txBody>
                  <a:tcPr/>
                </a:tc>
                <a:tc>
                  <a:txBody>
                    <a:bodyPr/>
                    <a:lstStyle/>
                    <a:p>
                      <a:r>
                        <a:rPr lang="en-US" dirty="0"/>
                        <a:t>Ultrasonic guided waves, guided-wave transducers, signal processing, defect localization, and SHM technologies.</a:t>
                      </a:r>
                      <a:endParaRPr lang="en-US" b="0" dirty="0"/>
                    </a:p>
                  </a:txBody>
                  <a:tcPr/>
                </a:tc>
                <a:tc>
                  <a:txBody>
                    <a:bodyPr/>
                    <a:lstStyle/>
                    <a:p>
                      <a:r>
                        <a:rPr lang="en-US" dirty="0"/>
                        <a:t>Non-destructive testing (NDT), pipeline integrity management, corrosion/crack detection, continuous pipeline monitoring.</a:t>
                      </a:r>
                    </a:p>
                  </a:txBody>
                  <a:tcPr/>
                </a:tc>
                <a:extLst>
                  <a:ext uri="{0D108BD9-81ED-4DB2-BD59-A6C34878D82A}">
                    <a16:rowId xmlns:a16="http://schemas.microsoft.com/office/drawing/2014/main" val="1386937106"/>
                  </a:ext>
                </a:extLst>
              </a:tr>
              <a:tr h="370840">
                <a:tc>
                  <a:txBody>
                    <a:bodyPr/>
                    <a:lstStyle/>
                    <a:p>
                      <a:r>
                        <a:rPr lang="en-US" dirty="0"/>
                        <a:t>6</a:t>
                      </a:r>
                    </a:p>
                  </a:txBody>
                  <a:tcPr/>
                </a:tc>
                <a:tc>
                  <a:txBody>
                    <a:bodyPr/>
                    <a:lstStyle/>
                    <a:p>
                      <a:r>
                        <a:rPr lang="en-US" dirty="0"/>
                        <a:t>Detection and monitoring of solids deposition in slurry pipelines using electrical resistance tomography (ERT).</a:t>
                      </a:r>
                    </a:p>
                  </a:txBody>
                  <a:tcPr/>
                </a:tc>
                <a:tc>
                  <a:txBody>
                    <a:bodyPr/>
                    <a:lstStyle/>
                    <a:p>
                      <a:r>
                        <a:rPr lang="en-US" dirty="0"/>
                        <a:t>Electrical Resistance Tomography (ERT) with 16 circumferential electrodes to reconstruct cross-sectional conductivity maps and identify deposited solids in flowing slurry pipelines.</a:t>
                      </a:r>
                      <a:endParaRPr lang="en-US" b="0" dirty="0"/>
                    </a:p>
                  </a:txBody>
                  <a:tcPr/>
                </a:tc>
                <a:tc>
                  <a:txBody>
                    <a:bodyPr/>
                    <a:lstStyle/>
                    <a:p>
                      <a:r>
                        <a:rPr lang="en-US" dirty="0"/>
                        <a:t>Online monitoring of slurry transport systems, sedimentation detection, and deposition onset in hydraulic conveying pipelines.</a:t>
                      </a:r>
                    </a:p>
                  </a:txBody>
                  <a:tcPr/>
                </a:tc>
                <a:extLst>
                  <a:ext uri="{0D108BD9-81ED-4DB2-BD59-A6C34878D82A}">
                    <a16:rowId xmlns:a16="http://schemas.microsoft.com/office/drawing/2014/main" val="1522205272"/>
                  </a:ext>
                </a:extLst>
              </a:tr>
            </a:tbl>
          </a:graphicData>
        </a:graphic>
      </p:graphicFrame>
    </p:spTree>
    <p:extLst>
      <p:ext uri="{BB962C8B-B14F-4D97-AF65-F5344CB8AC3E}">
        <p14:creationId xmlns:p14="http://schemas.microsoft.com/office/powerpoint/2010/main" val="2471817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C53A9-773B-3DA3-99DD-D8AEE3E8535E}"/>
            </a:ext>
          </a:extLst>
        </p:cNvPr>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B872776-5F68-B3C3-E2C3-2A3F64A0AA44}"/>
              </a:ext>
            </a:extLst>
          </p:cNvPr>
          <p:cNvSpPr txBox="1">
            <a:spLocks/>
          </p:cNvSpPr>
          <p:nvPr/>
        </p:nvSpPr>
        <p:spPr>
          <a:xfrm>
            <a:off x="300037" y="269414"/>
            <a:ext cx="11591925" cy="5022433"/>
          </a:xfrm>
          <a:prstGeom prst="rect">
            <a:avLst/>
          </a:prstGeom>
        </p:spPr>
        <p:txBody>
          <a:bodyPr>
            <a:noAutofit/>
          </a:bodyPr>
          <a:lstStyle>
            <a:lvl1pPr marL="228600" indent="-228600" algn="l" defTabSz="914400" rtl="0" eaLnBrk="1" latinLnBrk="0" hangingPunct="1">
              <a:lnSpc>
                <a:spcPct val="11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b="1" dirty="0"/>
              <a:t>Ref</a:t>
            </a:r>
          </a:p>
          <a:p>
            <a:pPr marL="457200" indent="-457200">
              <a:buAutoNum type="arabicPeriod"/>
            </a:pPr>
            <a:r>
              <a:rPr lang="en-US" sz="1600" dirty="0"/>
              <a:t>El </a:t>
            </a:r>
            <a:r>
              <a:rPr lang="en-US" sz="1600" dirty="0" err="1"/>
              <a:t>Mountassir</a:t>
            </a:r>
            <a:r>
              <a:rPr lang="en-US" sz="1600" dirty="0"/>
              <a:t>, M., </a:t>
            </a:r>
            <a:r>
              <a:rPr lang="en-US" sz="1600" dirty="0" err="1"/>
              <a:t>Yaacoubi</a:t>
            </a:r>
            <a:r>
              <a:rPr lang="en-US" sz="1600" dirty="0"/>
              <a:t>, S., &amp; </a:t>
            </a:r>
            <a:r>
              <a:rPr lang="en-US" sz="1600" dirty="0" err="1"/>
              <a:t>Dahmene</a:t>
            </a:r>
            <a:r>
              <a:rPr lang="en-US" sz="1600" dirty="0"/>
              <a:t>, F. (2020). </a:t>
            </a:r>
            <a:r>
              <a:rPr lang="en-US" sz="1600" i="1" dirty="0"/>
              <a:t>Reducing false alarms in guided waves structural health monitoring of pipelines: Review synthesis and debate</a:t>
            </a:r>
            <a:r>
              <a:rPr lang="en-US" sz="1600" dirty="0"/>
              <a:t>. </a:t>
            </a:r>
            <a:r>
              <a:rPr lang="en-US" sz="1600" i="1" dirty="0"/>
              <a:t>International Journal of Pressure Vessels and Piping, 188</a:t>
            </a:r>
            <a:r>
              <a:rPr lang="en-US" sz="1600" dirty="0"/>
              <a:t>, 104210.</a:t>
            </a:r>
          </a:p>
          <a:p>
            <a:pPr marL="457200" indent="-457200">
              <a:buAutoNum type="arabicPeriod"/>
            </a:pPr>
            <a:r>
              <a:rPr lang="en-US" sz="1600" dirty="0"/>
              <a:t>Chen, P. (2025). </a:t>
            </a:r>
            <a:r>
              <a:rPr lang="en-US" sz="1600" i="1" dirty="0"/>
              <a:t>Advancements and future outlook of safety monitoring, inspection and assessment technologies for oil and gas pipeline networks</a:t>
            </a:r>
            <a:r>
              <a:rPr lang="en-US" sz="1600" dirty="0"/>
              <a:t>. </a:t>
            </a:r>
            <a:r>
              <a:rPr lang="en-US" sz="1600" i="1" dirty="0"/>
              <a:t>Journal of Pipeline Science and Engineering, 5</a:t>
            </a:r>
            <a:r>
              <a:rPr lang="en-US" sz="1600" dirty="0"/>
              <a:t>, 100267.</a:t>
            </a:r>
          </a:p>
          <a:p>
            <a:pPr marL="457200" indent="-457200">
              <a:buAutoNum type="arabicPeriod"/>
            </a:pPr>
            <a:r>
              <a:rPr lang="en-US" sz="1600" dirty="0"/>
              <a:t>Lee, K. I. (2010). </a:t>
            </a:r>
            <a:r>
              <a:rPr lang="en-US" sz="1600" i="1" dirty="0"/>
              <a:t>Ultrasonic technique for measuring the thickness of scale on the inner surfaces of pipes</a:t>
            </a:r>
            <a:r>
              <a:rPr lang="en-US" sz="1600" dirty="0"/>
              <a:t>. </a:t>
            </a:r>
            <a:r>
              <a:rPr lang="en-US" sz="1600" i="1" dirty="0"/>
              <a:t>Journal of the Korean Physical Society, 56</a:t>
            </a:r>
            <a:r>
              <a:rPr lang="en-US" sz="1600" dirty="0"/>
              <a:t>(2), 558–561</a:t>
            </a:r>
          </a:p>
          <a:p>
            <a:pPr marL="457200" indent="-457200">
              <a:buAutoNum type="arabicPeriod"/>
            </a:pPr>
            <a:r>
              <a:rPr lang="en-US" sz="1600" dirty="0"/>
              <a:t>Li, X., Liu, Y., Liu, Z., Chu, J., Song, Y., Yu, T., &amp; Zhao, J. (2020). </a:t>
            </a:r>
            <a:r>
              <a:rPr lang="en-US" sz="1600" i="1" dirty="0"/>
              <a:t>A hydrate blockage detection apparatus for gas pipeline using ultrasonic focused transducer and its application on a flow loop</a:t>
            </a:r>
            <a:r>
              <a:rPr lang="en-US" sz="1600" dirty="0"/>
              <a:t>. </a:t>
            </a:r>
            <a:r>
              <a:rPr lang="en-US" sz="1600" i="1" dirty="0"/>
              <a:t>Energy Science &amp; Engineering, 8</a:t>
            </a:r>
            <a:r>
              <a:rPr lang="en-US" sz="1600" dirty="0"/>
              <a:t>, 1770–1780</a:t>
            </a:r>
          </a:p>
          <a:p>
            <a:pPr marL="457200" indent="-457200">
              <a:buAutoNum type="arabicPeriod"/>
            </a:pPr>
            <a:r>
              <a:rPr lang="en-US" sz="1600" dirty="0"/>
              <a:t>Zang, X., Xu, Z.-D., Lu, H., Zhu, C., &amp; Zhang, Z. (2023). </a:t>
            </a:r>
            <a:r>
              <a:rPr lang="en-US" sz="1600" i="1" dirty="0"/>
              <a:t>Ultrasonic guided wave techniques and applications in pipeline defect detection: A review</a:t>
            </a:r>
            <a:r>
              <a:rPr lang="en-US" sz="1600" dirty="0"/>
              <a:t>. </a:t>
            </a:r>
            <a:r>
              <a:rPr lang="en-US" sz="1600" i="1" dirty="0"/>
              <a:t>International Journal of Pressure Vessels and Piping, 206</a:t>
            </a:r>
            <a:r>
              <a:rPr lang="en-US" sz="1600" dirty="0"/>
              <a:t>, 105033.</a:t>
            </a:r>
          </a:p>
          <a:p>
            <a:pPr marL="457200" indent="-457200">
              <a:buAutoNum type="arabicPeriod"/>
            </a:pPr>
            <a:r>
              <a:rPr lang="en-US" sz="1600" dirty="0" err="1"/>
              <a:t>Fangary</a:t>
            </a:r>
            <a:r>
              <a:rPr lang="en-US" sz="1600" dirty="0"/>
              <a:t>, Y. S., Williams, R. A., Neil, W. A., Bond, J., &amp; Faulks, I. (1998). </a:t>
            </a:r>
            <a:r>
              <a:rPr lang="en-US" sz="1600" i="1" dirty="0"/>
              <a:t>Application of electrical resistance tomography to detect deposition in hydraulic conveying systems</a:t>
            </a:r>
            <a:r>
              <a:rPr lang="en-US" sz="1600" dirty="0"/>
              <a:t>. </a:t>
            </a:r>
            <a:r>
              <a:rPr lang="en-US" sz="1600" i="1" dirty="0"/>
              <a:t>Powder Technology, 95</a:t>
            </a:r>
            <a:r>
              <a:rPr lang="en-US" sz="1600" dirty="0"/>
              <a:t>, 61–66.</a:t>
            </a:r>
          </a:p>
          <a:p>
            <a:pPr marL="457200" indent="-457200">
              <a:buAutoNum type="arabicPeriod"/>
            </a:pPr>
            <a:endParaRPr lang="en-US" sz="1600" dirty="0"/>
          </a:p>
        </p:txBody>
      </p:sp>
    </p:spTree>
    <p:extLst>
      <p:ext uri="{BB962C8B-B14F-4D97-AF65-F5344CB8AC3E}">
        <p14:creationId xmlns:p14="http://schemas.microsoft.com/office/powerpoint/2010/main" val="3446978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681B0-756A-35BA-FC9E-B7648590DA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CF100E-FFCC-C464-949D-2BB80B91A2A3}"/>
              </a:ext>
            </a:extLst>
          </p:cNvPr>
          <p:cNvSpPr>
            <a:spLocks noGrp="1"/>
          </p:cNvSpPr>
          <p:nvPr>
            <p:ph type="title"/>
          </p:nvPr>
        </p:nvSpPr>
        <p:spPr/>
        <p:txBody>
          <a:bodyPr/>
          <a:lstStyle/>
          <a:p>
            <a:r>
              <a:rPr lang="en-US" dirty="0"/>
              <a:t>Research Gaps</a:t>
            </a:r>
          </a:p>
        </p:txBody>
      </p:sp>
    </p:spTree>
    <p:extLst>
      <p:ext uri="{BB962C8B-B14F-4D97-AF65-F5344CB8AC3E}">
        <p14:creationId xmlns:p14="http://schemas.microsoft.com/office/powerpoint/2010/main" val="2146123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B0C43-72A9-7291-2EE0-274D0BE76BB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93B1320-5D0D-A516-7584-789828E01B66}"/>
              </a:ext>
            </a:extLst>
          </p:cNvPr>
          <p:cNvSpPr>
            <a:spLocks noGrp="1"/>
          </p:cNvSpPr>
          <p:nvPr>
            <p:ph type="title"/>
          </p:nvPr>
        </p:nvSpPr>
        <p:spPr/>
        <p:txBody>
          <a:bodyPr/>
          <a:lstStyle/>
          <a:p>
            <a:r>
              <a:rPr lang="en-US" dirty="0"/>
              <a:t>Research Gaps</a:t>
            </a:r>
          </a:p>
        </p:txBody>
      </p:sp>
      <p:sp>
        <p:nvSpPr>
          <p:cNvPr id="10" name="Content Placeholder 9">
            <a:extLst>
              <a:ext uri="{FF2B5EF4-FFF2-40B4-BE49-F238E27FC236}">
                <a16:creationId xmlns:a16="http://schemas.microsoft.com/office/drawing/2014/main" id="{25F3B1BD-103F-8F00-D622-78047403D75E}"/>
              </a:ext>
            </a:extLst>
          </p:cNvPr>
          <p:cNvSpPr>
            <a:spLocks noGrp="1"/>
          </p:cNvSpPr>
          <p:nvPr>
            <p:ph idx="1"/>
          </p:nvPr>
        </p:nvSpPr>
        <p:spPr>
          <a:xfrm>
            <a:off x="285749" y="1602103"/>
            <a:ext cx="11360819" cy="4579621"/>
          </a:xfrm>
        </p:spPr>
        <p:txBody>
          <a:bodyPr>
            <a:normAutofit fontScale="92500"/>
          </a:bodyPr>
          <a:lstStyle/>
          <a:p>
            <a:pPr marL="342900" indent="-342900">
              <a:buFont typeface="Arial" panose="020B0604020202020204" pitchFamily="34" charset="0"/>
              <a:buChar char="•"/>
            </a:pPr>
            <a:r>
              <a:rPr lang="en-US" b="1" dirty="0"/>
              <a:t>Fragmented prediction approaches</a:t>
            </a:r>
            <a:r>
              <a:rPr lang="en-US" dirty="0"/>
              <a:t> Existing studies investigate thermodynamics, kinetics, transport, inhibitor modeling, AI, and monitoring independently. Few frameworks integrate these components into a unified operational scale prediction system.</a:t>
            </a:r>
          </a:p>
          <a:p>
            <a:pPr marL="342900" indent="-342900">
              <a:buFont typeface="Arial" panose="020B0604020202020204" pitchFamily="34" charset="0"/>
              <a:buChar char="•"/>
            </a:pPr>
            <a:r>
              <a:rPr lang="en-US" b="1" dirty="0"/>
              <a:t>Limited spatial understanding of scale deposition</a:t>
            </a:r>
            <a:r>
              <a:rPr lang="en-US" dirty="0"/>
              <a:t> Most prediction models estimate scaling tendency or saturation index but do not reconstruct the </a:t>
            </a:r>
            <a:r>
              <a:rPr lang="en-US" b="1" dirty="0"/>
              <a:t>spatial distribution of scale</a:t>
            </a:r>
            <a:r>
              <a:rPr lang="en-US" dirty="0"/>
              <a:t> along pipelines, including deposition location, thickness, and growth evolution.</a:t>
            </a:r>
          </a:p>
          <a:p>
            <a:pPr marL="342900" indent="-342900">
              <a:buFont typeface="Arial" panose="020B0604020202020204" pitchFamily="34" charset="0"/>
              <a:buChar char="•"/>
            </a:pPr>
            <a:r>
              <a:rPr lang="en-US" b="1" dirty="0"/>
              <a:t>Limited utilization of multimodal sensing </a:t>
            </a:r>
            <a:r>
              <a:rPr lang="en-US" dirty="0"/>
              <a:t>Existing monitoring techniques (ultrasonic, guided waves, tomography, pressure sensors, optical sensing, etc.) typically operate independently and are rarely fused with operational measurements and water chemistry to improve prediction accuracy.</a:t>
            </a:r>
          </a:p>
          <a:p>
            <a:pPr marL="342900" indent="-342900">
              <a:buFont typeface="Arial" panose="020B0604020202020204" pitchFamily="34" charset="0"/>
              <a:buChar char="•"/>
            </a:pPr>
            <a:r>
              <a:rPr lang="en-US" b="1" dirty="0"/>
              <a:t>Lack of </a:t>
            </a:r>
            <a:r>
              <a:rPr lang="en-US" b="1" dirty="0" err="1"/>
              <a:t>spatio</a:t>
            </a:r>
            <a:r>
              <a:rPr lang="en-US" b="1" dirty="0"/>
              <a:t>-temporal state estimation </a:t>
            </a:r>
            <a:r>
              <a:rPr lang="en-US" dirty="0"/>
              <a:t>Current approaches generally predict whether scale forms, but they do not estimate the </a:t>
            </a:r>
            <a:r>
              <a:rPr lang="en-US" b="1" dirty="0"/>
              <a:t>hidden </a:t>
            </a:r>
            <a:r>
              <a:rPr lang="en-US" b="1" dirty="0" err="1"/>
              <a:t>spatio</a:t>
            </a:r>
            <a:r>
              <a:rPr lang="en-US" b="1" dirty="0"/>
              <a:t>-temporal state</a:t>
            </a:r>
            <a:r>
              <a:rPr lang="en-US" dirty="0"/>
              <a:t> of scale formation by combining sensor observations with mechanistic knowledge.</a:t>
            </a:r>
          </a:p>
        </p:txBody>
      </p:sp>
    </p:spTree>
    <p:extLst>
      <p:ext uri="{BB962C8B-B14F-4D97-AF65-F5344CB8AC3E}">
        <p14:creationId xmlns:p14="http://schemas.microsoft.com/office/powerpoint/2010/main" val="3643351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62C67-D746-089E-B439-B84AA0BEF00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8D59AA9-610A-B3C6-F790-AFC4B61300ED}"/>
              </a:ext>
            </a:extLst>
          </p:cNvPr>
          <p:cNvSpPr>
            <a:spLocks noGrp="1"/>
          </p:cNvSpPr>
          <p:nvPr>
            <p:ph type="title"/>
          </p:nvPr>
        </p:nvSpPr>
        <p:spPr/>
        <p:txBody>
          <a:bodyPr/>
          <a:lstStyle/>
          <a:p>
            <a:r>
              <a:rPr lang="en-US" dirty="0"/>
              <a:t>Research Gaps</a:t>
            </a:r>
          </a:p>
        </p:txBody>
      </p:sp>
      <p:sp>
        <p:nvSpPr>
          <p:cNvPr id="10" name="Content Placeholder 9">
            <a:extLst>
              <a:ext uri="{FF2B5EF4-FFF2-40B4-BE49-F238E27FC236}">
                <a16:creationId xmlns:a16="http://schemas.microsoft.com/office/drawing/2014/main" id="{F80C6602-1B5C-7A3C-AB72-A11325C53C49}"/>
              </a:ext>
            </a:extLst>
          </p:cNvPr>
          <p:cNvSpPr>
            <a:spLocks noGrp="1"/>
          </p:cNvSpPr>
          <p:nvPr>
            <p:ph idx="1"/>
          </p:nvPr>
        </p:nvSpPr>
        <p:spPr>
          <a:xfrm>
            <a:off x="285749" y="1602103"/>
            <a:ext cx="11360819" cy="4579621"/>
          </a:xfrm>
        </p:spPr>
        <p:txBody>
          <a:bodyPr>
            <a:normAutofit/>
          </a:bodyPr>
          <a:lstStyle/>
          <a:p>
            <a:pPr marL="342900" indent="-342900">
              <a:buFont typeface="Arial" panose="020B0604020202020204" pitchFamily="34" charset="0"/>
              <a:buChar char="•"/>
            </a:pPr>
            <a:r>
              <a:rPr lang="en-US" b="1" dirty="0"/>
              <a:t>Static inhibitor management</a:t>
            </a:r>
            <a:r>
              <a:rPr lang="en-US" dirty="0"/>
              <a:t> Current inhibitor dosage methodologies are primarily laboratory-based and static, with little capability to continuously adapt dosage using real-time measurements and predicted deposition behavior.</a:t>
            </a:r>
          </a:p>
          <a:p>
            <a:pPr marL="342900" indent="-342900">
              <a:buFont typeface="Arial" panose="020B0604020202020204" pitchFamily="34" charset="0"/>
              <a:buChar char="•"/>
            </a:pPr>
            <a:r>
              <a:rPr lang="en-US" b="1" dirty="0"/>
              <a:t>Weak integration with digital operations</a:t>
            </a:r>
            <a:r>
              <a:rPr lang="en-US" dirty="0"/>
              <a:t> Few studies integrate prediction, sensor fusion, monitoring, inhibitor optimization, SCADA connectivity, and operational decision support into a single intelligent framework suitable for industrial deployment.</a:t>
            </a:r>
          </a:p>
        </p:txBody>
      </p:sp>
    </p:spTree>
    <p:extLst>
      <p:ext uri="{BB962C8B-B14F-4D97-AF65-F5344CB8AC3E}">
        <p14:creationId xmlns:p14="http://schemas.microsoft.com/office/powerpoint/2010/main" val="26279322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11A3B-12CD-75A8-21F8-B09A620B91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60CD1-EF75-0C45-D7D7-325B2EBB50A4}"/>
              </a:ext>
            </a:extLst>
          </p:cNvPr>
          <p:cNvSpPr>
            <a:spLocks noGrp="1"/>
          </p:cNvSpPr>
          <p:nvPr>
            <p:ph type="title"/>
          </p:nvPr>
        </p:nvSpPr>
        <p:spPr/>
        <p:txBody>
          <a:bodyPr/>
          <a:lstStyle/>
          <a:p>
            <a:r>
              <a:rPr lang="en-US" dirty="0"/>
              <a:t>Research Direction</a:t>
            </a:r>
          </a:p>
        </p:txBody>
      </p:sp>
    </p:spTree>
    <p:extLst>
      <p:ext uri="{BB962C8B-B14F-4D97-AF65-F5344CB8AC3E}">
        <p14:creationId xmlns:p14="http://schemas.microsoft.com/office/powerpoint/2010/main" val="32305613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2AB20B6-5D2B-4ED7-E390-018783B79EF2}"/>
              </a:ext>
            </a:extLst>
          </p:cNvPr>
          <p:cNvSpPr>
            <a:spLocks noGrp="1"/>
          </p:cNvSpPr>
          <p:nvPr>
            <p:ph type="title"/>
          </p:nvPr>
        </p:nvSpPr>
        <p:spPr/>
        <p:txBody>
          <a:bodyPr/>
          <a:lstStyle/>
          <a:p>
            <a:r>
              <a:rPr lang="en-US" dirty="0"/>
              <a:t>Research Direction</a:t>
            </a:r>
          </a:p>
        </p:txBody>
      </p:sp>
      <p:sp>
        <p:nvSpPr>
          <p:cNvPr id="4" name="Content Placeholder 3">
            <a:extLst>
              <a:ext uri="{FF2B5EF4-FFF2-40B4-BE49-F238E27FC236}">
                <a16:creationId xmlns:a16="http://schemas.microsoft.com/office/drawing/2014/main" id="{AFEBB058-41E0-364B-5C57-D4099CDD8676}"/>
              </a:ext>
            </a:extLst>
          </p:cNvPr>
          <p:cNvSpPr>
            <a:spLocks noGrp="1"/>
          </p:cNvSpPr>
          <p:nvPr>
            <p:ph idx="1"/>
          </p:nvPr>
        </p:nvSpPr>
        <p:spPr>
          <a:xfrm>
            <a:off x="285749" y="1602103"/>
            <a:ext cx="11591925" cy="5071413"/>
          </a:xfrm>
        </p:spPr>
        <p:txBody>
          <a:bodyPr>
            <a:normAutofit fontScale="92500" lnSpcReduction="20000"/>
          </a:bodyPr>
          <a:lstStyle/>
          <a:p>
            <a:r>
              <a:rPr lang="en-US" dirty="0"/>
              <a:t>This research proposes an AI-based multimodal sensor fusion framework for intelligent scale management in surface flowlines. The framework integrates operational measurements, water chemistry, and multiple sensing technologies to reconstruct the </a:t>
            </a:r>
            <a:r>
              <a:rPr lang="en-US" dirty="0" err="1"/>
              <a:t>spatio</a:t>
            </a:r>
            <a:r>
              <a:rPr lang="en-US" dirty="0"/>
              <a:t>-temporal evolution of scale deposition and continuously estimate scale type, deposition location, thickness, growth, and scaling severity. These predictions are subsequently used to optimize inhibitor dosage and support real-time operational decision-making through an integrated digital platform.</a:t>
            </a:r>
          </a:p>
          <a:p>
            <a:r>
              <a:rPr lang="en-US" b="1" dirty="0"/>
              <a:t>Research Workflow</a:t>
            </a:r>
            <a:endParaRPr lang="en-US" dirty="0"/>
          </a:p>
          <a:p>
            <a:pPr marL="457200" indent="-457200">
              <a:buFont typeface="+mj-lt"/>
              <a:buAutoNum type="arabicPeriod"/>
            </a:pPr>
            <a:r>
              <a:rPr lang="en-US" dirty="0"/>
              <a:t>Historical &amp; Laboratory Data</a:t>
            </a:r>
          </a:p>
          <a:p>
            <a:pPr marL="457200" indent="-457200">
              <a:buFont typeface="+mj-lt"/>
              <a:buAutoNum type="arabicPeriod"/>
            </a:pPr>
            <a:r>
              <a:rPr lang="en-US" dirty="0"/>
              <a:t>Multimodal Sensor Fusion</a:t>
            </a:r>
          </a:p>
          <a:p>
            <a:pPr marL="457200" indent="-457200">
              <a:buFont typeface="+mj-lt"/>
              <a:buAutoNum type="arabicPeriod"/>
            </a:pPr>
            <a:r>
              <a:rPr lang="en-US" dirty="0" err="1"/>
              <a:t>Spatio</a:t>
            </a:r>
            <a:r>
              <a:rPr lang="en-US" dirty="0"/>
              <a:t>-Temporal Scale State Estimation</a:t>
            </a:r>
          </a:p>
          <a:p>
            <a:pPr marL="457200" indent="-457200">
              <a:buFont typeface="+mj-lt"/>
              <a:buAutoNum type="arabicPeriod"/>
            </a:pPr>
            <a:r>
              <a:rPr lang="en-US" dirty="0"/>
              <a:t>Physics-Informed AI Prediction</a:t>
            </a:r>
          </a:p>
          <a:p>
            <a:pPr marL="457200" indent="-457200">
              <a:buFont typeface="+mj-lt"/>
              <a:buAutoNum type="arabicPeriod"/>
            </a:pPr>
            <a:r>
              <a:rPr lang="en-US" dirty="0"/>
              <a:t>Adaptive Inhibitor Optimization</a:t>
            </a:r>
          </a:p>
          <a:p>
            <a:pPr marL="457200" indent="-457200">
              <a:buFont typeface="+mj-lt"/>
              <a:buAutoNum type="arabicPeriod"/>
            </a:pPr>
            <a:r>
              <a:rPr lang="en-US" dirty="0"/>
              <a:t>Digital Decision-Support Platform</a:t>
            </a:r>
          </a:p>
          <a:p>
            <a:pPr>
              <a:spcAft>
                <a:spcPts val="0"/>
              </a:spcAft>
            </a:pPr>
            <a:r>
              <a:rPr lang="en-US" b="1" dirty="0"/>
              <a:t>Expected Outcome:</a:t>
            </a:r>
            <a:r>
              <a:rPr lang="en-US" dirty="0"/>
              <a:t> A digital framework capable of continuously estimating where scale forms, how it evolves over time, and how inhibitor dosage should be adjusted to minimize scaling risk and operational cost.</a:t>
            </a:r>
          </a:p>
        </p:txBody>
      </p:sp>
    </p:spTree>
    <p:extLst>
      <p:ext uri="{BB962C8B-B14F-4D97-AF65-F5344CB8AC3E}">
        <p14:creationId xmlns:p14="http://schemas.microsoft.com/office/powerpoint/2010/main" val="14813713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BCD894-5E90-9654-A8B0-A44D3281BF8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163587E-8867-B2E7-65BA-F12B5077CA8A}"/>
              </a:ext>
            </a:extLst>
          </p:cNvPr>
          <p:cNvSpPr>
            <a:spLocks noGrp="1"/>
          </p:cNvSpPr>
          <p:nvPr>
            <p:ph type="title"/>
          </p:nvPr>
        </p:nvSpPr>
        <p:spPr/>
        <p:txBody>
          <a:bodyPr/>
          <a:lstStyle/>
          <a:p>
            <a:r>
              <a:rPr lang="en-US" dirty="0"/>
              <a:t>Objective 1</a:t>
            </a:r>
          </a:p>
        </p:txBody>
      </p:sp>
      <p:sp>
        <p:nvSpPr>
          <p:cNvPr id="4" name="Content Placeholder 3">
            <a:extLst>
              <a:ext uri="{FF2B5EF4-FFF2-40B4-BE49-F238E27FC236}">
                <a16:creationId xmlns:a16="http://schemas.microsoft.com/office/drawing/2014/main" id="{AC7F6D58-298B-5DB2-BBA8-15F71B2B4B8F}"/>
              </a:ext>
            </a:extLst>
          </p:cNvPr>
          <p:cNvSpPr>
            <a:spLocks noGrp="1"/>
          </p:cNvSpPr>
          <p:nvPr>
            <p:ph idx="1"/>
          </p:nvPr>
        </p:nvSpPr>
        <p:spPr/>
        <p:txBody>
          <a:bodyPr>
            <a:normAutofit fontScale="92500" lnSpcReduction="20000"/>
          </a:bodyPr>
          <a:lstStyle/>
          <a:p>
            <a:r>
              <a:rPr lang="en-US" b="1" dirty="0"/>
              <a:t>Develop an AI-Based Multimodal Sensor Fusion Framework for </a:t>
            </a:r>
            <a:r>
              <a:rPr lang="en-US" b="1" dirty="0" err="1"/>
              <a:t>Spatio</a:t>
            </a:r>
            <a:r>
              <a:rPr lang="en-US" b="1" dirty="0"/>
              <a:t>-Temporal Scale State Estimation</a:t>
            </a:r>
          </a:p>
          <a:p>
            <a:r>
              <a:rPr lang="en-US" b="1" dirty="0"/>
              <a:t>Goal </a:t>
            </a:r>
            <a:r>
              <a:rPr lang="en-US" dirty="0"/>
              <a:t>Develop an AI framework that integrates operational data and multiple sensing technologies to continuously estimate the </a:t>
            </a:r>
            <a:r>
              <a:rPr lang="en-US" dirty="0" err="1"/>
              <a:t>spatio</a:t>
            </a:r>
            <a:r>
              <a:rPr lang="en-US" dirty="0"/>
              <a:t>-temporal evolution of scale deposition in surface flowlines.</a:t>
            </a:r>
          </a:p>
          <a:p>
            <a:r>
              <a:rPr lang="en-US" b="1" dirty="0"/>
              <a:t>Methodology</a:t>
            </a:r>
          </a:p>
          <a:p>
            <a:pPr marL="342900" indent="-342900">
              <a:buFont typeface="Arial" panose="020B0604020202020204" pitchFamily="34" charset="0"/>
              <a:buChar char="•"/>
            </a:pPr>
            <a:r>
              <a:rPr lang="en-US" dirty="0"/>
              <a:t>Develop a multimodal data acquisition framework integrating:  Pressure sensors, Temperature sensors, Flow-rate measurements, Water chemistry measurements, Ultrasonic wave travel time, Guided-wave responses (or other compatible sensing technologies) </a:t>
            </a:r>
          </a:p>
          <a:p>
            <a:pPr marL="342900" indent="-342900">
              <a:buFont typeface="Arial" panose="020B0604020202020204" pitchFamily="34" charset="0"/>
              <a:buChar char="•"/>
            </a:pPr>
            <a:r>
              <a:rPr lang="en-US" dirty="0"/>
              <a:t>Perform data preprocessing, feature extraction, synchronization, and sensor fusion. </a:t>
            </a:r>
          </a:p>
          <a:p>
            <a:pPr marL="342900" indent="-342900">
              <a:buFont typeface="Arial" panose="020B0604020202020204" pitchFamily="34" charset="0"/>
              <a:buChar char="•"/>
            </a:pPr>
            <a:r>
              <a:rPr lang="en-US" dirty="0"/>
              <a:t>Develop AI models capable of learning relationships between multimodal measurements and scale behavior. </a:t>
            </a:r>
          </a:p>
          <a:p>
            <a:pPr marL="342900" indent="-342900">
              <a:buFont typeface="Arial" panose="020B0604020202020204" pitchFamily="34" charset="0"/>
              <a:buChar char="•"/>
            </a:pPr>
            <a:r>
              <a:rPr lang="en-US" dirty="0"/>
              <a:t>Estimate: Scale type, Deposition location, Deposit thickness, Growth rate, Scaling severity </a:t>
            </a:r>
          </a:p>
          <a:p>
            <a:pPr marL="342900" indent="-342900">
              <a:buFont typeface="Arial" panose="020B0604020202020204" pitchFamily="34" charset="0"/>
              <a:buChar char="•"/>
            </a:pPr>
            <a:r>
              <a:rPr lang="en-US" dirty="0"/>
              <a:t>Continuously update predictions using streaming operational data. </a:t>
            </a:r>
          </a:p>
          <a:p>
            <a:pPr marL="342900" indent="-342900">
              <a:buFont typeface="Arial" panose="020B0604020202020204" pitchFamily="34" charset="0"/>
              <a:buChar char="•"/>
            </a:pPr>
            <a:r>
              <a:rPr lang="en-US" dirty="0"/>
              <a:t>Validate using laboratory experiments, simulations, and historical field data.</a:t>
            </a:r>
          </a:p>
          <a:p>
            <a:endParaRPr lang="en-US" dirty="0"/>
          </a:p>
        </p:txBody>
      </p:sp>
    </p:spTree>
    <p:extLst>
      <p:ext uri="{BB962C8B-B14F-4D97-AF65-F5344CB8AC3E}">
        <p14:creationId xmlns:p14="http://schemas.microsoft.com/office/powerpoint/2010/main" val="8883343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D9BAA-3B6C-5EC1-8C9E-ED5D2DB70F3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B4F461C-9183-3E54-3892-832C49A61E31}"/>
              </a:ext>
            </a:extLst>
          </p:cNvPr>
          <p:cNvSpPr>
            <a:spLocks noGrp="1"/>
          </p:cNvSpPr>
          <p:nvPr>
            <p:ph type="title"/>
          </p:nvPr>
        </p:nvSpPr>
        <p:spPr/>
        <p:txBody>
          <a:bodyPr/>
          <a:lstStyle/>
          <a:p>
            <a:r>
              <a:rPr lang="en-US" dirty="0"/>
              <a:t>Objective 2</a:t>
            </a:r>
          </a:p>
        </p:txBody>
      </p:sp>
      <p:sp>
        <p:nvSpPr>
          <p:cNvPr id="4" name="Content Placeholder 3">
            <a:extLst>
              <a:ext uri="{FF2B5EF4-FFF2-40B4-BE49-F238E27FC236}">
                <a16:creationId xmlns:a16="http://schemas.microsoft.com/office/drawing/2014/main" id="{470E0F3F-05BE-86B9-4F58-B1A2D4AB6434}"/>
              </a:ext>
            </a:extLst>
          </p:cNvPr>
          <p:cNvSpPr>
            <a:spLocks noGrp="1"/>
          </p:cNvSpPr>
          <p:nvPr>
            <p:ph idx="1"/>
          </p:nvPr>
        </p:nvSpPr>
        <p:spPr/>
        <p:txBody>
          <a:bodyPr>
            <a:normAutofit lnSpcReduction="10000"/>
          </a:bodyPr>
          <a:lstStyle/>
          <a:p>
            <a:r>
              <a:rPr lang="en-US" b="1" dirty="0"/>
              <a:t>Develop an Adaptive Scale Inhibitor Optimization Framework</a:t>
            </a:r>
          </a:p>
          <a:p>
            <a:r>
              <a:rPr lang="en-US" b="1" dirty="0"/>
              <a:t>Goal</a:t>
            </a:r>
          </a:p>
          <a:p>
            <a:r>
              <a:rPr lang="en-US" dirty="0"/>
              <a:t>Utilize the estimated scale state to determine optimal inhibitor dosage under continuously changing operating conditions.</a:t>
            </a:r>
          </a:p>
          <a:p>
            <a:r>
              <a:rPr lang="en-US" b="1" dirty="0"/>
              <a:t>Methodology</a:t>
            </a:r>
          </a:p>
          <a:p>
            <a:pPr marL="342900" indent="-342900">
              <a:buFont typeface="Arial" panose="020B0604020202020204" pitchFamily="34" charset="0"/>
              <a:buChar char="•"/>
            </a:pPr>
            <a:r>
              <a:rPr lang="en-US" dirty="0"/>
              <a:t>Use outputs from the AI sensor-fusion framework. </a:t>
            </a:r>
          </a:p>
          <a:p>
            <a:pPr marL="342900" indent="-342900">
              <a:buFont typeface="Arial" panose="020B0604020202020204" pitchFamily="34" charset="0"/>
              <a:buChar char="•"/>
            </a:pPr>
            <a:r>
              <a:rPr lang="en-US" dirty="0"/>
              <a:t>Integrate: Predicted scale type, Deposition location, Deposit thickness, Growth rate, Water chemistry, Operating conditions </a:t>
            </a:r>
          </a:p>
          <a:p>
            <a:pPr marL="342900" indent="-342900">
              <a:buFont typeface="Arial" panose="020B0604020202020204" pitchFamily="34" charset="0"/>
              <a:buChar char="•"/>
            </a:pPr>
            <a:r>
              <a:rPr lang="en-US" dirty="0"/>
              <a:t>Optimize: Inhibitor concentration, and possibly Injection timing</a:t>
            </a:r>
          </a:p>
          <a:p>
            <a:pPr marL="342900" indent="-342900">
              <a:buFont typeface="Arial" panose="020B0604020202020204" pitchFamily="34" charset="0"/>
              <a:buChar char="•"/>
            </a:pPr>
            <a:r>
              <a:rPr lang="en-US" dirty="0"/>
              <a:t>Compare adaptive recommendations with conventional fixed-dosage strategies. </a:t>
            </a:r>
          </a:p>
          <a:p>
            <a:pPr marL="342900" indent="-342900">
              <a:buFont typeface="Arial" panose="020B0604020202020204" pitchFamily="34" charset="0"/>
              <a:buChar char="•"/>
            </a:pPr>
            <a:r>
              <a:rPr lang="en-US" dirty="0"/>
              <a:t>Evaluate improvements in inhibitor efficiency, chemical consumption, and scaling mitigation.</a:t>
            </a:r>
          </a:p>
          <a:p>
            <a:endParaRPr lang="en-US" dirty="0"/>
          </a:p>
        </p:txBody>
      </p:sp>
    </p:spTree>
    <p:extLst>
      <p:ext uri="{BB962C8B-B14F-4D97-AF65-F5344CB8AC3E}">
        <p14:creationId xmlns:p14="http://schemas.microsoft.com/office/powerpoint/2010/main" val="31841833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F3AAE-B931-7C01-0C51-BBE932D91F20}"/>
              </a:ext>
            </a:extLst>
          </p:cNvPr>
          <p:cNvSpPr>
            <a:spLocks noGrp="1"/>
          </p:cNvSpPr>
          <p:nvPr>
            <p:ph type="title"/>
          </p:nvPr>
        </p:nvSpPr>
        <p:spPr/>
        <p:txBody>
          <a:bodyPr/>
          <a:lstStyle/>
          <a:p>
            <a:r>
              <a:rPr lang="en-US" dirty="0"/>
              <a:t>Objective 3</a:t>
            </a:r>
          </a:p>
        </p:txBody>
      </p:sp>
      <p:sp>
        <p:nvSpPr>
          <p:cNvPr id="3" name="Content Placeholder 2">
            <a:extLst>
              <a:ext uri="{FF2B5EF4-FFF2-40B4-BE49-F238E27FC236}">
                <a16:creationId xmlns:a16="http://schemas.microsoft.com/office/drawing/2014/main" id="{0D026FBF-091C-74DA-0EDA-864AA66C3F1C}"/>
              </a:ext>
            </a:extLst>
          </p:cNvPr>
          <p:cNvSpPr>
            <a:spLocks noGrp="1"/>
          </p:cNvSpPr>
          <p:nvPr>
            <p:ph idx="1"/>
          </p:nvPr>
        </p:nvSpPr>
        <p:spPr/>
        <p:txBody>
          <a:bodyPr>
            <a:normAutofit/>
          </a:bodyPr>
          <a:lstStyle/>
          <a:p>
            <a:r>
              <a:rPr lang="en-US" b="1" dirty="0"/>
              <a:t>Develop an Integrated Digital Decision-Support Platform</a:t>
            </a:r>
          </a:p>
          <a:p>
            <a:r>
              <a:rPr lang="en-US" b="1" dirty="0"/>
              <a:t>Goal:</a:t>
            </a:r>
            <a:r>
              <a:rPr lang="en-US" dirty="0"/>
              <a:t> Develop a unified digital platform that combines prediction, monitoring, and optimization for intelligent scale management.</a:t>
            </a:r>
          </a:p>
          <a:p>
            <a:r>
              <a:rPr lang="en-US" b="1" dirty="0"/>
              <a:t>Methodology</a:t>
            </a:r>
          </a:p>
          <a:p>
            <a:pPr marL="342900" indent="-342900">
              <a:buFont typeface="Arial" panose="020B0604020202020204" pitchFamily="34" charset="0"/>
              <a:buChar char="•"/>
            </a:pPr>
            <a:r>
              <a:rPr lang="en-US" dirty="0"/>
              <a:t>Integrate: AI prediction module, Multimodal sensor fusion module, Scale state estimation, Inhibitor optimization </a:t>
            </a:r>
          </a:p>
          <a:p>
            <a:pPr marL="342900" indent="-342900">
              <a:buFont typeface="Arial" panose="020B0604020202020204" pitchFamily="34" charset="0"/>
              <a:buChar char="•"/>
            </a:pPr>
            <a:r>
              <a:rPr lang="en-US" dirty="0"/>
              <a:t>Visualize: Real-time scaling risk, Predicted scale type, Deposition location, Deposit thickness, Growth evolution, Inhibitor recommendations </a:t>
            </a:r>
          </a:p>
          <a:p>
            <a:pPr marL="342900" indent="-342900">
              <a:buFont typeface="Arial" panose="020B0604020202020204" pitchFamily="34" charset="0"/>
              <a:buChar char="•"/>
            </a:pPr>
            <a:r>
              <a:rPr lang="en-US" dirty="0"/>
              <a:t>Generate automated alerts and maintenance recommendations. </a:t>
            </a:r>
          </a:p>
          <a:p>
            <a:pPr marL="342900" indent="-342900">
              <a:buFont typeface="Arial" panose="020B0604020202020204" pitchFamily="34" charset="0"/>
              <a:buChar char="•"/>
            </a:pPr>
            <a:r>
              <a:rPr lang="en-US" dirty="0"/>
              <a:t>Design the framework for future deployment with industrial SCADA systems and digital oilfield infrastructure.</a:t>
            </a:r>
          </a:p>
          <a:p>
            <a:endParaRPr lang="en-US" dirty="0"/>
          </a:p>
        </p:txBody>
      </p:sp>
    </p:spTree>
    <p:extLst>
      <p:ext uri="{BB962C8B-B14F-4D97-AF65-F5344CB8AC3E}">
        <p14:creationId xmlns:p14="http://schemas.microsoft.com/office/powerpoint/2010/main" val="931006389"/>
      </p:ext>
    </p:extLst>
  </p:cSld>
  <p:clrMapOvr>
    <a:masterClrMapping/>
  </p:clrMapOvr>
</p:sld>
</file>

<file path=ppt/theme/theme1.xml><?xml version="1.0" encoding="utf-8"?>
<a:theme xmlns:a="http://schemas.openxmlformats.org/drawingml/2006/main" name="AccentBoxVTI">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Times New Roman styl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9F778A78-DC9A-453A-A82D-A75CAD503E15}" vid="{EA961113-7CC4-4569-8A6A-7BC2C1E2F401}"/>
    </a:ext>
  </a:extLst>
</a:theme>
</file>

<file path=docProps/app.xml><?xml version="1.0" encoding="utf-8"?>
<Properties xmlns="http://schemas.openxmlformats.org/officeDocument/2006/extended-properties" xmlns:vt="http://schemas.openxmlformats.org/officeDocument/2006/docPropsVTypes">
  <TotalTime>1183</TotalTime>
  <Words>5753</Words>
  <Application>Microsoft Macintosh PowerPoint</Application>
  <PresentationFormat>Widescreen</PresentationFormat>
  <Paragraphs>495</Paragraphs>
  <Slides>43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43</vt:i4>
      </vt:variant>
    </vt:vector>
  </HeadingPairs>
  <TitlesOfParts>
    <vt:vector size="47" baseType="lpstr">
      <vt:lpstr>Arial</vt:lpstr>
      <vt:lpstr>Calibri</vt:lpstr>
      <vt:lpstr>Times New Roman</vt:lpstr>
      <vt:lpstr>AccentBoxVTI</vt:lpstr>
      <vt:lpstr>Scale formation</vt:lpstr>
      <vt:lpstr>Problem definition</vt:lpstr>
      <vt:lpstr>Problem definition</vt:lpstr>
      <vt:lpstr>Kinetic Models</vt:lpstr>
      <vt:lpstr>PowerPoint Presentation</vt:lpstr>
      <vt:lpstr>PowerPoint Presentation</vt:lpstr>
      <vt:lpstr>PowerPoint Presentation</vt:lpstr>
      <vt:lpstr>PowerPoint Presentation</vt:lpstr>
      <vt:lpstr>Transport - Deposition Approaches</vt:lpstr>
      <vt:lpstr>PowerPoint Presentation</vt:lpstr>
      <vt:lpstr>PowerPoint Presentation</vt:lpstr>
      <vt:lpstr>PowerPoint Presentation</vt:lpstr>
      <vt:lpstr>PowerPoint Presentation</vt:lpstr>
      <vt:lpstr>Inhibitor modeling</vt:lpstr>
      <vt:lpstr>PowerPoint Presentation</vt:lpstr>
      <vt:lpstr>PowerPoint Presentation</vt:lpstr>
      <vt:lpstr>PowerPoint Presentation</vt:lpstr>
      <vt:lpstr>ML / Scale Tendency</vt:lpstr>
      <vt:lpstr>PowerPoint Presentation</vt:lpstr>
      <vt:lpstr>PowerPoint Presentation</vt:lpstr>
      <vt:lpstr>ML / Scale Thermodynamics</vt:lpstr>
      <vt:lpstr>PowerPoint Presentation</vt:lpstr>
      <vt:lpstr>PowerPoint Presentation</vt:lpstr>
      <vt:lpstr>ML / Scale thicknes</vt:lpstr>
      <vt:lpstr>PowerPoint Presentation</vt:lpstr>
      <vt:lpstr>PowerPoint Presentation</vt:lpstr>
      <vt:lpstr>Similar applications</vt:lpstr>
      <vt:lpstr>PowerPoint Presentation</vt:lpstr>
      <vt:lpstr>PowerPoint Presentation</vt:lpstr>
      <vt:lpstr>PowerPoint Presentation</vt:lpstr>
      <vt:lpstr>PowerPoint Presentation</vt:lpstr>
      <vt:lpstr>Pipe monitoring</vt:lpstr>
      <vt:lpstr>PowerPoint Presentation</vt:lpstr>
      <vt:lpstr>PowerPoint Presentation</vt:lpstr>
      <vt:lpstr>PowerPoint Presentation</vt:lpstr>
      <vt:lpstr>Research Gaps</vt:lpstr>
      <vt:lpstr>Research Gaps</vt:lpstr>
      <vt:lpstr>Research Gaps</vt:lpstr>
      <vt:lpstr>Research Direction</vt:lpstr>
      <vt:lpstr>Research Direction</vt:lpstr>
      <vt:lpstr>Objective 1</vt:lpstr>
      <vt:lpstr>Objective 2</vt:lpstr>
      <vt:lpstr>Objective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PID Controller Design and Tuning</dc:title>
  <dc:creator>Mustapha Kamel Khaldi</dc:creator>
  <cp:lastModifiedBy>SOLIU ALLEY</cp:lastModifiedBy>
  <cp:revision>40</cp:revision>
  <dcterms:created xsi:type="dcterms:W3CDTF">2022-10-04T07:59:21Z</dcterms:created>
  <dcterms:modified xsi:type="dcterms:W3CDTF">2026-09-08T19:15:09Z</dcterms:modified>
</cp:coreProperties>
</file>