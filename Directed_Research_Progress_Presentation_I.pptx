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charts/chart3.xml" ContentType="application/vnd.openxmlformats-officedocument.drawingml.chart+xml"/>
  <Override PartName="/ppt/notesSlides/notesSlide14.xml" ContentType="application/vnd.openxmlformats-officedocument.presentationml.notesSlide+xml"/>
  <Override PartName="/ppt/charts/chart4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5.xml" ContentType="application/vnd.openxmlformats-officedocument.drawingml.chart+xml"/>
  <Override PartName="/ppt/notesSlides/notesSlide17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80" r:id="rId6"/>
    <p:sldId id="261" r:id="rId7"/>
    <p:sldId id="262" r:id="rId8"/>
    <p:sldId id="263" r:id="rId9"/>
    <p:sldId id="264" r:id="rId10"/>
    <p:sldId id="265" r:id="rId11"/>
    <p:sldId id="267" r:id="rId12"/>
    <p:sldId id="269" r:id="rId13"/>
    <p:sldId id="268" r:id="rId14"/>
    <p:sldId id="270" r:id="rId15"/>
    <p:sldId id="271" r:id="rId16"/>
    <p:sldId id="272" r:id="rId17"/>
    <p:sldId id="279" r:id="rId18"/>
    <p:sldId id="273" r:id="rId19"/>
    <p:sldId id="274" r:id="rId20"/>
    <p:sldId id="276" r:id="rId21"/>
    <p:sldId id="277" r:id="rId22"/>
    <p:sldId id="278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3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573F"/>
                </a:solidFill>
                <a:latin typeface="Calibri"/>
              </a:defRPr>
            </a:pPr>
            <a:r>
              <a:rPr lang="en-US" sz="1400" b="0" i="0" u="none" strike="noStrike">
                <a:solidFill>
                  <a:srgbClr val="00573F"/>
                </a:solidFill>
                <a:latin typeface="Calibri"/>
              </a:rPr>
              <a:t>Direct relevance and coverage by database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Direct relevance %</c:v>
                </c:pt>
              </c:strCache>
            </c:strRef>
          </c:tx>
          <c:spPr>
            <a:solidFill>
              <a:srgbClr val="008540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73938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Scopus (354)</c:v>
                </c:pt>
                <c:pt idx="1">
                  <c:v>Web of Science (192)</c:v>
                </c:pt>
                <c:pt idx="2">
                  <c:v>IEEE Xplore (27)</c:v>
                </c:pt>
                <c:pt idx="3">
                  <c:v>ScienceDirect (2)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87.9</c:v>
                </c:pt>
                <c:pt idx="1">
                  <c:v>82.3</c:v>
                </c:pt>
                <c:pt idx="2">
                  <c:v>29.6</c:v>
                </c:pt>
                <c:pt idx="3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6FB-2640-9BD8-2DB250E9351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Coverage % (R+M)</c:v>
                </c:pt>
              </c:strCache>
            </c:strRef>
          </c:tx>
          <c:spPr>
            <a:solidFill>
              <a:srgbClr val="DAC961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73938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Scopus (354)</c:v>
                </c:pt>
                <c:pt idx="1">
                  <c:v>Web of Science (192)</c:v>
                </c:pt>
                <c:pt idx="2">
                  <c:v>IEEE Xplore (27)</c:v>
                </c:pt>
                <c:pt idx="3">
                  <c:v>ScienceDirect (2)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97.5</c:v>
                </c:pt>
                <c:pt idx="1">
                  <c:v>94.8</c:v>
                </c:pt>
                <c:pt idx="2">
                  <c:v>55.6</c:v>
                </c:pt>
                <c:pt idx="3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6FB-2640-9BD8-2DB250E9351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393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5"/>
          <c:min val="0"/>
        </c:scaling>
        <c:delete val="0"/>
        <c:axPos val="l"/>
        <c:majorGridlines>
          <c:spPr>
            <a:ln w="9525" cap="flat">
              <a:solidFill>
                <a:srgbClr val="E3E5EA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E6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7393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573F"/>
                </a:solidFill>
                <a:latin typeface="Calibri"/>
              </a:defRPr>
            </a:pPr>
            <a:r>
              <a:rPr lang="en-US" sz="1400" b="0" i="0" u="none" strike="noStrike">
                <a:solidFill>
                  <a:srgbClr val="00573F"/>
                </a:solidFill>
                <a:latin typeface="Calibri"/>
              </a:rPr>
              <a:t>Records by classification</a:t>
            </a:r>
          </a:p>
        </c:rich>
      </c:tx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Relevant (R)</c:v>
                </c:pt>
              </c:strCache>
            </c:strRef>
          </c:tx>
          <c:spPr>
            <a:solidFill>
              <a:srgbClr val="00854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Candidate 1 (303)</c:v>
                </c:pt>
                <c:pt idx="1">
                  <c:v>Candidate 2 (354)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237</c:v>
                </c:pt>
                <c:pt idx="1">
                  <c:v>311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22-7440-AEE1-B2C91C51704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Maybe (M)</c:v>
                </c:pt>
              </c:strCache>
            </c:strRef>
          </c:tx>
          <c:spPr>
            <a:solidFill>
              <a:srgbClr val="DAC9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Candidate 1 (303)</c:v>
                </c:pt>
                <c:pt idx="1">
                  <c:v>Candidate 2 (354)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41</c:v>
                </c:pt>
                <c:pt idx="1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322-7440-AEE1-B2C91C51704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Irrelevant (I)</c:v>
                </c:pt>
              </c:strCache>
            </c:strRef>
          </c:tx>
          <c:spPr>
            <a:solidFill>
              <a:srgbClr val="A9ADB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Candidate 1 (303)</c:v>
                </c:pt>
                <c:pt idx="1">
                  <c:v>Candidate 2 (354)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25</c:v>
                </c:pt>
                <c:pt idx="1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322-7440-AEE1-B2C91C51704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393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t"/>
        <c:majorGridlines>
          <c:spPr>
            <a:ln w="9525" cap="flat">
              <a:solidFill>
                <a:srgbClr val="E3E5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E6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7393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573F"/>
                </a:solidFill>
                <a:latin typeface="Calibri"/>
              </a:defRPr>
            </a:pPr>
            <a:r>
              <a:rPr lang="en-US" sz="1400" b="0" i="0" u="none" strike="noStrike">
                <a:solidFill>
                  <a:srgbClr val="00573F"/>
                </a:solidFill>
                <a:latin typeface="Calibri"/>
              </a:rPr>
              <a:t>Classification by concept block (records)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Relevant (R)</c:v>
                </c:pt>
              </c:strCache>
            </c:strRef>
          </c:tx>
          <c:spPr>
            <a:solidFill>
              <a:srgbClr val="00854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D  Kinetics (18)</c:v>
                </c:pt>
                <c:pt idx="1">
                  <c:v>E  AI / ML (5)</c:v>
                </c:pt>
                <c:pt idx="2">
                  <c:v>F  Sensing (13)</c:v>
                </c:pt>
                <c:pt idx="3">
                  <c:v>G  Inhibitor (11)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2</c:v>
                </c:pt>
                <c:pt idx="2">
                  <c:v>5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56-3C4C-9288-5EB10B642C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Maybe (M)</c:v>
                </c:pt>
              </c:strCache>
            </c:strRef>
          </c:tx>
          <c:spPr>
            <a:solidFill>
              <a:srgbClr val="DAC9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D  Kinetics (18)</c:v>
                </c:pt>
                <c:pt idx="1">
                  <c:v>E  AI / ML (5)</c:v>
                </c:pt>
                <c:pt idx="2">
                  <c:v>F  Sensing (13)</c:v>
                </c:pt>
                <c:pt idx="3">
                  <c:v>G  Inhibitor (11)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F56-3C4C-9288-5EB10B642CC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Irrelevant (I)</c:v>
                </c:pt>
              </c:strCache>
            </c:strRef>
          </c:tx>
          <c:spPr>
            <a:solidFill>
              <a:srgbClr val="A9ADB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D  Kinetics (18)</c:v>
                </c:pt>
                <c:pt idx="1">
                  <c:v>E  AI / ML (5)</c:v>
                </c:pt>
                <c:pt idx="2">
                  <c:v>F  Sensing (13)</c:v>
                </c:pt>
                <c:pt idx="3">
                  <c:v>G  Inhibitor (11)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</c:v>
                </c:pt>
                <c:pt idx="1">
                  <c:v>2</c:v>
                </c:pt>
                <c:pt idx="2">
                  <c:v>6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F56-3C4C-9288-5EB10B642CC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393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5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E6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7393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573F"/>
                </a:solidFill>
                <a:latin typeface="Calibri"/>
              </a:defRPr>
            </a:pPr>
            <a:r>
              <a:rPr lang="en-US" sz="1400" b="0" i="0" u="none" strike="noStrike">
                <a:solidFill>
                  <a:srgbClr val="00573F"/>
                </a:solidFill>
                <a:latin typeface="Calibri"/>
              </a:rPr>
              <a:t>Master corpus (n = 411) by source database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Source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854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125-1A46-B6F7-CF5A7E8AA0E7}"/>
              </c:ext>
            </c:extLst>
          </c:dPt>
          <c:dPt>
            <c:idx val="1"/>
            <c:bubble3D val="0"/>
            <c:spPr>
              <a:solidFill>
                <a:srgbClr val="00573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125-1A46-B6F7-CF5A7E8AA0E7}"/>
              </c:ext>
            </c:extLst>
          </c:dPt>
          <c:dPt>
            <c:idx val="2"/>
            <c:bubble3D val="0"/>
            <c:spPr>
              <a:solidFill>
                <a:srgbClr val="DAC9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125-1A46-B6F7-CF5A7E8AA0E7}"/>
              </c:ext>
            </c:extLst>
          </c:dPt>
          <c:dPt>
            <c:idx val="3"/>
            <c:bubble3D val="0"/>
            <c:spPr>
              <a:solidFill>
                <a:srgbClr val="003E5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125-1A46-B6F7-CF5A7E8AA0E7}"/>
              </c:ext>
            </c:extLst>
          </c:dPt>
          <c:dPt>
            <c:idx val="4"/>
            <c:bubble3D val="0"/>
            <c:spPr>
              <a:solidFill>
                <a:srgbClr val="A9ADB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125-1A46-B6F7-CF5A7E8AA0E7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125-1A46-B6F7-CF5A7E8AA0E7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125-1A46-B6F7-CF5A7E8AA0E7}"/>
                </c:ext>
              </c:extLst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125-1A46-B6F7-CF5A7E8AA0E7}"/>
                </c:ext>
              </c:extLst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125-1A46-B6F7-CF5A7E8AA0E7}"/>
                </c:ext>
              </c:extLst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125-1A46-B6F7-CF5A7E8AA0E7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Scopus only</c:v>
                </c:pt>
                <c:pt idx="1">
                  <c:v>Scopus + WoS</c:v>
                </c:pt>
                <c:pt idx="2">
                  <c:v>WoS only</c:v>
                </c:pt>
                <c:pt idx="3">
                  <c:v>IEEE</c:v>
                </c:pt>
                <c:pt idx="4">
                  <c:v>ScienceDirect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212</c:v>
                </c:pt>
                <c:pt idx="1">
                  <c:v>122</c:v>
                </c:pt>
                <c:pt idx="2">
                  <c:v>60</c:v>
                </c:pt>
                <c:pt idx="3">
                  <c:v>15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125-1A46-B6F7-CF5A7E8AA0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300">
              <a:solidFill>
                <a:srgbClr val="37393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573F"/>
                </a:solidFill>
                <a:latin typeface="Calibri"/>
              </a:defRPr>
            </a:pPr>
            <a:r>
              <a:rPr lang="en-US" sz="1400" b="0" i="0" u="none" strike="noStrike">
                <a:solidFill>
                  <a:srgbClr val="00573F"/>
                </a:solidFill>
                <a:latin typeface="Calibri"/>
              </a:rPr>
              <a:t>Records per publication year (n = 411)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rgbClr val="00854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780-2C4B-BD3F-7A8A4DB4DFEE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780-2C4B-BD3F-7A8A4DB4DFEE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8780-2C4B-BD3F-7A8A4DB4DFEE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8780-2C4B-BD3F-7A8A4DB4DFEE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8780-2C4B-BD3F-7A8A4DB4DFEE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8780-2C4B-BD3F-7A8A4DB4DFEE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8780-2C4B-BD3F-7A8A4DB4DFEE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8780-2C4B-BD3F-7A8A4DB4DFEE}"/>
              </c:ext>
            </c:extLst>
          </c:dPt>
          <c:dPt>
            <c:idx val="8"/>
            <c:invertIfNegative val="0"/>
            <c:bubble3D val="0"/>
            <c:spPr>
              <a:solidFill>
                <a:srgbClr val="00573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8780-2C4B-BD3F-7A8A4DB4DFEE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8780-2C4B-BD3F-7A8A4DB4DFEE}"/>
              </c:ext>
            </c:extLst>
          </c:dPt>
          <c:dPt>
            <c:idx val="10"/>
            <c:invertIfNegative val="0"/>
            <c:bubble3D val="0"/>
            <c:spPr>
              <a:solidFill>
                <a:srgbClr val="DAC9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8780-2C4B-BD3F-7A8A4DB4DFE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73938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  <c:pt idx="10">
                  <c:v>2026*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29</c:v>
                </c:pt>
                <c:pt idx="1">
                  <c:v>35</c:v>
                </c:pt>
                <c:pt idx="2">
                  <c:v>25</c:v>
                </c:pt>
                <c:pt idx="3">
                  <c:v>40</c:v>
                </c:pt>
                <c:pt idx="4">
                  <c:v>43</c:v>
                </c:pt>
                <c:pt idx="5">
                  <c:v>42</c:v>
                </c:pt>
                <c:pt idx="6">
                  <c:v>44</c:v>
                </c:pt>
                <c:pt idx="7">
                  <c:v>30</c:v>
                </c:pt>
                <c:pt idx="8">
                  <c:v>48</c:v>
                </c:pt>
                <c:pt idx="9">
                  <c:v>39</c:v>
                </c:pt>
                <c:pt idx="10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8780-2C4B-BD3F-7A8A4DB4DFE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393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5"/>
          <c:min val="0"/>
        </c:scaling>
        <c:delete val="0"/>
        <c:axPos val="l"/>
        <c:majorGridlines>
          <c:spPr>
            <a:ln w="9525" cap="flat">
              <a:solidFill>
                <a:srgbClr val="E3E5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E6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573F"/>
                </a:solidFill>
                <a:latin typeface="Calibri"/>
              </a:defRPr>
            </a:pPr>
            <a:r>
              <a:rPr lang="en-US" sz="1400" b="0" i="0" u="none" strike="noStrike">
                <a:solidFill>
                  <a:srgbClr val="00573F"/>
                </a:solidFill>
                <a:latin typeface="Calibri"/>
              </a:rPr>
              <a:t>Scale species mentioned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rgbClr val="00854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73938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CaCO₃</c:v>
                </c:pt>
                <c:pt idx="1">
                  <c:v>BaSO₄</c:v>
                </c:pt>
                <c:pt idx="2">
                  <c:v>CaSO₄ / gypsum</c:v>
                </c:pt>
                <c:pt idx="3">
                  <c:v>Fe scales</c:v>
                </c:pt>
                <c:pt idx="4">
                  <c:v>SrSO₄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219</c:v>
                </c:pt>
                <c:pt idx="1">
                  <c:v>129</c:v>
                </c:pt>
                <c:pt idx="2">
                  <c:v>91</c:v>
                </c:pt>
                <c:pt idx="3">
                  <c:v>36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12-6546-AA6A-7807CF52D67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393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8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573F"/>
                </a:solidFill>
                <a:latin typeface="Calibri"/>
              </a:defRPr>
            </a:pPr>
            <a:r>
              <a:rPr lang="en-US" sz="1400" b="0" i="0" u="none" strike="noStrike">
                <a:solidFill>
                  <a:srgbClr val="00573F"/>
                </a:solidFill>
                <a:latin typeface="Calibri"/>
              </a:rPr>
              <a:t>Method-block keyword hits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rgbClr val="00573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FC7-574B-8CE6-70A46EEC08DA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FC7-574B-8CE6-70A46EEC08DA}"/>
              </c:ext>
            </c:extLst>
          </c:dPt>
          <c:dPt>
            <c:idx val="2"/>
            <c:invertIfNegative val="0"/>
            <c:bubble3D val="0"/>
            <c:spPr>
              <a:solidFill>
                <a:srgbClr val="00854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FC7-574B-8CE6-70A46EEC08DA}"/>
              </c:ext>
            </c:extLst>
          </c:dPt>
          <c:dPt>
            <c:idx val="3"/>
            <c:invertIfNegative val="0"/>
            <c:bubble3D val="0"/>
            <c:spPr>
              <a:solidFill>
                <a:srgbClr val="AA8A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FC7-574B-8CE6-70A46EEC08DA}"/>
              </c:ext>
            </c:extLst>
          </c:dPt>
          <c:dPt>
            <c:idx val="4"/>
            <c:invertIfNegative val="0"/>
            <c:bubble3D val="0"/>
            <c:spPr>
              <a:solidFill>
                <a:srgbClr val="9C2B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FC7-574B-8CE6-70A46EEC08D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73938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Inhibitor / dosage</c:v>
                </c:pt>
                <c:pt idx="1">
                  <c:v>Kinetics / modelling</c:v>
                </c:pt>
                <c:pt idx="2">
                  <c:v>Sensing / monitoring</c:v>
                </c:pt>
                <c:pt idx="3">
                  <c:v>AI / ML</c:v>
                </c:pt>
                <c:pt idx="4">
                  <c:v>Digital twin / decision (strict)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241</c:v>
                </c:pt>
                <c:pt idx="1">
                  <c:v>193</c:v>
                </c:pt>
                <c:pt idx="2">
                  <c:v>61</c:v>
                </c:pt>
                <c:pt idx="3">
                  <c:v>11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FC7-574B-8CE6-70A46EEC08D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393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0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125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Fill in presenter name and department. Working title is a proposal — confirm against the protocol.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Scale precipitates and deposits inside tubing, flowlines and surface facilities. Operators need to know where, what type, how severe, and how much inhibitor to inject and when.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streams of work exist largely in isolation; the annotated bibliography compiled alongside (55 sources) shows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project proposal deck (Prof. Mujahed): objectives 1-3, validation metrics and expected value. Block mapping links each objective to the A-H search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Draft research questions derived from the three project objectives (sensor fusion, inhibitor optimization, digital decision support) — align with the protocol.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Search filters recorded in the tracker: PUBYEAR 2016-2026, English, journal + conference proceedings.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Formal inclusion/exclusion is applied on the deduplicated corpus. Wording to be finalized in the protocol.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Blocks A-C are mandatory in the frozen string; D-G form the OR-group; H (digital twin / decision support) was only used as a supplementary gap probe. Block A-C descriptions are summarized from the search log — confirm wording.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Formal inclusion/exclusion is performed later on the deduplicated corpus.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ScienceDirect N=2 reflects its Elsevier-only coverage and the 8-Boolean-connector cap, not a search-quality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Species was mandatory in both candidates. Candidate 2 improves by removing the "scaling" ambiguity, widening the OR-group (F/G folded in) and adding COMP/EART subject areas.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IEEE tag-per-term syntax was needed (grouped tag syntax returned 0 results). 27 unique records after dedup across D/E/F/G: R=8, M=7, I=12.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Overlap figure (123 WoS titles already classified in Scopus) is from the Search Log; the master corpus shows 122 Scopus+WoS records after screening exclusions.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Boxes now describe the planned full-text protocol (methodology), not yet actual results — execution starts from the Core 99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 is a partial year. Venue counts are from the Scopus frozen set (n=354): 183 conference papers, 171 articles.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Hit counts come from a regex over title, abstract and author/index keywords. H strict = digital twin, SCADA, decision support or dashboard. This is preliminary evidence of gaps, to be replaced by formal extraction.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Adjust the lists to match your actual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the references you cite. Style is placeholder-level.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5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7.xml"/><Relationship Id="rId5" Type="http://schemas.openxmlformats.org/officeDocument/2006/relationships/chart" Target="../charts/chart6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7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mac-Desktop-KFUPM-SCE261-SCE-701-Directed-Research/879797bc-3e82-41cf-aca9-dd33d97e683d/scratchpad/symbol_white.png"/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7589520" y="822960"/>
            <a:ext cx="6035040" cy="6035040"/>
          </a:xfrm>
          <a:prstGeom prst="rect">
            <a:avLst/>
          </a:prstGeom>
        </p:spPr>
      </p:pic>
      <p:pic>
        <p:nvPicPr>
          <p:cNvPr id="3" name="Image 1" descr="/private/tmp/claude-501/-Users-mac-Desktop-KFUPM-SCE261-SCE-701-Directed-Research/879797bc-3e82-41cf-aca9-dd33d97e683d/scratchpad/locku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02920"/>
            <a:ext cx="3291840" cy="71539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4008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AC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RESEARCH PROGRESS PRESENTATION I</a:t>
            </a:r>
            <a:endParaRPr lang="en-US" sz="14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2286000"/>
            <a:ext cx="8595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Scale Formation Prediction &amp; Adaptive Inhibitor Optimization</a:t>
            </a:r>
            <a:endParaRPr lang="en-US" sz="38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rgbClr val="C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Systematic Literature Review — Progress Report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475488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Soliu Alley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Prof. Mujahed Al-Dhaifallah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&amp; Instrumentation Engineering Department  |  King Fahd University of Petroleum &amp; Minerals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SCE-701 Directed Research  |  September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mac-Desktop-KFUPM-SCE261-SCE-701-Directed-Research/879797bc-3e82-41cf-aca9-dd33d97e683d/scratchpad/symbol_green.png"/>
          <p:cNvPicPr>
            <a:picLocks noChangeAspect="1"/>
          </p:cNvPicPr>
          <p:nvPr/>
        </p:nvPicPr>
        <p:blipFill>
          <a:blip r:embed="rId3">
            <a:alphaModFix amt="7000"/>
          </a:blip>
          <a:stretch>
            <a:fillRect/>
          </a:stretch>
        </p:blipFill>
        <p:spPr>
          <a:xfrm>
            <a:off x="8229600" y="2011680"/>
            <a:ext cx="5120640" cy="5120640"/>
          </a:xfrm>
          <a:prstGeom prst="rect">
            <a:avLst/>
          </a:prstGeom>
        </p:spPr>
      </p:pic>
      <p:pic>
        <p:nvPicPr>
          <p:cNvPr id="3" name="Image 1" descr="/private/tmp/claude-501/-Users-mac-Desktop-KFUPM-SCE261-SCE-701-Directed-Research/879797bc-3e82-41cf-aca9-dd33d97e683d/scratchpad/lockup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320040"/>
            <a:ext cx="2194560" cy="476927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32004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Roadmap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9601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73952"/>
            <a:ext cx="396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Soliu Alley  |  Control &amp; Instrumentation Engineering</a:t>
            </a:r>
            <a:endParaRPr lang="en-US" sz="1000" dirty="0"/>
          </a:p>
        </p:txBody>
      </p:sp>
      <p:sp>
        <p:nvSpPr>
          <p:cNvPr id="38" name="Text 38"/>
          <p:cNvSpPr txBox="1"/>
          <p:nvPr/>
        </p:nvSpPr>
        <p:spPr>
          <a:xfrm>
            <a:off x="4694040" y="647395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Research Progress</a:t>
            </a:r>
            <a:endParaRPr lang="en-US" sz="1000" dirty="0"/>
          </a:p>
        </p:txBody>
      </p:sp>
      <p:sp>
        <p:nvSpPr>
          <p:cNvPr id="39" name="Text 39"/>
          <p:cNvSpPr txBox="1"/>
          <p:nvPr/>
        </p:nvSpPr>
        <p:spPr>
          <a:xfrm>
            <a:off x="7360920" y="6473952"/>
            <a:ext cx="278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10698480" y="647395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548640" y="169164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777240" y="2011680"/>
            <a:ext cx="640080" cy="640080"/>
          </a:xfrm>
          <a:prstGeom prst="ellipse">
            <a:avLst/>
          </a:prstGeom>
          <a:solidFill>
            <a:srgbClr val="008540"/>
          </a:solidFill>
          <a:ln w="12700">
            <a:solidFill>
              <a:srgbClr val="008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77724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1645920" y="19476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problem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1645920" y="23774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scale matters and what is missing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035040" y="169164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263640" y="2011680"/>
            <a:ext cx="640080" cy="640080"/>
          </a:xfrm>
          <a:prstGeom prst="ellipse">
            <a:avLst/>
          </a:prstGeom>
          <a:solidFill>
            <a:srgbClr val="008540"/>
          </a:solidFill>
          <a:ln w="12700">
            <a:solidFill>
              <a:srgbClr val="008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 txBox="1"/>
          <p:nvPr/>
        </p:nvSpPr>
        <p:spPr>
          <a:xfrm>
            <a:off x="626364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2"/>
          <p:cNvSpPr txBox="1"/>
          <p:nvPr/>
        </p:nvSpPr>
        <p:spPr>
          <a:xfrm>
            <a:off x="7132320" y="19476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7132320" y="23774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gaps that motivate this review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548640" y="320040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777240" y="3520440"/>
            <a:ext cx="640080" cy="640080"/>
          </a:xfrm>
          <a:prstGeom prst="ellipse">
            <a:avLst/>
          </a:prstGeom>
          <a:solidFill>
            <a:srgbClr val="008540"/>
          </a:solidFill>
          <a:ln w="12700">
            <a:solidFill>
              <a:srgbClr val="008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 txBox="1"/>
          <p:nvPr/>
        </p:nvSpPr>
        <p:spPr>
          <a:xfrm>
            <a:off x="77724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7"/>
          <p:cNvSpPr txBox="1"/>
          <p:nvPr/>
        </p:nvSpPr>
        <p:spPr>
          <a:xfrm>
            <a:off x="1645920" y="34564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design</a:t>
            </a:r>
            <a:endParaRPr lang="en-US" sz="2000" dirty="0"/>
          </a:p>
        </p:txBody>
      </p:sp>
      <p:sp>
        <p:nvSpPr>
          <p:cNvPr id="22" name="Text 18"/>
          <p:cNvSpPr txBox="1"/>
          <p:nvPr/>
        </p:nvSpPr>
        <p:spPr>
          <a:xfrm>
            <a:off x="1645920" y="38862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PRISMA method, eligibility, search architecture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6035040" y="320040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6263640" y="3520440"/>
            <a:ext cx="640080" cy="640080"/>
          </a:xfrm>
          <a:prstGeom prst="ellipse">
            <a:avLst/>
          </a:prstGeom>
          <a:solidFill>
            <a:srgbClr val="008540"/>
          </a:solidFill>
          <a:ln w="12700">
            <a:solidFill>
              <a:srgbClr val="008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 txBox="1"/>
          <p:nvPr/>
        </p:nvSpPr>
        <p:spPr>
          <a:xfrm>
            <a:off x="626364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6" name="Text 22"/>
          <p:cNvSpPr txBox="1"/>
          <p:nvPr/>
        </p:nvSpPr>
        <p:spPr>
          <a:xfrm>
            <a:off x="7132320" y="34564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screening results</a:t>
            </a:r>
            <a:endParaRPr lang="en-US" sz="2000" dirty="0"/>
          </a:p>
        </p:txBody>
      </p:sp>
      <p:sp>
        <p:nvSpPr>
          <p:cNvPr id="27" name="Text 23"/>
          <p:cNvSpPr txBox="1"/>
          <p:nvPr/>
        </p:nvSpPr>
        <p:spPr>
          <a:xfrm>
            <a:off x="7132320" y="38862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Pilots, databases, deduplication, PRISMA flow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548640" y="470916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777240" y="5029200"/>
            <a:ext cx="640080" cy="640080"/>
          </a:xfrm>
          <a:prstGeom prst="ellipse">
            <a:avLst/>
          </a:prstGeom>
          <a:solidFill>
            <a:srgbClr val="003E51"/>
          </a:solidFill>
          <a:ln w="12700">
            <a:solidFill>
              <a:srgbClr val="003E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 txBox="1"/>
          <p:nvPr/>
        </p:nvSpPr>
        <p:spPr>
          <a:xfrm>
            <a:off x="777240" y="5029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31" name="Text 27"/>
          <p:cNvSpPr txBox="1"/>
          <p:nvPr/>
        </p:nvSpPr>
        <p:spPr>
          <a:xfrm>
            <a:off x="1645920" y="49651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evidence</a:t>
            </a:r>
            <a:endParaRPr lang="en-US" sz="2000" dirty="0"/>
          </a:p>
        </p:txBody>
      </p:sp>
      <p:sp>
        <p:nvSpPr>
          <p:cNvPr id="32" name="Text 28"/>
          <p:cNvSpPr txBox="1"/>
          <p:nvPr/>
        </p:nvSpPr>
        <p:spPr>
          <a:xfrm>
            <a:off x="1645920" y="5394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trend and concept coverage</a:t>
            </a:r>
            <a:endParaRPr lang="en-US" sz="1400" dirty="0"/>
          </a:p>
        </p:txBody>
      </p:sp>
      <p:sp>
        <p:nvSpPr>
          <p:cNvPr id="33" name="Shape 29"/>
          <p:cNvSpPr/>
          <p:nvPr/>
        </p:nvSpPr>
        <p:spPr>
          <a:xfrm>
            <a:off x="6035040" y="470916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0"/>
          <p:cNvSpPr/>
          <p:nvPr/>
        </p:nvSpPr>
        <p:spPr>
          <a:xfrm>
            <a:off x="6263640" y="5029200"/>
            <a:ext cx="640080" cy="640080"/>
          </a:xfrm>
          <a:prstGeom prst="ellipse">
            <a:avLst/>
          </a:prstGeom>
          <a:solidFill>
            <a:srgbClr val="003E51"/>
          </a:solidFill>
          <a:ln w="12700">
            <a:solidFill>
              <a:srgbClr val="003E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 txBox="1"/>
          <p:nvPr/>
        </p:nvSpPr>
        <p:spPr>
          <a:xfrm>
            <a:off x="6263640" y="5029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36" name="Text 32"/>
          <p:cNvSpPr txBox="1"/>
          <p:nvPr/>
        </p:nvSpPr>
        <p:spPr>
          <a:xfrm>
            <a:off x="7132320" y="49651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&amp; next steps</a:t>
            </a:r>
            <a:endParaRPr lang="en-US" sz="2000" dirty="0"/>
          </a:p>
        </p:txBody>
      </p:sp>
      <p:sp>
        <p:nvSpPr>
          <p:cNvPr id="37" name="Text 33"/>
          <p:cNvSpPr txBox="1"/>
          <p:nvPr/>
        </p:nvSpPr>
        <p:spPr>
          <a:xfrm>
            <a:off x="7132320" y="5394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done, pending and planned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mac-Desktop-KFUPM-SCE261-SCE-701-Directed-Research/879797bc-3e82-41cf-aca9-dd33d97e683d/scratchpad/symbol_green.png"/>
          <p:cNvPicPr>
            <a:picLocks noChangeAspect="1"/>
          </p:cNvPicPr>
          <p:nvPr/>
        </p:nvPicPr>
        <p:blipFill>
          <a:blip r:embed="rId3">
            <a:alphaModFix amt="7000"/>
          </a:blip>
          <a:stretch>
            <a:fillRect/>
          </a:stretch>
        </p:blipFill>
        <p:spPr>
          <a:xfrm>
            <a:off x="8229600" y="2011680"/>
            <a:ext cx="5120640" cy="5120640"/>
          </a:xfrm>
          <a:prstGeom prst="rect">
            <a:avLst/>
          </a:prstGeom>
        </p:spPr>
      </p:pic>
      <p:pic>
        <p:nvPicPr>
          <p:cNvPr id="3" name="Image 1" descr="/private/tmp/claude-501/-Users-mac-Desktop-KFUPM-SCE261-SCE-701-Directed-Research/879797bc-3e82-41cf-aca9-dd33d97e683d/scratchpad/lockup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320040"/>
            <a:ext cx="2194560" cy="476927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32004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Background: Scale in Production Pipelines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9601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Inorganic mineral scale is a flow-assurance problem, not only a chemistry problem</a:t>
            </a:r>
            <a:endParaRPr lang="en-US" sz="15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73952"/>
            <a:ext cx="396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Soliu Alley  |  Control &amp; Instrumentation Engineering</a:t>
            </a:r>
            <a:endParaRPr lang="en-US" sz="1000" dirty="0"/>
          </a:p>
        </p:txBody>
      </p:sp>
      <p:sp>
        <p:nvSpPr>
          <p:cNvPr id="51" name="Text 51"/>
          <p:cNvSpPr txBox="1"/>
          <p:nvPr/>
        </p:nvSpPr>
        <p:spPr>
          <a:xfrm>
            <a:off x="4694040" y="647395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Research Progress</a:t>
            </a:r>
            <a:endParaRPr lang="en-US" sz="1000" dirty="0"/>
          </a:p>
        </p:txBody>
      </p:sp>
      <p:sp>
        <p:nvSpPr>
          <p:cNvPr id="52" name="Text 52"/>
          <p:cNvSpPr txBox="1"/>
          <p:nvPr/>
        </p:nvSpPr>
        <p:spPr>
          <a:xfrm>
            <a:off x="7360920" y="6473952"/>
            <a:ext cx="278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10698480" y="647395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10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1600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8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1800" dirty="0"/>
          </a:p>
        </p:txBody>
      </p:sp>
      <p:sp>
        <p:nvSpPr>
          <p:cNvPr id="10" name="Text 5"/>
          <p:cNvSpPr txBox="1"/>
          <p:nvPr/>
        </p:nvSpPr>
        <p:spPr>
          <a:xfrm>
            <a:off x="548640" y="196596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Mineral scales precipitate from produced and injected brines and deposit on pipe walls, restricting flow.</a:t>
            </a:r>
            <a:endParaRPr lang="en-US" sz="1500" dirty="0"/>
          </a:p>
        </p:txBody>
      </p:sp>
      <p:sp>
        <p:nvSpPr>
          <p:cNvPr id="11" name="Shape 6"/>
          <p:cNvSpPr/>
          <p:nvPr/>
        </p:nvSpPr>
        <p:spPr>
          <a:xfrm>
            <a:off x="548640" y="2788920"/>
            <a:ext cx="1234440" cy="1005840"/>
          </a:xfrm>
          <a:prstGeom prst="roundRect">
            <a:avLst>
              <a:gd name="adj" fmla="val 7273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7"/>
          <p:cNvSpPr txBox="1"/>
          <p:nvPr/>
        </p:nvSpPr>
        <p:spPr>
          <a:xfrm>
            <a:off x="548640" y="29260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CaCO₃</a:t>
            </a:r>
            <a:endParaRPr lang="en-US" sz="2100" dirty="0"/>
          </a:p>
        </p:txBody>
      </p:sp>
      <p:sp>
        <p:nvSpPr>
          <p:cNvPr id="13" name="Text 8"/>
          <p:cNvSpPr txBox="1"/>
          <p:nvPr/>
        </p:nvSpPr>
        <p:spPr>
          <a:xfrm>
            <a:off x="548640" y="33832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Calcite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1874520" y="2788920"/>
            <a:ext cx="1234440" cy="1005840"/>
          </a:xfrm>
          <a:prstGeom prst="roundRect">
            <a:avLst>
              <a:gd name="adj" fmla="val 7273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 txBox="1"/>
          <p:nvPr/>
        </p:nvSpPr>
        <p:spPr>
          <a:xfrm>
            <a:off x="1874520" y="29260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BaSO₄</a:t>
            </a:r>
            <a:endParaRPr lang="en-US" sz="2100" dirty="0"/>
          </a:p>
        </p:txBody>
      </p:sp>
      <p:sp>
        <p:nvSpPr>
          <p:cNvPr id="16" name="Text 11"/>
          <p:cNvSpPr txBox="1"/>
          <p:nvPr/>
        </p:nvSpPr>
        <p:spPr>
          <a:xfrm>
            <a:off x="1874520" y="33832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Barite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3200400" y="2788920"/>
            <a:ext cx="1234440" cy="1005840"/>
          </a:xfrm>
          <a:prstGeom prst="roundRect">
            <a:avLst>
              <a:gd name="adj" fmla="val 7273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 txBox="1"/>
          <p:nvPr/>
        </p:nvSpPr>
        <p:spPr>
          <a:xfrm>
            <a:off x="3200400" y="29260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SrSO₄</a:t>
            </a:r>
            <a:endParaRPr lang="en-US" sz="2100" dirty="0"/>
          </a:p>
        </p:txBody>
      </p:sp>
      <p:sp>
        <p:nvSpPr>
          <p:cNvPr id="19" name="Text 14"/>
          <p:cNvSpPr txBox="1"/>
          <p:nvPr/>
        </p:nvSpPr>
        <p:spPr>
          <a:xfrm>
            <a:off x="3200400" y="33832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Celestite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526280" y="2788920"/>
            <a:ext cx="1234440" cy="1005840"/>
          </a:xfrm>
          <a:prstGeom prst="roundRect">
            <a:avLst>
              <a:gd name="adj" fmla="val 7273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 txBox="1"/>
          <p:nvPr/>
        </p:nvSpPr>
        <p:spPr>
          <a:xfrm>
            <a:off x="4526280" y="29260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Fe-based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4526280" y="33832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 · FeCO₃</a:t>
            </a:r>
            <a:endParaRPr lang="en-US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548640" y="4069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8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impact</a:t>
            </a:r>
            <a:endParaRPr lang="en-US" sz="1800" dirty="0"/>
          </a:p>
        </p:txBody>
      </p:sp>
      <p:sp>
        <p:nvSpPr>
          <p:cNvPr id="24" name="Shape 19"/>
          <p:cNvSpPr/>
          <p:nvPr/>
        </p:nvSpPr>
        <p:spPr>
          <a:xfrm>
            <a:off x="548640" y="4480560"/>
            <a:ext cx="365760" cy="365760"/>
          </a:xfrm>
          <a:prstGeom prst="ellipse">
            <a:avLst/>
          </a:prstGeom>
          <a:solidFill>
            <a:srgbClr val="DAC961"/>
          </a:solidFill>
          <a:ln w="12700">
            <a:solidFill>
              <a:srgbClr val="DAC9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 txBox="1"/>
          <p:nvPr/>
        </p:nvSpPr>
        <p:spPr>
          <a:xfrm>
            <a:off x="54864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1005840" y="4480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flow efficiency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3154680" y="4480560"/>
            <a:ext cx="365760" cy="365760"/>
          </a:xfrm>
          <a:prstGeom prst="ellipse">
            <a:avLst/>
          </a:prstGeom>
          <a:solidFill>
            <a:srgbClr val="DAC961"/>
          </a:solidFill>
          <a:ln w="12700">
            <a:solidFill>
              <a:srgbClr val="DAC9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 txBox="1"/>
          <p:nvPr/>
        </p:nvSpPr>
        <p:spPr>
          <a:xfrm>
            <a:off x="315468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9" name="Text 24"/>
          <p:cNvSpPr txBox="1"/>
          <p:nvPr/>
        </p:nvSpPr>
        <p:spPr>
          <a:xfrm>
            <a:off x="3611880" y="4480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pressure drop</a:t>
            </a:r>
            <a:endParaRPr lang="en-US" sz="1400" dirty="0"/>
          </a:p>
        </p:txBody>
      </p:sp>
      <p:sp>
        <p:nvSpPr>
          <p:cNvPr id="30" name="Shape 25"/>
          <p:cNvSpPr/>
          <p:nvPr/>
        </p:nvSpPr>
        <p:spPr>
          <a:xfrm>
            <a:off x="548640" y="5166360"/>
            <a:ext cx="365760" cy="365760"/>
          </a:xfrm>
          <a:prstGeom prst="ellipse">
            <a:avLst/>
          </a:prstGeom>
          <a:solidFill>
            <a:srgbClr val="DAC961"/>
          </a:solidFill>
          <a:ln w="12700">
            <a:solidFill>
              <a:srgbClr val="DAC9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 txBox="1"/>
          <p:nvPr/>
        </p:nvSpPr>
        <p:spPr>
          <a:xfrm>
            <a:off x="548640" y="5166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32" name="Text 27"/>
          <p:cNvSpPr txBox="1"/>
          <p:nvPr/>
        </p:nvSpPr>
        <p:spPr>
          <a:xfrm>
            <a:off x="1005840" y="5166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Accelerated corrosion</a:t>
            </a:r>
            <a:endParaRPr lang="en-US" sz="1400" dirty="0"/>
          </a:p>
        </p:txBody>
      </p:sp>
      <p:sp>
        <p:nvSpPr>
          <p:cNvPr id="33" name="Shape 28"/>
          <p:cNvSpPr/>
          <p:nvPr/>
        </p:nvSpPr>
        <p:spPr>
          <a:xfrm>
            <a:off x="3154680" y="5166360"/>
            <a:ext cx="365760" cy="365760"/>
          </a:xfrm>
          <a:prstGeom prst="ellipse">
            <a:avLst/>
          </a:prstGeom>
          <a:solidFill>
            <a:srgbClr val="DAC961"/>
          </a:solidFill>
          <a:ln w="12700">
            <a:solidFill>
              <a:srgbClr val="DAC9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 txBox="1"/>
          <p:nvPr/>
        </p:nvSpPr>
        <p:spPr>
          <a:xfrm>
            <a:off x="3154680" y="5166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35" name="Text 30"/>
          <p:cNvSpPr txBox="1"/>
          <p:nvPr/>
        </p:nvSpPr>
        <p:spPr>
          <a:xfrm>
            <a:off x="3611880" y="5166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maintenance &amp; operating cost</a:t>
            </a:r>
            <a:endParaRPr lang="en-US" sz="1400" dirty="0"/>
          </a:p>
        </p:txBody>
      </p:sp>
      <p:sp>
        <p:nvSpPr>
          <p:cNvPr id="36" name="Shape 31"/>
          <p:cNvSpPr/>
          <p:nvPr/>
        </p:nvSpPr>
        <p:spPr>
          <a:xfrm>
            <a:off x="6309360" y="160020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003E51"/>
          </a:solidFill>
          <a:ln w="12700">
            <a:solidFill>
              <a:srgbClr val="003E5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2"/>
          <p:cNvSpPr txBox="1"/>
          <p:nvPr/>
        </p:nvSpPr>
        <p:spPr>
          <a:xfrm>
            <a:off x="658368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38" name="Shape 33"/>
          <p:cNvSpPr/>
          <p:nvPr/>
        </p:nvSpPr>
        <p:spPr>
          <a:xfrm>
            <a:off x="6583680" y="2377440"/>
            <a:ext cx="731520" cy="731520"/>
          </a:xfrm>
          <a:prstGeom prst="ellipse">
            <a:avLst/>
          </a:prstGeom>
          <a:solidFill>
            <a:srgbClr val="DAC961"/>
          </a:solidFill>
          <a:ln w="12700">
            <a:solidFill>
              <a:srgbClr val="DAC9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4"/>
          <p:cNvSpPr txBox="1"/>
          <p:nvPr/>
        </p:nvSpPr>
        <p:spPr>
          <a:xfrm>
            <a:off x="658368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40" name="Text 35"/>
          <p:cNvSpPr txBox="1"/>
          <p:nvPr/>
        </p:nvSpPr>
        <p:spPr>
          <a:xfrm>
            <a:off x="7543800" y="23591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DAC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2000" dirty="0"/>
          </a:p>
        </p:txBody>
      </p:sp>
      <p:sp>
        <p:nvSpPr>
          <p:cNvPr id="41" name="Text 36"/>
          <p:cNvSpPr txBox="1"/>
          <p:nvPr/>
        </p:nvSpPr>
        <p:spPr>
          <a:xfrm>
            <a:off x="7543800" y="27432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scale formation and its location along the line</a:t>
            </a:r>
            <a:endParaRPr lang="en-US" sz="1500" dirty="0"/>
          </a:p>
        </p:txBody>
      </p:sp>
      <p:sp>
        <p:nvSpPr>
          <p:cNvPr id="42" name="Shape 37"/>
          <p:cNvSpPr/>
          <p:nvPr/>
        </p:nvSpPr>
        <p:spPr>
          <a:xfrm>
            <a:off x="6583680" y="3566160"/>
            <a:ext cx="731520" cy="731520"/>
          </a:xfrm>
          <a:prstGeom prst="ellipse">
            <a:avLst/>
          </a:prstGeom>
          <a:solidFill>
            <a:srgbClr val="DAC961"/>
          </a:solidFill>
          <a:ln w="12700">
            <a:solidFill>
              <a:srgbClr val="DAC9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8"/>
          <p:cNvSpPr txBox="1"/>
          <p:nvPr/>
        </p:nvSpPr>
        <p:spPr>
          <a:xfrm>
            <a:off x="6583680" y="3566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44" name="Text 39"/>
          <p:cNvSpPr txBox="1"/>
          <p:nvPr/>
        </p:nvSpPr>
        <p:spPr>
          <a:xfrm>
            <a:off x="7543800" y="35478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DAC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2000" dirty="0"/>
          </a:p>
        </p:txBody>
      </p:sp>
      <p:sp>
        <p:nvSpPr>
          <p:cNvPr id="45" name="Text 40"/>
          <p:cNvSpPr txBox="1"/>
          <p:nvPr/>
        </p:nvSpPr>
        <p:spPr>
          <a:xfrm>
            <a:off x="7543800" y="39319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type of scale and its severity</a:t>
            </a:r>
            <a:endParaRPr lang="en-US" sz="1500" dirty="0"/>
          </a:p>
        </p:txBody>
      </p:sp>
      <p:sp>
        <p:nvSpPr>
          <p:cNvPr id="46" name="Shape 41"/>
          <p:cNvSpPr/>
          <p:nvPr/>
        </p:nvSpPr>
        <p:spPr>
          <a:xfrm>
            <a:off x="6583680" y="4754880"/>
            <a:ext cx="731520" cy="731520"/>
          </a:xfrm>
          <a:prstGeom prst="ellipse">
            <a:avLst/>
          </a:prstGeom>
          <a:solidFill>
            <a:srgbClr val="DAC961"/>
          </a:solidFill>
          <a:ln w="12700">
            <a:solidFill>
              <a:srgbClr val="DAC9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2"/>
          <p:cNvSpPr txBox="1"/>
          <p:nvPr/>
        </p:nvSpPr>
        <p:spPr>
          <a:xfrm>
            <a:off x="6583680" y="4754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48" name="Text 43"/>
          <p:cNvSpPr txBox="1"/>
          <p:nvPr/>
        </p:nvSpPr>
        <p:spPr>
          <a:xfrm>
            <a:off x="7543800" y="47365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DAC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</a:t>
            </a:r>
            <a:endParaRPr lang="en-US" sz="2000" dirty="0"/>
          </a:p>
        </p:txBody>
      </p:sp>
      <p:sp>
        <p:nvSpPr>
          <p:cNvPr id="49" name="Text 44"/>
          <p:cNvSpPr txBox="1"/>
          <p:nvPr/>
        </p:nvSpPr>
        <p:spPr>
          <a:xfrm>
            <a:off x="7543800" y="51206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scale-inhibitor dose and timing</a:t>
            </a:r>
            <a:endParaRPr lang="en-US" sz="1500" dirty="0"/>
          </a:p>
        </p:txBody>
      </p:sp>
      <p:sp>
        <p:nvSpPr>
          <p:cNvPr id="50" name="Text 45"/>
          <p:cNvSpPr txBox="1"/>
          <p:nvPr/>
        </p:nvSpPr>
        <p:spPr>
          <a:xfrm>
            <a:off x="6583680" y="5623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mac-Desktop-KFUPM-SCE261-SCE-701-Directed-Research/879797bc-3e82-41cf-aca9-dd33d97e683d/scratchpad/symbol_green.png"/>
          <p:cNvPicPr>
            <a:picLocks noChangeAspect="1"/>
          </p:cNvPicPr>
          <p:nvPr/>
        </p:nvPicPr>
        <p:blipFill>
          <a:blip r:embed="rId3">
            <a:alphaModFix amt="7000"/>
          </a:blip>
          <a:stretch>
            <a:fillRect/>
          </a:stretch>
        </p:blipFill>
        <p:spPr>
          <a:xfrm>
            <a:off x="8229600" y="2011680"/>
            <a:ext cx="5120640" cy="5120640"/>
          </a:xfrm>
          <a:prstGeom prst="rect">
            <a:avLst/>
          </a:prstGeom>
        </p:spPr>
      </p:pic>
      <p:pic>
        <p:nvPicPr>
          <p:cNvPr id="3" name="Image 1" descr="/private/tmp/claude-501/-Users-mac-Desktop-KFUPM-SCE261-SCE-701-Directed-Research/879797bc-3e82-41cf-aca9-dd33d97e683d/scratchpad/lockup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320040"/>
            <a:ext cx="2194560" cy="476927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32004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9601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73952"/>
            <a:ext cx="396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Soliu Alley  |  Control &amp; Instrumentation Engineering</a:t>
            </a:r>
            <a:endParaRPr lang="en-US" sz="1000" dirty="0"/>
          </a:p>
        </p:txBody>
      </p:sp>
      <p:sp>
        <p:nvSpPr>
          <p:cNvPr id="36" name="Text 36"/>
          <p:cNvSpPr txBox="1"/>
          <p:nvPr/>
        </p:nvSpPr>
        <p:spPr>
          <a:xfrm>
            <a:off x="4694040" y="647395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Research Progress</a:t>
            </a:r>
            <a:endParaRPr lang="en-US" sz="1000" dirty="0"/>
          </a:p>
        </p:txBody>
      </p:sp>
      <p:sp>
        <p:nvSpPr>
          <p:cNvPr id="37" name="Text 37"/>
          <p:cNvSpPr txBox="1"/>
          <p:nvPr/>
        </p:nvSpPr>
        <p:spPr>
          <a:xfrm>
            <a:off x="7360920" y="6473952"/>
            <a:ext cx="278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10698480" y="647395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1000" dirty="0"/>
          </a:p>
        </p:txBody>
      </p:sp>
      <p:sp>
        <p:nvSpPr>
          <p:cNvPr id="9" name="Shape 4"/>
          <p:cNvSpPr/>
          <p:nvPr/>
        </p:nvSpPr>
        <p:spPr>
          <a:xfrm>
            <a:off x="548640" y="1600200"/>
            <a:ext cx="2606040" cy="1691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9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5"/>
          <p:cNvSpPr/>
          <p:nvPr/>
        </p:nvSpPr>
        <p:spPr>
          <a:xfrm>
            <a:off x="731520" y="1783080"/>
            <a:ext cx="502920" cy="502920"/>
          </a:xfrm>
          <a:prstGeom prst="ellipse">
            <a:avLst/>
          </a:prstGeom>
          <a:solidFill>
            <a:srgbClr val="008540"/>
          </a:solidFill>
          <a:ln w="12700">
            <a:solidFill>
              <a:srgbClr val="008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 txBox="1"/>
          <p:nvPr/>
        </p:nvSpPr>
        <p:spPr>
          <a:xfrm>
            <a:off x="73152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731520" y="2423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Thermodynamics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731520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/ supersaturation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731520" y="320040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3337560" y="1600200"/>
            <a:ext cx="2606040" cy="1691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9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3520440" y="1783080"/>
            <a:ext cx="502920" cy="502920"/>
          </a:xfrm>
          <a:prstGeom prst="ellipse">
            <a:avLst/>
          </a:prstGeom>
          <a:solidFill>
            <a:srgbClr val="008540"/>
          </a:solidFill>
          <a:ln w="12700">
            <a:solidFill>
              <a:srgbClr val="008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 txBox="1"/>
          <p:nvPr/>
        </p:nvSpPr>
        <p:spPr>
          <a:xfrm>
            <a:off x="35204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3520440" y="2423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Kinetics &amp; MIC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3520440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Induction time, tube blocking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3520440" y="320040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126480" y="1600200"/>
            <a:ext cx="2606040" cy="1691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9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6309360" y="1783080"/>
            <a:ext cx="502920" cy="502920"/>
          </a:xfrm>
          <a:prstGeom prst="ellipse">
            <a:avLst/>
          </a:prstGeom>
          <a:solidFill>
            <a:srgbClr val="008540"/>
          </a:solidFill>
          <a:ln w="12700">
            <a:solidFill>
              <a:srgbClr val="008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 txBox="1"/>
          <p:nvPr/>
        </p:nvSpPr>
        <p:spPr>
          <a:xfrm>
            <a:off x="63093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6309360" y="2423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&amp; deposition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6309360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CFD, mass transfer, adsorption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6309360" y="320040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8915400" y="1600200"/>
            <a:ext cx="2606040" cy="1665647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9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9098280" y="1783080"/>
            <a:ext cx="502920" cy="502920"/>
          </a:xfrm>
          <a:prstGeom prst="ellipse">
            <a:avLst/>
          </a:prstGeom>
          <a:solidFill>
            <a:srgbClr val="003E51"/>
          </a:solidFill>
          <a:ln w="12700">
            <a:solidFill>
              <a:srgbClr val="003E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 txBox="1"/>
          <p:nvPr/>
        </p:nvSpPr>
        <p:spPr>
          <a:xfrm>
            <a:off x="90982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5"/>
          <p:cNvSpPr txBox="1"/>
          <p:nvPr/>
        </p:nvSpPr>
        <p:spPr>
          <a:xfrm>
            <a:off x="9098280" y="2423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monitoring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098280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classifiers, sensor thickness</a:t>
            </a:r>
            <a:endParaRPr lang="en-US" sz="1200" dirty="0"/>
          </a:p>
        </p:txBody>
      </p:sp>
      <p:sp>
        <p:nvSpPr>
          <p:cNvPr id="32" name="Text 27"/>
          <p:cNvSpPr txBox="1"/>
          <p:nvPr/>
        </p:nvSpPr>
        <p:spPr>
          <a:xfrm>
            <a:off x="9098280" y="320040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endParaRPr lang="en-US" sz="1300" dirty="0"/>
          </a:p>
        </p:txBody>
      </p:sp>
      <p:sp>
        <p:nvSpPr>
          <p:cNvPr id="33" name="Shape 28"/>
          <p:cNvSpPr/>
          <p:nvPr/>
        </p:nvSpPr>
        <p:spPr>
          <a:xfrm>
            <a:off x="548640" y="4754880"/>
            <a:ext cx="11109960" cy="1371600"/>
          </a:xfrm>
          <a:prstGeom prst="roundRect">
            <a:avLst>
              <a:gd name="adj" fmla="val 5333"/>
            </a:avLst>
          </a:prstGeom>
          <a:solidFill>
            <a:srgbClr val="00573F"/>
          </a:solidFill>
          <a:ln w="12700">
            <a:solidFill>
              <a:srgbClr val="00573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 txBox="1"/>
          <p:nvPr/>
        </p:nvSpPr>
        <p:spPr>
          <a:xfrm>
            <a:off x="822960" y="4892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AC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GAP</a:t>
            </a:r>
            <a:endParaRPr lang="en-US" sz="1200" dirty="0"/>
          </a:p>
        </p:txBody>
      </p:sp>
      <p:sp>
        <p:nvSpPr>
          <p:cNvPr id="35" name="Text 30"/>
          <p:cNvSpPr txBox="1"/>
          <p:nvPr/>
        </p:nvSpPr>
        <p:spPr>
          <a:xfrm>
            <a:off x="822960" y="52120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background reading only (proposal literature, annotated bibliography) — not yet confirmed by full-text synthesis: no closed-loop framework appears to fuse sensors, chemistry, operating data and mechanistic knowledge for scale-state estimation and dosing control. 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mac-Desktop-KFUPM-SCE261-SCE-701-Directed-Research/879797bc-3e82-41cf-aca9-dd33d97e683d/scratchpad/symbol_green.png"/>
          <p:cNvPicPr>
            <a:picLocks noChangeAspect="1"/>
          </p:cNvPicPr>
          <p:nvPr/>
        </p:nvPicPr>
        <p:blipFill>
          <a:blip r:embed="rId2">
            <a:alphaModFix amt="7000"/>
          </a:blip>
          <a:stretch>
            <a:fillRect/>
          </a:stretch>
        </p:blipFill>
        <p:spPr>
          <a:xfrm>
            <a:off x="8229600" y="2011680"/>
            <a:ext cx="5120640" cy="5120640"/>
          </a:xfrm>
          <a:prstGeom prst="rect">
            <a:avLst/>
          </a:prstGeom>
        </p:spPr>
      </p:pic>
      <p:pic>
        <p:nvPicPr>
          <p:cNvPr id="3" name="Image 1" descr="/private/tmp/claude-501/-Users-mac-Desktop-KFUPM-SCE261-SCE-701-Directed-Research/879797bc-3e82-41cf-aca9-dd33d97e683d/scratchpad/lockup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320040"/>
            <a:ext cx="2194560" cy="476927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32004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9601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definitions for the technical terms used in this study</a:t>
            </a:r>
            <a:endParaRPr lang="en-US" sz="15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73952"/>
            <a:ext cx="396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Soliu Alley  |  Control &amp; Instrumentation Engineering</a:t>
            </a:r>
            <a:endParaRPr lang="en-US" sz="1000" dirty="0"/>
          </a:p>
        </p:txBody>
      </p:sp>
      <p:sp>
        <p:nvSpPr>
          <p:cNvPr id="36" name="Text 36"/>
          <p:cNvSpPr txBox="1"/>
          <p:nvPr/>
        </p:nvSpPr>
        <p:spPr>
          <a:xfrm>
            <a:off x="4694040" y="647395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Research Progress</a:t>
            </a:r>
            <a:endParaRPr lang="en-US" sz="1000" dirty="0"/>
          </a:p>
        </p:txBody>
      </p:sp>
      <p:sp>
        <p:nvSpPr>
          <p:cNvPr id="37" name="Text 37"/>
          <p:cNvSpPr txBox="1"/>
          <p:nvPr/>
        </p:nvSpPr>
        <p:spPr>
          <a:xfrm>
            <a:off x="7360920" y="6473952"/>
            <a:ext cx="278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10698480" y="647395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1000" dirty="0"/>
          </a:p>
        </p:txBody>
      </p:sp>
      <p:sp>
        <p:nvSpPr>
          <p:cNvPr id="9" name="Shape 4"/>
          <p:cNvSpPr/>
          <p:nvPr/>
        </p:nvSpPr>
        <p:spPr>
          <a:xfrm>
            <a:off x="548640" y="1600200"/>
            <a:ext cx="544068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9050">
            <a:solidFill>
              <a:srgbClr val="00854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5"/>
          <p:cNvSpPr/>
          <p:nvPr/>
        </p:nvSpPr>
        <p:spPr>
          <a:xfrm>
            <a:off x="777240" y="1783080"/>
            <a:ext cx="457200" cy="457200"/>
          </a:xfrm>
          <a:prstGeom prst="ellipse">
            <a:avLst/>
          </a:prstGeom>
          <a:solidFill>
            <a:srgbClr val="008540"/>
          </a:solidFill>
          <a:ln w="12700">
            <a:solidFill>
              <a:srgbClr val="008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 txBox="1"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1371600" y="1783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8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Chemistry Terms</a:t>
            </a:r>
            <a:endParaRPr lang="en-US" sz="2200" dirty="0"/>
          </a:p>
        </p:txBody>
      </p:sp>
      <p:sp>
        <p:nvSpPr>
          <p:cNvPr id="13" name="Text 8"/>
          <p:cNvSpPr txBox="1"/>
          <p:nvPr/>
        </p:nvSpPr>
        <p:spPr>
          <a:xfrm>
            <a:off x="822960" y="242316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Saturation Index (SI) — </a:t>
            </a:r>
            <a:r>
              <a:rPr lang="en-US" sz="130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the brine chemistry is from mineral equilibrium; positive values favor scale formation</a:t>
            </a:r>
            <a:endParaRPr lang="en-US" sz="1300" dirty="0"/>
          </a:p>
          <a:p>
            <a:pPr marL="285750" indent="-28575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Induction time — </a:t>
            </a:r>
            <a:r>
              <a:rPr lang="en-US" sz="130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delay between the brine becoming supersaturated and visible crystal growth starting</a:t>
            </a:r>
            <a:endParaRPr lang="en-US" sz="1300" dirty="0"/>
          </a:p>
          <a:p>
            <a:pPr marL="285750" indent="-28575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assurance — </a:t>
            </a:r>
            <a:r>
              <a:rPr lang="en-US" sz="130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hydrocarbons flowing reliably from reservoir to facility despite scale, wax or hydrate blockages</a:t>
            </a:r>
            <a:endParaRPr lang="en-US" sz="1300" dirty="0"/>
          </a:p>
          <a:p>
            <a:pPr marL="285750" indent="-28575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 (Minimum Inhibitor Concentration) — </a:t>
            </a:r>
            <a:r>
              <a:rPr lang="en-US" sz="130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smallest inhibitor dose that still prevents scale from forming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217920" y="1600200"/>
            <a:ext cx="544068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9050">
            <a:solidFill>
              <a:srgbClr val="AA8A0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6446520" y="1783080"/>
            <a:ext cx="457200" cy="457200"/>
          </a:xfrm>
          <a:prstGeom prst="ellipse">
            <a:avLst/>
          </a:prstGeom>
          <a:solidFill>
            <a:srgbClr val="AA8A00"/>
          </a:solidFill>
          <a:ln w="12700">
            <a:solidFill>
              <a:srgbClr val="AA8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 txBox="1"/>
          <p:nvPr/>
        </p:nvSpPr>
        <p:spPr>
          <a:xfrm>
            <a:off x="64465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7040880" y="17830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A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&amp; Control Terms</a:t>
            </a:r>
            <a:endParaRPr lang="en-US" sz="2200" dirty="0"/>
          </a:p>
        </p:txBody>
      </p:sp>
      <p:sp>
        <p:nvSpPr>
          <p:cNvPr id="50" name="Text 50"/>
          <p:cNvSpPr txBox="1"/>
          <p:nvPr/>
        </p:nvSpPr>
        <p:spPr>
          <a:xfrm>
            <a:off x="6492240" y="242316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Physics-informed (AI/ML) — </a:t>
            </a:r>
            <a:r>
              <a:rPr lang="en-US" sz="130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embeds known physical/chemical laws alongside data, rather than fitting data alone</a:t>
            </a:r>
            <a:endParaRPr lang="en-US" sz="1300" dirty="0"/>
          </a:p>
          <a:p>
            <a:pPr marL="285750" indent="-28575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EKF / UKF (Extended / Unscented Kalman Filter) — </a:t>
            </a:r>
            <a:r>
              <a:rPr lang="en-US" sz="130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that estimate a hidden state — e.g. scale severity — from noisy sensor readings</a:t>
            </a:r>
            <a:endParaRPr lang="en-US" sz="1300" dirty="0"/>
          </a:p>
          <a:p>
            <a:pPr marL="285750" indent="-28575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Receding-horizon control (MPC) — </a:t>
            </a:r>
            <a:r>
              <a:rPr lang="en-US" sz="130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re-optimizes the next action at every step using a short-term forecast, instead of one fixed plan</a:t>
            </a:r>
            <a:endParaRPr lang="en-US" sz="1300" dirty="0"/>
          </a:p>
          <a:p>
            <a:pPr marL="285750" indent="-28575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— </a:t>
            </a:r>
            <a:r>
              <a:rPr lang="en-US" sz="130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virtual replica of the pipeline used for monitoring and decision support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mac-Desktop-KFUPM-SCE261-SCE-701-Directed-Research/879797bc-3e82-41cf-aca9-dd33d97e683d/scratchpad/symbol_green.png"/>
          <p:cNvPicPr>
            <a:picLocks noChangeAspect="1"/>
          </p:cNvPicPr>
          <p:nvPr/>
        </p:nvPicPr>
        <p:blipFill>
          <a:blip r:embed="rId3">
            <a:alphaModFix amt="7000"/>
          </a:blip>
          <a:stretch>
            <a:fillRect/>
          </a:stretch>
        </p:blipFill>
        <p:spPr>
          <a:xfrm>
            <a:off x="8229600" y="2011680"/>
            <a:ext cx="5120640" cy="5120640"/>
          </a:xfrm>
          <a:prstGeom prst="rect">
            <a:avLst/>
          </a:prstGeom>
        </p:spPr>
      </p:pic>
      <p:pic>
        <p:nvPicPr>
          <p:cNvPr id="3" name="Image 1" descr="/private/tmp/claude-501/-Users-mac-Desktop-KFUPM-SCE261-SCE-701-Directed-Research/879797bc-3e82-41cf-aca9-dd33d97e683d/scratchpad/lockup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320040"/>
            <a:ext cx="2194560" cy="476927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32004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 and Expected Value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9601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objectives, each traced to a block of the literature search</a:t>
            </a:r>
            <a:endParaRPr lang="en-US" sz="15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73952"/>
            <a:ext cx="396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Soliu Alley  |  Control &amp; Instrumentation Engineering</a:t>
            </a:r>
            <a:endParaRPr lang="en-US" sz="1000" dirty="0"/>
          </a:p>
        </p:txBody>
      </p:sp>
      <p:sp>
        <p:nvSpPr>
          <p:cNvPr id="39" name="Text 39"/>
          <p:cNvSpPr txBox="1"/>
          <p:nvPr/>
        </p:nvSpPr>
        <p:spPr>
          <a:xfrm>
            <a:off x="4694040" y="647395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Research Progress</a:t>
            </a:r>
            <a:endParaRPr lang="en-US" sz="1000" dirty="0"/>
          </a:p>
        </p:txBody>
      </p:sp>
      <p:sp>
        <p:nvSpPr>
          <p:cNvPr id="40" name="Text 40"/>
          <p:cNvSpPr txBox="1"/>
          <p:nvPr/>
        </p:nvSpPr>
        <p:spPr>
          <a:xfrm>
            <a:off x="7360920" y="6473952"/>
            <a:ext cx="278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10698480" y="647395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1000" dirty="0"/>
          </a:p>
        </p:txBody>
      </p:sp>
      <p:sp>
        <p:nvSpPr>
          <p:cNvPr id="9" name="Shape 4"/>
          <p:cNvSpPr/>
          <p:nvPr/>
        </p:nvSpPr>
        <p:spPr>
          <a:xfrm>
            <a:off x="548640" y="155448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9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5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008540"/>
          </a:solidFill>
          <a:ln w="12700">
            <a:solidFill>
              <a:srgbClr val="008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 txBox="1"/>
          <p:nvPr/>
        </p:nvSpPr>
        <p:spPr>
          <a:xfrm>
            <a:off x="7772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7"/>
          <p:cNvSpPr txBox="1"/>
          <p:nvPr/>
        </p:nvSpPr>
        <p:spPr>
          <a:xfrm>
            <a:off x="1463040" y="1737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sensor fusion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777240" y="2423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Scale-state estimation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777240" y="27432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pressure, temperature, flow, water chemistry and ultrasonic / guided-wave data into a scale-state vector per section: type, location, thickness, growth, severity.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777240" y="429768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EAF4EE"/>
          </a:solidFill>
          <a:ln w="12700">
            <a:solidFill>
              <a:srgbClr val="008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 txBox="1"/>
          <p:nvPr/>
        </p:nvSpPr>
        <p:spPr>
          <a:xfrm>
            <a:off x="777240" y="429768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 &amp; Monitoring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297680" y="155448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9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4526280" y="1737360"/>
            <a:ext cx="548640" cy="548640"/>
          </a:xfrm>
          <a:prstGeom prst="ellipse">
            <a:avLst/>
          </a:prstGeom>
          <a:solidFill>
            <a:srgbClr val="008540"/>
          </a:solidFill>
          <a:ln w="12700">
            <a:solidFill>
              <a:srgbClr val="008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 txBox="1"/>
          <p:nvPr/>
        </p:nvSpPr>
        <p:spPr>
          <a:xfrm>
            <a:off x="452628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5212080" y="1737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Physics-informed prediction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4526280" y="2423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Spatio-temporal scale evolution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4526280" y="27432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Saturation index, induction time, nucleation &amp; growth kinetics and transport constrain AI so predictions stay credible beyond the lab.</a:t>
            </a:r>
            <a:endParaRPr lang="en-US" sz="1350" dirty="0"/>
          </a:p>
        </p:txBody>
      </p:sp>
      <p:sp>
        <p:nvSpPr>
          <p:cNvPr id="23" name="Shape 18"/>
          <p:cNvSpPr/>
          <p:nvPr/>
        </p:nvSpPr>
        <p:spPr>
          <a:xfrm>
            <a:off x="4526280" y="429768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EAF4EE"/>
          </a:solidFill>
          <a:ln w="12700">
            <a:solidFill>
              <a:srgbClr val="008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 txBox="1"/>
          <p:nvPr/>
        </p:nvSpPr>
        <p:spPr>
          <a:xfrm>
            <a:off x="4526280" y="429768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Kinetics &amp; AI/ML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8046720" y="155448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9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8275320" y="1737360"/>
            <a:ext cx="548640" cy="548640"/>
          </a:xfrm>
          <a:prstGeom prst="ellipse">
            <a:avLst/>
          </a:prstGeom>
          <a:solidFill>
            <a:srgbClr val="008540"/>
          </a:solidFill>
          <a:ln w="12700">
            <a:solidFill>
              <a:srgbClr val="008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 txBox="1"/>
          <p:nvPr/>
        </p:nvSpPr>
        <p:spPr>
          <a:xfrm>
            <a:off x="827532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8" name="Text 23"/>
          <p:cNvSpPr txBox="1"/>
          <p:nvPr/>
        </p:nvSpPr>
        <p:spPr>
          <a:xfrm>
            <a:off x="8961120" y="1737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inhibitor optimization</a:t>
            </a:r>
            <a:endParaRPr lang="en-US" sz="1600" dirty="0"/>
          </a:p>
        </p:txBody>
      </p:sp>
      <p:sp>
        <p:nvSpPr>
          <p:cNvPr id="29" name="Text 24"/>
          <p:cNvSpPr txBox="1"/>
          <p:nvPr/>
        </p:nvSpPr>
        <p:spPr>
          <a:xfrm>
            <a:off x="8275320" y="2423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Dose, timing, cost vs risk</a:t>
            </a:r>
            <a:endParaRPr lang="en-US" sz="1200" dirty="0"/>
          </a:p>
        </p:txBody>
      </p:sp>
      <p:sp>
        <p:nvSpPr>
          <p:cNvPr id="30" name="Text 25"/>
          <p:cNvSpPr txBox="1"/>
          <p:nvPr/>
        </p:nvSpPr>
        <p:spPr>
          <a:xfrm>
            <a:off x="8275320" y="27432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predicted risk into MIC-constrained dose recommendations — replacing fixed, lab-derived, conservative dosing.</a:t>
            </a:r>
            <a:endParaRPr lang="en-US" sz="1350" dirty="0"/>
          </a:p>
        </p:txBody>
      </p:sp>
      <p:sp>
        <p:nvSpPr>
          <p:cNvPr id="31" name="Shape 26"/>
          <p:cNvSpPr/>
          <p:nvPr/>
        </p:nvSpPr>
        <p:spPr>
          <a:xfrm>
            <a:off x="8275320" y="429768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EAF4EE"/>
          </a:solidFill>
          <a:ln w="12700">
            <a:solidFill>
              <a:srgbClr val="008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 txBox="1"/>
          <p:nvPr/>
        </p:nvSpPr>
        <p:spPr>
          <a:xfrm>
            <a:off x="8275320" y="429768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Inhibitor &amp; Dosage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548640" y="5029200"/>
            <a:ext cx="5486400" cy="1143000"/>
          </a:xfrm>
          <a:prstGeom prst="roundRect">
            <a:avLst>
              <a:gd name="adj" fmla="val 6400"/>
            </a:avLst>
          </a:prstGeom>
          <a:solidFill>
            <a:srgbClr val="00573F"/>
          </a:solidFill>
          <a:ln w="12700">
            <a:solidFill>
              <a:srgbClr val="00573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 txBox="1"/>
          <p:nvPr/>
        </p:nvSpPr>
        <p:spPr>
          <a:xfrm>
            <a:off x="777240" y="51023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DAC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METRICS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77240" y="537667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/ no-scale accuracy · location error · thickness error · dosing reduction vs fixed dose · false-alarm rate · decision latency</a:t>
            </a:r>
            <a:endParaRPr lang="en-US" sz="1250" dirty="0"/>
          </a:p>
        </p:txBody>
      </p:sp>
      <p:sp>
        <p:nvSpPr>
          <p:cNvPr id="36" name="Shape 31"/>
          <p:cNvSpPr/>
          <p:nvPr/>
        </p:nvSpPr>
        <p:spPr>
          <a:xfrm>
            <a:off x="6263640" y="5029200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2"/>
          <p:cNvSpPr txBox="1"/>
          <p:nvPr/>
        </p:nvSpPr>
        <p:spPr>
          <a:xfrm>
            <a:off x="6492240" y="510235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08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VALUE</a:t>
            </a:r>
            <a:endParaRPr lang="en-US" sz="1050" dirty="0"/>
          </a:p>
        </p:txBody>
      </p:sp>
      <p:sp>
        <p:nvSpPr>
          <p:cNvPr id="38" name="Text 33"/>
          <p:cNvSpPr txBox="1"/>
          <p:nvPr/>
        </p:nvSpPr>
        <p:spPr>
          <a:xfrm>
            <a:off x="6492240" y="5376672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warning · spatial localization · chemical optimization · operational continuity · SCADA-ready digital-oilfield fit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mac-Desktop-KFUPM-SCE261-SCE-701-Directed-Research/879797bc-3e82-41cf-aca9-dd33d97e683d/scratchpad/symbol_green.png"/>
          <p:cNvPicPr>
            <a:picLocks noChangeAspect="1"/>
          </p:cNvPicPr>
          <p:nvPr/>
        </p:nvPicPr>
        <p:blipFill>
          <a:blip r:embed="rId3">
            <a:alphaModFix amt="7000"/>
          </a:blip>
          <a:stretch>
            <a:fillRect/>
          </a:stretch>
        </p:blipFill>
        <p:spPr>
          <a:xfrm>
            <a:off x="8229600" y="2011680"/>
            <a:ext cx="5120640" cy="5120640"/>
          </a:xfrm>
          <a:prstGeom prst="rect">
            <a:avLst/>
          </a:prstGeom>
        </p:spPr>
      </p:pic>
      <p:pic>
        <p:nvPicPr>
          <p:cNvPr id="3" name="Image 1" descr="/private/tmp/claude-501/-Users-mac-Desktop-KFUPM-SCE261-SCE-701-Directed-Research/879797bc-3e82-41cf-aca9-dd33d97e683d/scratchpad/lockup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320040"/>
            <a:ext cx="2194560" cy="476927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32004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Start with a Systematic Review?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9601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the evidence base before building the model</a:t>
            </a:r>
            <a:endParaRPr lang="en-US" sz="15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73952"/>
            <a:ext cx="396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Soliu Alley  |  Control &amp; Instrumentation Engineering</a:t>
            </a:r>
            <a:endParaRPr lang="en-US" sz="1000" dirty="0"/>
          </a:p>
        </p:txBody>
      </p:sp>
      <p:sp>
        <p:nvSpPr>
          <p:cNvPr id="41" name="Text 41"/>
          <p:cNvSpPr txBox="1"/>
          <p:nvPr/>
        </p:nvSpPr>
        <p:spPr>
          <a:xfrm>
            <a:off x="4694040" y="647395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Research Progress</a:t>
            </a:r>
            <a:endParaRPr lang="en-US" sz="1000" dirty="0"/>
          </a:p>
        </p:txBody>
      </p:sp>
      <p:sp>
        <p:nvSpPr>
          <p:cNvPr id="42" name="Text 42"/>
          <p:cNvSpPr txBox="1"/>
          <p:nvPr/>
        </p:nvSpPr>
        <p:spPr>
          <a:xfrm>
            <a:off x="7360920" y="6473952"/>
            <a:ext cx="278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10698480" y="647395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10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1600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8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 lets us:</a:t>
            </a:r>
            <a:endParaRPr lang="en-US" sz="1800" dirty="0"/>
          </a:p>
        </p:txBody>
      </p:sp>
      <p:sp>
        <p:nvSpPr>
          <p:cNvPr id="10" name="Shape 5"/>
          <p:cNvSpPr/>
          <p:nvPr/>
        </p:nvSpPr>
        <p:spPr>
          <a:xfrm>
            <a:off x="548640" y="2011680"/>
            <a:ext cx="411480" cy="411480"/>
          </a:xfrm>
          <a:prstGeom prst="ellipse">
            <a:avLst/>
          </a:prstGeom>
          <a:solidFill>
            <a:srgbClr val="008540"/>
          </a:solidFill>
          <a:ln w="12700">
            <a:solidFill>
              <a:srgbClr val="008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 txBox="1"/>
          <p:nvPr/>
        </p:nvSpPr>
        <p:spPr>
          <a:xfrm>
            <a:off x="54864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1097280" y="1975104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what is already solved in scale prediction, monitoring and inhibitor control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008540"/>
          </a:solidFill>
          <a:ln w="12700">
            <a:solidFill>
              <a:srgbClr val="008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1097280" y="2752344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modelling, sensing, AI and validation methods side by side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48640" y="3566160"/>
            <a:ext cx="411480" cy="411480"/>
          </a:xfrm>
          <a:prstGeom prst="ellipse">
            <a:avLst/>
          </a:prstGeom>
          <a:solidFill>
            <a:srgbClr val="008540"/>
          </a:solidFill>
          <a:ln w="12700">
            <a:solidFill>
              <a:srgbClr val="008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 txBox="1"/>
          <p:nvPr/>
        </p:nvSpPr>
        <p:spPr>
          <a:xfrm>
            <a:off x="54864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097280" y="3529584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evidence-based gaps before any model development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4343400"/>
            <a:ext cx="411480" cy="411480"/>
          </a:xfrm>
          <a:prstGeom prst="ellipse">
            <a:avLst/>
          </a:prstGeom>
          <a:solidFill>
            <a:srgbClr val="008540"/>
          </a:solidFill>
          <a:ln w="12700">
            <a:solidFill>
              <a:srgbClr val="008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 txBox="1"/>
          <p:nvPr/>
        </p:nvSpPr>
        <p:spPr>
          <a:xfrm>
            <a:off x="548640" y="4343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1097280" y="4306824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 the physics-informed, closed-loop direction with data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5852160" y="1600200"/>
            <a:ext cx="58064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 txBox="1"/>
          <p:nvPr/>
        </p:nvSpPr>
        <p:spPr>
          <a:xfrm>
            <a:off x="6126480" y="17373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8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research questions</a:t>
            </a:r>
            <a:endParaRPr lang="en-US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6126480" y="2240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A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6720840" y="22402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scale types, systems and operating conditions are studied?</a:t>
            </a:r>
            <a:endParaRPr lang="en-US" sz="1350" dirty="0"/>
          </a:p>
        </p:txBody>
      </p:sp>
      <p:sp>
        <p:nvSpPr>
          <p:cNvPr id="29" name="Text 24"/>
          <p:cNvSpPr txBox="1"/>
          <p:nvPr/>
        </p:nvSpPr>
        <p:spPr>
          <a:xfrm>
            <a:off x="6126480" y="2788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A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300" dirty="0"/>
          </a:p>
        </p:txBody>
      </p:sp>
      <p:sp>
        <p:nvSpPr>
          <p:cNvPr id="30" name="Text 25"/>
          <p:cNvSpPr txBox="1"/>
          <p:nvPr/>
        </p:nvSpPr>
        <p:spPr>
          <a:xfrm>
            <a:off x="6720840" y="2788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mechanistic models predict scale onset and growth?</a:t>
            </a:r>
            <a:endParaRPr lang="en-US" sz="1350" dirty="0"/>
          </a:p>
        </p:txBody>
      </p:sp>
      <p:sp>
        <p:nvSpPr>
          <p:cNvPr id="31" name="Text 26"/>
          <p:cNvSpPr txBox="1"/>
          <p:nvPr/>
        </p:nvSpPr>
        <p:spPr>
          <a:xfrm>
            <a:off x="6126480" y="3337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A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300" dirty="0"/>
          </a:p>
        </p:txBody>
      </p:sp>
      <p:sp>
        <p:nvSpPr>
          <p:cNvPr id="32" name="Text 27"/>
          <p:cNvSpPr txBox="1"/>
          <p:nvPr/>
        </p:nvSpPr>
        <p:spPr>
          <a:xfrm>
            <a:off x="6720840" y="3337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AI / ML methods are used, with what data?</a:t>
            </a:r>
            <a:endParaRPr lang="en-US" sz="1350" dirty="0"/>
          </a:p>
        </p:txBody>
      </p:sp>
      <p:sp>
        <p:nvSpPr>
          <p:cNvPr id="33" name="Text 28"/>
          <p:cNvSpPr txBox="1"/>
          <p:nvPr/>
        </p:nvSpPr>
        <p:spPr>
          <a:xfrm>
            <a:off x="6126480" y="3886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A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</a:t>
            </a:r>
            <a:endParaRPr lang="en-US" sz="1300" dirty="0"/>
          </a:p>
        </p:txBody>
      </p:sp>
      <p:sp>
        <p:nvSpPr>
          <p:cNvPr id="34" name="Text 29"/>
          <p:cNvSpPr txBox="1"/>
          <p:nvPr/>
        </p:nvSpPr>
        <p:spPr>
          <a:xfrm>
            <a:off x="6720840" y="3886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sensing techniques locate scale and measure thickness?</a:t>
            </a:r>
            <a:endParaRPr lang="en-US" sz="1350" dirty="0"/>
          </a:p>
        </p:txBody>
      </p:sp>
      <p:sp>
        <p:nvSpPr>
          <p:cNvPr id="35" name="Text 30"/>
          <p:cNvSpPr txBox="1"/>
          <p:nvPr/>
        </p:nvSpPr>
        <p:spPr>
          <a:xfrm>
            <a:off x="6126480" y="4434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A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RQ5</a:t>
            </a:r>
            <a:endParaRPr lang="en-US" sz="1300" dirty="0"/>
          </a:p>
        </p:txBody>
      </p:sp>
      <p:sp>
        <p:nvSpPr>
          <p:cNvPr id="36" name="Text 31"/>
          <p:cNvSpPr txBox="1"/>
          <p:nvPr/>
        </p:nvSpPr>
        <p:spPr>
          <a:xfrm>
            <a:off x="6720840" y="4434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inhibitor dose and MIC determined and optimized?</a:t>
            </a:r>
            <a:endParaRPr lang="en-US" sz="1350" dirty="0"/>
          </a:p>
        </p:txBody>
      </p:sp>
      <p:sp>
        <p:nvSpPr>
          <p:cNvPr id="37" name="Text 32"/>
          <p:cNvSpPr txBox="1"/>
          <p:nvPr/>
        </p:nvSpPr>
        <p:spPr>
          <a:xfrm>
            <a:off x="6126480" y="4983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A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RQ6</a:t>
            </a:r>
            <a:endParaRPr lang="en-US" sz="1300" dirty="0"/>
          </a:p>
        </p:txBody>
      </p:sp>
      <p:sp>
        <p:nvSpPr>
          <p:cNvPr id="38" name="Text 33"/>
          <p:cNvSpPr txBox="1"/>
          <p:nvPr/>
        </p:nvSpPr>
        <p:spPr>
          <a:xfrm>
            <a:off x="6720840" y="4983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digital-twin / decision-support approaches reported?</a:t>
            </a:r>
            <a:endParaRPr lang="en-US" sz="1350" dirty="0"/>
          </a:p>
        </p:txBody>
      </p:sp>
      <p:sp>
        <p:nvSpPr>
          <p:cNvPr id="39" name="Text 34"/>
          <p:cNvSpPr txBox="1"/>
          <p:nvPr/>
        </p:nvSpPr>
        <p:spPr>
          <a:xfrm>
            <a:off x="6126480" y="5532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A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RQ7</a:t>
            </a:r>
            <a:endParaRPr lang="en-US" sz="1300" dirty="0"/>
          </a:p>
        </p:txBody>
      </p:sp>
      <p:sp>
        <p:nvSpPr>
          <p:cNvPr id="40" name="Text 35"/>
          <p:cNvSpPr txBox="1"/>
          <p:nvPr/>
        </p:nvSpPr>
        <p:spPr>
          <a:xfrm>
            <a:off x="6720840" y="5532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validation level (lab, flow loop, field) is achieved?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mac-Desktop-KFUPM-SCE261-SCE-701-Directed-Research/879797bc-3e82-41cf-aca9-dd33d97e683d/scratchpad/symbol_green.png"/>
          <p:cNvPicPr>
            <a:picLocks noChangeAspect="1"/>
          </p:cNvPicPr>
          <p:nvPr/>
        </p:nvPicPr>
        <p:blipFill>
          <a:blip r:embed="rId3">
            <a:alphaModFix amt="7000"/>
          </a:blip>
          <a:stretch>
            <a:fillRect/>
          </a:stretch>
        </p:blipFill>
        <p:spPr>
          <a:xfrm>
            <a:off x="8229600" y="2011680"/>
            <a:ext cx="5120640" cy="5120640"/>
          </a:xfrm>
          <a:prstGeom prst="rect">
            <a:avLst/>
          </a:prstGeom>
        </p:spPr>
      </p:pic>
      <p:pic>
        <p:nvPicPr>
          <p:cNvPr id="3" name="Image 1" descr="/private/tmp/claude-501/-Users-mac-Desktop-KFUPM-SCE261-SCE-701-Directed-Research/879797bc-3e82-41cf-aca9-dd33d97e683d/scratchpad/lockup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320040"/>
            <a:ext cx="2194560" cy="476927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32004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Review Methodology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9601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2020 reporting, with PRISMA-S for the search log</a:t>
            </a:r>
            <a:endParaRPr lang="en-US" sz="15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73952"/>
            <a:ext cx="396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Soliu Alley  |  Control &amp; Instrumentation Engineering</a:t>
            </a:r>
            <a:endParaRPr lang="en-US" sz="1000" dirty="0"/>
          </a:p>
        </p:txBody>
      </p:sp>
      <p:sp>
        <p:nvSpPr>
          <p:cNvPr id="47" name="Text 47"/>
          <p:cNvSpPr txBox="1"/>
          <p:nvPr/>
        </p:nvSpPr>
        <p:spPr>
          <a:xfrm>
            <a:off x="4694040" y="647395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Research Progress</a:t>
            </a:r>
            <a:endParaRPr lang="en-US" sz="1000" dirty="0"/>
          </a:p>
        </p:txBody>
      </p:sp>
      <p:sp>
        <p:nvSpPr>
          <p:cNvPr id="48" name="Text 48"/>
          <p:cNvSpPr txBox="1"/>
          <p:nvPr/>
        </p:nvSpPr>
        <p:spPr>
          <a:xfrm>
            <a:off x="7360920" y="6473952"/>
            <a:ext cx="278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10698480" y="647395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1000" dirty="0"/>
          </a:p>
        </p:txBody>
      </p:sp>
      <p:sp>
        <p:nvSpPr>
          <p:cNvPr id="9" name="Shape 4"/>
          <p:cNvSpPr/>
          <p:nvPr/>
        </p:nvSpPr>
        <p:spPr>
          <a:xfrm>
            <a:off x="548640" y="1645920"/>
            <a:ext cx="1965960" cy="1005840"/>
          </a:xfrm>
          <a:prstGeom prst="chevron">
            <a:avLst/>
          </a:prstGeom>
          <a:solidFill>
            <a:srgbClr val="00854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 txBox="1"/>
          <p:nvPr/>
        </p:nvSpPr>
        <p:spPr>
          <a:xfrm>
            <a:off x="960120" y="164592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250" dirty="0"/>
          </a:p>
        </p:txBody>
      </p:sp>
      <p:sp>
        <p:nvSpPr>
          <p:cNvPr id="11" name="Shape 6"/>
          <p:cNvSpPr/>
          <p:nvPr/>
        </p:nvSpPr>
        <p:spPr>
          <a:xfrm>
            <a:off x="2404872" y="1645920"/>
            <a:ext cx="1965960" cy="1005840"/>
          </a:xfrm>
          <a:prstGeom prst="chevron">
            <a:avLst/>
          </a:prstGeom>
          <a:solidFill>
            <a:srgbClr val="00854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7"/>
          <p:cNvSpPr txBox="1"/>
          <p:nvPr/>
        </p:nvSpPr>
        <p:spPr>
          <a:xfrm>
            <a:off x="2816352" y="164592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search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4261104" y="1645920"/>
            <a:ext cx="1965960" cy="1005840"/>
          </a:xfrm>
          <a:prstGeom prst="chevron">
            <a:avLst/>
          </a:prstGeom>
          <a:solidFill>
            <a:srgbClr val="00854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 txBox="1"/>
          <p:nvPr/>
        </p:nvSpPr>
        <p:spPr>
          <a:xfrm>
            <a:off x="4672584" y="164592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117336" y="1645920"/>
            <a:ext cx="1965960" cy="1005840"/>
          </a:xfrm>
          <a:prstGeom prst="chevron">
            <a:avLst/>
          </a:prstGeom>
          <a:solidFill>
            <a:srgbClr val="00854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 txBox="1"/>
          <p:nvPr/>
        </p:nvSpPr>
        <p:spPr>
          <a:xfrm>
            <a:off x="6528816" y="164592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/ abstract screening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7973568" y="1645920"/>
            <a:ext cx="1965960" cy="1005840"/>
          </a:xfrm>
          <a:prstGeom prst="chevron">
            <a:avLst/>
          </a:prstGeom>
          <a:solidFill>
            <a:srgbClr val="D9DAE4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 txBox="1"/>
          <p:nvPr/>
        </p:nvSpPr>
        <p:spPr>
          <a:xfrm>
            <a:off x="8385048" y="164592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screening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9829800" y="1645920"/>
            <a:ext cx="1965960" cy="1005840"/>
          </a:xfrm>
          <a:prstGeom prst="chevron">
            <a:avLst/>
          </a:prstGeom>
          <a:solidFill>
            <a:srgbClr val="D9DAE4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 txBox="1"/>
          <p:nvPr/>
        </p:nvSpPr>
        <p:spPr>
          <a:xfrm>
            <a:off x="10241280" y="164592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extraction &amp; synthesis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2743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8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completed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1828800" y="2743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pending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48640" y="3200400"/>
            <a:ext cx="54864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 txBox="1"/>
          <p:nvPr/>
        </p:nvSpPr>
        <p:spPr>
          <a:xfrm>
            <a:off x="777240" y="3337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8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searched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777240" y="3794760"/>
            <a:ext cx="283464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Scopus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3566160" y="3794760"/>
            <a:ext cx="13716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4892040" y="3794760"/>
            <a:ext cx="9144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354</a:t>
            </a:r>
            <a:endParaRPr lang="en-US" sz="2000" dirty="0"/>
          </a:p>
        </p:txBody>
      </p:sp>
      <p:sp>
        <p:nvSpPr>
          <p:cNvPr id="28" name="Text 23"/>
          <p:cNvSpPr txBox="1"/>
          <p:nvPr/>
        </p:nvSpPr>
        <p:spPr>
          <a:xfrm>
            <a:off x="777240" y="4241104"/>
            <a:ext cx="283464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of Science Core Collection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3566160" y="4241104"/>
            <a:ext cx="13716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200" dirty="0"/>
          </a:p>
        </p:txBody>
      </p:sp>
      <p:sp>
        <p:nvSpPr>
          <p:cNvPr id="30" name="Text 25"/>
          <p:cNvSpPr txBox="1"/>
          <p:nvPr/>
        </p:nvSpPr>
        <p:spPr>
          <a:xfrm>
            <a:off x="4892040" y="4241104"/>
            <a:ext cx="9144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</a:t>
            </a:r>
            <a:endParaRPr lang="en-US" sz="2000" dirty="0"/>
          </a:p>
        </p:txBody>
      </p:sp>
      <p:sp>
        <p:nvSpPr>
          <p:cNvPr id="31" name="Text 26"/>
          <p:cNvSpPr txBox="1"/>
          <p:nvPr/>
        </p:nvSpPr>
        <p:spPr>
          <a:xfrm>
            <a:off x="777240" y="4687448"/>
            <a:ext cx="283464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Xplore</a:t>
            </a:r>
            <a:endParaRPr lang="en-US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3566160" y="4687448"/>
            <a:ext cx="13716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Supplementary</a:t>
            </a:r>
            <a:endParaRPr lang="en-US" sz="1200" dirty="0"/>
          </a:p>
        </p:txBody>
      </p:sp>
      <p:sp>
        <p:nvSpPr>
          <p:cNvPr id="33" name="Text 28"/>
          <p:cNvSpPr txBox="1"/>
          <p:nvPr/>
        </p:nvSpPr>
        <p:spPr>
          <a:xfrm>
            <a:off x="4892040" y="4687448"/>
            <a:ext cx="9144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2000" dirty="0"/>
          </a:p>
        </p:txBody>
      </p:sp>
      <p:sp>
        <p:nvSpPr>
          <p:cNvPr id="34" name="Text 29"/>
          <p:cNvSpPr txBox="1"/>
          <p:nvPr/>
        </p:nvSpPr>
        <p:spPr>
          <a:xfrm>
            <a:off x="777240" y="5133792"/>
            <a:ext cx="283464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ScienceDirect</a:t>
            </a:r>
            <a:endParaRPr lang="en-US" sz="1400" dirty="0"/>
          </a:p>
        </p:txBody>
      </p:sp>
      <p:sp>
        <p:nvSpPr>
          <p:cNvPr id="35" name="Text 30"/>
          <p:cNvSpPr txBox="1"/>
          <p:nvPr/>
        </p:nvSpPr>
        <p:spPr>
          <a:xfrm>
            <a:off x="3566160" y="5133792"/>
            <a:ext cx="13716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Supplementary</a:t>
            </a:r>
            <a:endParaRPr lang="en-US" sz="1200" dirty="0"/>
          </a:p>
        </p:txBody>
      </p:sp>
      <p:sp>
        <p:nvSpPr>
          <p:cNvPr id="36" name="Text 31"/>
          <p:cNvSpPr txBox="1"/>
          <p:nvPr/>
        </p:nvSpPr>
        <p:spPr>
          <a:xfrm>
            <a:off x="4892040" y="5133792"/>
            <a:ext cx="9144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49" name="Text 49"/>
          <p:cNvSpPr txBox="1"/>
          <p:nvPr/>
        </p:nvSpPr>
        <p:spPr>
          <a:xfrm>
            <a:off x="777240" y="5580136"/>
            <a:ext cx="283464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Digital Library (SDL)</a:t>
            </a:r>
            <a:endParaRPr lang="en-US" sz="1400" dirty="0"/>
          </a:p>
        </p:txBody>
      </p:sp>
      <p:sp>
        <p:nvSpPr>
          <p:cNvPr id="50" name="Text 50"/>
          <p:cNvSpPr txBox="1"/>
          <p:nvPr/>
        </p:nvSpPr>
        <p:spPr>
          <a:xfrm>
            <a:off x="3566160" y="5580136"/>
            <a:ext cx="13716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Supplementary</a:t>
            </a:r>
            <a:endParaRPr lang="en-US" sz="1200" dirty="0"/>
          </a:p>
        </p:txBody>
      </p:sp>
      <p:sp>
        <p:nvSpPr>
          <p:cNvPr id="51" name="Text 51"/>
          <p:cNvSpPr txBox="1"/>
          <p:nvPr/>
        </p:nvSpPr>
        <p:spPr>
          <a:xfrm>
            <a:off x="4892040" y="5580136"/>
            <a:ext cx="9144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2000" dirty="0"/>
          </a:p>
        </p:txBody>
      </p:sp>
      <p:sp>
        <p:nvSpPr>
          <p:cNvPr id="37" name="Shape 32"/>
          <p:cNvSpPr/>
          <p:nvPr/>
        </p:nvSpPr>
        <p:spPr>
          <a:xfrm>
            <a:off x="6309360" y="3200400"/>
            <a:ext cx="534924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 txBox="1"/>
          <p:nvPr/>
        </p:nvSpPr>
        <p:spPr>
          <a:xfrm>
            <a:off x="6537960" y="33375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8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filters &amp; scope</a:t>
            </a:r>
            <a:endParaRPr lang="en-US" sz="1800" dirty="0"/>
          </a:p>
        </p:txBody>
      </p:sp>
      <p:sp>
        <p:nvSpPr>
          <p:cNvPr id="39" name="Text 34"/>
          <p:cNvSpPr txBox="1"/>
          <p:nvPr/>
        </p:nvSpPr>
        <p:spPr>
          <a:xfrm>
            <a:off x="6537960" y="3794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2016–2026</a:t>
            </a:r>
            <a:endParaRPr lang="en-US" sz="1400" dirty="0"/>
          </a:p>
        </p:txBody>
      </p:sp>
      <p:sp>
        <p:nvSpPr>
          <p:cNvPr id="40" name="Text 35"/>
          <p:cNvSpPr txBox="1"/>
          <p:nvPr/>
        </p:nvSpPr>
        <p:spPr>
          <a:xfrm>
            <a:off x="9418320" y="3794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window</a:t>
            </a:r>
            <a:endParaRPr lang="en-US" sz="1200" dirty="0"/>
          </a:p>
        </p:txBody>
      </p:sp>
      <p:sp>
        <p:nvSpPr>
          <p:cNvPr id="41" name="Text 36"/>
          <p:cNvSpPr txBox="1"/>
          <p:nvPr/>
        </p:nvSpPr>
        <p:spPr>
          <a:xfrm>
            <a:off x="6537960" y="43616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400" dirty="0"/>
          </a:p>
        </p:txBody>
      </p:sp>
      <p:sp>
        <p:nvSpPr>
          <p:cNvPr id="42" name="Text 37"/>
          <p:cNvSpPr txBox="1"/>
          <p:nvPr/>
        </p:nvSpPr>
        <p:spPr>
          <a:xfrm>
            <a:off x="9418320" y="43616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200" dirty="0"/>
          </a:p>
        </p:txBody>
      </p:sp>
      <p:sp>
        <p:nvSpPr>
          <p:cNvPr id="43" name="Text 38"/>
          <p:cNvSpPr txBox="1"/>
          <p:nvPr/>
        </p:nvSpPr>
        <p:spPr>
          <a:xfrm>
            <a:off x="6537960" y="492861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+ conference</a:t>
            </a:r>
            <a:endParaRPr lang="en-US" sz="1400" dirty="0"/>
          </a:p>
        </p:txBody>
      </p:sp>
      <p:sp>
        <p:nvSpPr>
          <p:cNvPr id="44" name="Text 39"/>
          <p:cNvSpPr txBox="1"/>
          <p:nvPr/>
        </p:nvSpPr>
        <p:spPr>
          <a:xfrm>
            <a:off x="9418320" y="492861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types</a:t>
            </a:r>
            <a:endParaRPr lang="en-US" sz="1200" dirty="0"/>
          </a:p>
        </p:txBody>
      </p:sp>
      <p:sp>
        <p:nvSpPr>
          <p:cNvPr id="45" name="Text 40"/>
          <p:cNvSpPr txBox="1"/>
          <p:nvPr/>
        </p:nvSpPr>
        <p:spPr>
          <a:xfrm>
            <a:off x="6537960" y="549554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terms + ≥1 of 4 specialty themes</a:t>
            </a:r>
            <a:endParaRPr lang="en-US" sz="1100" dirty="0"/>
          </a:p>
        </p:txBody>
      </p:sp>
      <p:sp>
        <p:nvSpPr>
          <p:cNvPr id="46" name="Text 41"/>
          <p:cNvSpPr txBox="1"/>
          <p:nvPr/>
        </p:nvSpPr>
        <p:spPr>
          <a:xfrm>
            <a:off x="9418320" y="549554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concept logic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mac-Desktop-KFUPM-SCE261-SCE-701-Directed-Research/879797bc-3e82-41cf-aca9-dd33d97e683d/scratchpad/symbol_green.png"/>
          <p:cNvPicPr>
            <a:picLocks noChangeAspect="1"/>
          </p:cNvPicPr>
          <p:nvPr/>
        </p:nvPicPr>
        <p:blipFill>
          <a:blip r:embed="rId3">
            <a:alphaModFix amt="7000"/>
          </a:blip>
          <a:stretch>
            <a:fillRect/>
          </a:stretch>
        </p:blipFill>
        <p:spPr>
          <a:xfrm>
            <a:off x="8229600" y="2011680"/>
            <a:ext cx="5120640" cy="5120640"/>
          </a:xfrm>
          <a:prstGeom prst="rect">
            <a:avLst/>
          </a:prstGeom>
        </p:spPr>
      </p:pic>
      <p:pic>
        <p:nvPicPr>
          <p:cNvPr id="3" name="Image 1" descr="/private/tmp/claude-501/-Users-mac-Desktop-KFUPM-SCE261-SCE-701-Directed-Research/879797bc-3e82-41cf-aca9-dd33d97e683d/scratchpad/lockup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320040"/>
            <a:ext cx="2194560" cy="476927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32004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Criteria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9601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the R / M / I definitions and the screening decisions so far</a:t>
            </a:r>
            <a:endParaRPr lang="en-US" sz="15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73952"/>
            <a:ext cx="396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Soliu Alley  |  Control &amp; Instrumentation Engineering</a:t>
            </a:r>
            <a:endParaRPr lang="en-US" sz="1000" dirty="0"/>
          </a:p>
        </p:txBody>
      </p:sp>
      <p:sp>
        <p:nvSpPr>
          <p:cNvPr id="36" name="Text 36"/>
          <p:cNvSpPr txBox="1"/>
          <p:nvPr/>
        </p:nvSpPr>
        <p:spPr>
          <a:xfrm>
            <a:off x="4694040" y="647395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Research Progress</a:t>
            </a:r>
            <a:endParaRPr lang="en-US" sz="1000" dirty="0"/>
          </a:p>
        </p:txBody>
      </p:sp>
      <p:sp>
        <p:nvSpPr>
          <p:cNvPr id="37" name="Text 37"/>
          <p:cNvSpPr txBox="1"/>
          <p:nvPr/>
        </p:nvSpPr>
        <p:spPr>
          <a:xfrm>
            <a:off x="7360920" y="6473952"/>
            <a:ext cx="278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10698480" y="647395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1000" dirty="0"/>
          </a:p>
        </p:txBody>
      </p:sp>
      <p:sp>
        <p:nvSpPr>
          <p:cNvPr id="9" name="Shape 4"/>
          <p:cNvSpPr/>
          <p:nvPr/>
        </p:nvSpPr>
        <p:spPr>
          <a:xfrm>
            <a:off x="548640" y="1600200"/>
            <a:ext cx="544068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9050">
            <a:solidFill>
              <a:srgbClr val="00854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5"/>
          <p:cNvSpPr/>
          <p:nvPr/>
        </p:nvSpPr>
        <p:spPr>
          <a:xfrm>
            <a:off x="777240" y="1783080"/>
            <a:ext cx="457200" cy="457200"/>
          </a:xfrm>
          <a:prstGeom prst="ellipse">
            <a:avLst/>
          </a:prstGeom>
          <a:solidFill>
            <a:srgbClr val="008540"/>
          </a:solidFill>
          <a:ln w="12700">
            <a:solidFill>
              <a:srgbClr val="008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 txBox="1"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1371600" y="1783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8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</a:t>
            </a:r>
            <a:endParaRPr lang="en-US" sz="2200" dirty="0"/>
          </a:p>
        </p:txBody>
      </p:sp>
      <p:sp>
        <p:nvSpPr>
          <p:cNvPr id="13" name="Text 8"/>
          <p:cNvSpPr txBox="1"/>
          <p:nvPr/>
        </p:nvSpPr>
        <p:spPr>
          <a:xfrm>
            <a:off x="822960" y="242316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Peer-reviewed journal articles and full conference papers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2016–2026, in English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studies scale formation, prediction, monitoring or inhibitor optimization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in a pipeline, wellbore, reservoir or production system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method contribution (model, experiment, ML, sensing, dosing)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Membrane / RO scaling kept as "Maybe" — potentially transferable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6217920" y="1600200"/>
            <a:ext cx="544068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9050">
            <a:solidFill>
              <a:srgbClr val="9C2B2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6446520" y="1783080"/>
            <a:ext cx="457200" cy="457200"/>
          </a:xfrm>
          <a:prstGeom prst="ellipse">
            <a:avLst/>
          </a:prstGeom>
          <a:solidFill>
            <a:srgbClr val="9C2B2B"/>
          </a:solidFill>
          <a:ln w="12700">
            <a:solidFill>
              <a:srgbClr val="9C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 txBox="1"/>
          <p:nvPr/>
        </p:nvSpPr>
        <p:spPr>
          <a:xfrm>
            <a:off x="64465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7040880" y="17830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Exclusion (applied so far)</a:t>
            </a:r>
            <a:endParaRPr lang="en-US" sz="2200" dirty="0"/>
          </a:p>
        </p:txBody>
      </p:sp>
      <p:sp>
        <p:nvSpPr>
          <p:cNvPr id="18" name="Shape 13"/>
          <p:cNvSpPr/>
          <p:nvPr/>
        </p:nvSpPr>
        <p:spPr>
          <a:xfrm>
            <a:off x="6446520" y="2423160"/>
            <a:ext cx="548640" cy="457200"/>
          </a:xfrm>
          <a:prstGeom prst="roundRect">
            <a:avLst>
              <a:gd name="adj" fmla="val 12000"/>
            </a:avLst>
          </a:prstGeom>
          <a:solidFill>
            <a:srgbClr val="F6E6E6"/>
          </a:solidFill>
          <a:ln w="12700">
            <a:solidFill>
              <a:srgbClr val="F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 txBox="1"/>
          <p:nvPr/>
        </p:nvSpPr>
        <p:spPr>
          <a:xfrm>
            <a:off x="6446520" y="2423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7132320" y="24231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Non-substantive record (book TOC / chapter / index)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6446520" y="3017520"/>
            <a:ext cx="548640" cy="457200"/>
          </a:xfrm>
          <a:prstGeom prst="roundRect">
            <a:avLst>
              <a:gd name="adj" fmla="val 12000"/>
            </a:avLst>
          </a:prstGeom>
          <a:solidFill>
            <a:srgbClr val="F6E6E6"/>
          </a:solidFill>
          <a:ln w="12700">
            <a:solidFill>
              <a:srgbClr val="F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 txBox="1"/>
          <p:nvPr/>
        </p:nvSpPr>
        <p:spPr>
          <a:xfrm>
            <a:off x="6446520" y="3017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7132320" y="30175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domain (unrelated field)</a:t>
            </a:r>
            <a:endParaRPr lang="en-US" sz="1350" dirty="0"/>
          </a:p>
        </p:txBody>
      </p:sp>
      <p:sp>
        <p:nvSpPr>
          <p:cNvPr id="24" name="Shape 19"/>
          <p:cNvSpPr/>
          <p:nvPr/>
        </p:nvSpPr>
        <p:spPr>
          <a:xfrm>
            <a:off x="6446520" y="3611880"/>
            <a:ext cx="548640" cy="457200"/>
          </a:xfrm>
          <a:prstGeom prst="roundRect">
            <a:avLst>
              <a:gd name="adj" fmla="val 12000"/>
            </a:avLst>
          </a:prstGeom>
          <a:solidFill>
            <a:srgbClr val="F6E6E6"/>
          </a:solidFill>
          <a:ln w="12700">
            <a:solidFill>
              <a:srgbClr val="F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 txBox="1"/>
          <p:nvPr/>
        </p:nvSpPr>
        <p:spPr>
          <a:xfrm>
            <a:off x="6446520" y="3611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7132320" y="36118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corrosion study, no scale-formation component</a:t>
            </a:r>
            <a:endParaRPr lang="en-US" sz="1350" dirty="0"/>
          </a:p>
        </p:txBody>
      </p:sp>
      <p:sp>
        <p:nvSpPr>
          <p:cNvPr id="27" name="Shape 22"/>
          <p:cNvSpPr/>
          <p:nvPr/>
        </p:nvSpPr>
        <p:spPr>
          <a:xfrm>
            <a:off x="6446520" y="4206240"/>
            <a:ext cx="548640" cy="457200"/>
          </a:xfrm>
          <a:prstGeom prst="roundRect">
            <a:avLst>
              <a:gd name="adj" fmla="val 12000"/>
            </a:avLst>
          </a:prstGeom>
          <a:solidFill>
            <a:srgbClr val="F6E6E6"/>
          </a:solidFill>
          <a:ln w="12700">
            <a:solidFill>
              <a:srgbClr val="F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 txBox="1"/>
          <p:nvPr/>
        </p:nvSpPr>
        <p:spPr>
          <a:xfrm>
            <a:off x="6446520" y="4206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4"/>
          <p:cNvSpPr txBox="1"/>
          <p:nvPr/>
        </p:nvSpPr>
        <p:spPr>
          <a:xfrm>
            <a:off x="7132320" y="4206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phenomenon (not flow-assurance mineral scale)</a:t>
            </a:r>
            <a:endParaRPr lang="en-US" sz="1350" dirty="0"/>
          </a:p>
        </p:txBody>
      </p:sp>
      <p:sp>
        <p:nvSpPr>
          <p:cNvPr id="30" name="Shape 25"/>
          <p:cNvSpPr/>
          <p:nvPr/>
        </p:nvSpPr>
        <p:spPr>
          <a:xfrm>
            <a:off x="6446520" y="4800600"/>
            <a:ext cx="548640" cy="457200"/>
          </a:xfrm>
          <a:prstGeom prst="roundRect">
            <a:avLst>
              <a:gd name="adj" fmla="val 12000"/>
            </a:avLst>
          </a:prstGeom>
          <a:solidFill>
            <a:srgbClr val="F6E6E6"/>
          </a:solidFill>
          <a:ln w="12700">
            <a:solidFill>
              <a:srgbClr val="F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 txBox="1"/>
          <p:nvPr/>
        </p:nvSpPr>
        <p:spPr>
          <a:xfrm>
            <a:off x="6446520" y="4800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27"/>
          <p:cNvSpPr txBox="1"/>
          <p:nvPr/>
        </p:nvSpPr>
        <p:spPr>
          <a:xfrm>
            <a:off x="7132320" y="48006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Unrelated industry (non-oilfield application)</a:t>
            </a:r>
            <a:endParaRPr lang="en-US" sz="1350" dirty="0"/>
          </a:p>
        </p:txBody>
      </p:sp>
      <p:sp>
        <p:nvSpPr>
          <p:cNvPr id="33" name="Shape 28"/>
          <p:cNvSpPr/>
          <p:nvPr/>
        </p:nvSpPr>
        <p:spPr>
          <a:xfrm>
            <a:off x="6446520" y="5394960"/>
            <a:ext cx="548640" cy="457200"/>
          </a:xfrm>
          <a:prstGeom prst="roundRect">
            <a:avLst>
              <a:gd name="adj" fmla="val 12000"/>
            </a:avLst>
          </a:prstGeom>
          <a:solidFill>
            <a:srgbClr val="F6E6E6"/>
          </a:solidFill>
          <a:ln w="12700">
            <a:solidFill>
              <a:srgbClr val="F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 txBox="1"/>
          <p:nvPr/>
        </p:nvSpPr>
        <p:spPr>
          <a:xfrm>
            <a:off x="6446520" y="5394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5" name="Text 30"/>
          <p:cNvSpPr txBox="1"/>
          <p:nvPr/>
        </p:nvSpPr>
        <p:spPr>
          <a:xfrm>
            <a:off x="7132320" y="53949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Retracted publication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mac-Desktop-KFUPM-SCE261-SCE-701-Directed-Research/879797bc-3e82-41cf-aca9-dd33d97e683d/scratchpad/symbol_green.png"/>
          <p:cNvPicPr>
            <a:picLocks noChangeAspect="1"/>
          </p:cNvPicPr>
          <p:nvPr/>
        </p:nvPicPr>
        <p:blipFill>
          <a:blip r:embed="rId3">
            <a:alphaModFix amt="7000"/>
          </a:blip>
          <a:stretch>
            <a:fillRect/>
          </a:stretch>
        </p:blipFill>
        <p:spPr>
          <a:xfrm>
            <a:off x="8229600" y="2011680"/>
            <a:ext cx="5120640" cy="5120640"/>
          </a:xfrm>
          <a:prstGeom prst="rect">
            <a:avLst/>
          </a:prstGeom>
        </p:spPr>
      </p:pic>
      <p:pic>
        <p:nvPicPr>
          <p:cNvPr id="3" name="Image 1" descr="/private/tmp/claude-501/-Users-mac-Desktop-KFUPM-SCE261-SCE-701-Directed-Research/879797bc-3e82-41cf-aca9-dd33d97e683d/scratchpad/lockup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320040"/>
            <a:ext cx="2194560" cy="476927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32004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Architecture: Concept Blocks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9601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concept blocks feed the search strategy for scale formation in pipelines</a:t>
            </a:r>
            <a:endParaRPr lang="en-US" sz="15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73952"/>
            <a:ext cx="396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Soliu Alley  |  Control &amp; Instrumentation Engineering</a:t>
            </a:r>
            <a:endParaRPr lang="en-US" sz="1000" dirty="0"/>
          </a:p>
        </p:txBody>
      </p:sp>
      <p:sp>
        <p:nvSpPr>
          <p:cNvPr id="68" name="Text 68"/>
          <p:cNvSpPr txBox="1"/>
          <p:nvPr/>
        </p:nvSpPr>
        <p:spPr>
          <a:xfrm>
            <a:off x="4694040" y="647395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Research Progress</a:t>
            </a:r>
            <a:endParaRPr lang="en-US" sz="1000" dirty="0"/>
          </a:p>
        </p:txBody>
      </p:sp>
      <p:sp>
        <p:nvSpPr>
          <p:cNvPr id="69" name="Text 69"/>
          <p:cNvSpPr txBox="1"/>
          <p:nvPr/>
        </p:nvSpPr>
        <p:spPr>
          <a:xfrm>
            <a:off x="7360920" y="6473952"/>
            <a:ext cx="278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10698480" y="647395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1000" dirty="0"/>
          </a:p>
        </p:txBody>
      </p:sp>
      <p:sp>
        <p:nvSpPr>
          <p:cNvPr id="9" name="Shape 4"/>
          <p:cNvSpPr/>
          <p:nvPr/>
        </p:nvSpPr>
        <p:spPr>
          <a:xfrm>
            <a:off x="502920" y="1463040"/>
            <a:ext cx="3246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2225">
            <a:solidFill>
              <a:srgbClr val="00573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5"/>
          <p:cNvSpPr/>
          <p:nvPr/>
        </p:nvSpPr>
        <p:spPr>
          <a:xfrm>
            <a:off x="640080" y="1645920"/>
            <a:ext cx="548640" cy="548640"/>
          </a:xfrm>
          <a:prstGeom prst="ellipse">
            <a:avLst/>
          </a:prstGeom>
          <a:solidFill>
            <a:srgbClr val="00573F"/>
          </a:solidFill>
          <a:ln w="12700">
            <a:solidFill>
              <a:srgbClr val="0057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 txBox="1"/>
          <p:nvPr/>
        </p:nvSpPr>
        <p:spPr>
          <a:xfrm>
            <a:off x="64008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12" name="Text 7"/>
          <p:cNvSpPr txBox="1"/>
          <p:nvPr/>
        </p:nvSpPr>
        <p:spPr>
          <a:xfrm>
            <a:off x="1325880" y="16865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phenomenon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325880" y="19740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Scale-formation / deposition phrases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 flipH="1" flipV="1">
            <a:off x="3794760" y="2011680"/>
            <a:ext cx="1056487" cy="775596"/>
          </a:xfrm>
          <a:prstGeom prst="line">
            <a:avLst/>
          </a:prstGeom>
          <a:noFill/>
          <a:ln w="28575">
            <a:solidFill>
              <a:srgbClr val="00573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502920" y="2651760"/>
            <a:ext cx="3246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2225">
            <a:solidFill>
              <a:srgbClr val="00573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640080" y="2834640"/>
            <a:ext cx="548640" cy="548640"/>
          </a:xfrm>
          <a:prstGeom prst="ellipse">
            <a:avLst/>
          </a:prstGeom>
          <a:solidFill>
            <a:srgbClr val="00573F"/>
          </a:solidFill>
          <a:ln w="12700">
            <a:solidFill>
              <a:srgbClr val="0057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 txBox="1"/>
          <p:nvPr/>
        </p:nvSpPr>
        <p:spPr>
          <a:xfrm>
            <a:off x="64008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1325880" y="2844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species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1325880" y="318312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CaCO₃ · BaSO₄ · SrSO₄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 flipH="1" flipV="1">
            <a:off x="3794760" y="3200400"/>
            <a:ext cx="791941" cy="172844"/>
          </a:xfrm>
          <a:prstGeom prst="line">
            <a:avLst/>
          </a:prstGeom>
          <a:noFill/>
          <a:ln w="28575">
            <a:solidFill>
              <a:srgbClr val="00573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502920" y="3840480"/>
            <a:ext cx="3246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2225">
            <a:solidFill>
              <a:srgbClr val="00573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40080" y="4023360"/>
            <a:ext cx="548640" cy="548640"/>
          </a:xfrm>
          <a:prstGeom prst="ellipse">
            <a:avLst/>
          </a:prstGeom>
          <a:solidFill>
            <a:srgbClr val="00573F"/>
          </a:solidFill>
          <a:ln w="12700">
            <a:solidFill>
              <a:srgbClr val="0057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 txBox="1"/>
          <p:nvPr/>
        </p:nvSpPr>
        <p:spPr>
          <a:xfrm>
            <a:off x="64008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400" dirty="0"/>
          </a:p>
        </p:txBody>
      </p:sp>
      <p:sp>
        <p:nvSpPr>
          <p:cNvPr id="26" name="Text 21"/>
          <p:cNvSpPr txBox="1"/>
          <p:nvPr/>
        </p:nvSpPr>
        <p:spPr>
          <a:xfrm>
            <a:off x="1325880" y="39928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context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1325880" y="433120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· wellbore · oilfield · reservoir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 flipH="1">
            <a:off x="3794760" y="4144878"/>
            <a:ext cx="820653" cy="244242"/>
          </a:xfrm>
          <a:prstGeom prst="line">
            <a:avLst/>
          </a:prstGeom>
          <a:noFill/>
          <a:ln w="28575">
            <a:solidFill>
              <a:srgbClr val="00573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502920" y="5029200"/>
            <a:ext cx="3246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2225">
            <a:solidFill>
              <a:srgbClr val="00854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640080" y="5212080"/>
            <a:ext cx="548640" cy="548640"/>
          </a:xfrm>
          <a:prstGeom prst="ellipse">
            <a:avLst/>
          </a:prstGeom>
          <a:solidFill>
            <a:srgbClr val="008540"/>
          </a:solidFill>
          <a:ln w="12700">
            <a:solidFill>
              <a:srgbClr val="008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 txBox="1"/>
          <p:nvPr/>
        </p:nvSpPr>
        <p:spPr>
          <a:xfrm>
            <a:off x="640080" y="5212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400" dirty="0"/>
          </a:p>
        </p:txBody>
      </p:sp>
      <p:sp>
        <p:nvSpPr>
          <p:cNvPr id="33" name="Text 28"/>
          <p:cNvSpPr txBox="1"/>
          <p:nvPr/>
        </p:nvSpPr>
        <p:spPr>
          <a:xfrm>
            <a:off x="1325880" y="51917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Kinetics &amp; modelling</a:t>
            </a:r>
            <a:endParaRPr lang="en-US" sz="1500" dirty="0"/>
          </a:p>
        </p:txBody>
      </p:sp>
      <p:sp>
        <p:nvSpPr>
          <p:cNvPr id="34" name="Text 29"/>
          <p:cNvSpPr txBox="1"/>
          <p:nvPr/>
        </p:nvSpPr>
        <p:spPr>
          <a:xfrm>
            <a:off x="1325880" y="54589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Thermodynamics, kinetics, CFD / transport</a:t>
            </a:r>
            <a:endParaRPr lang="en-US" sz="1150" dirty="0"/>
          </a:p>
        </p:txBody>
      </p:sp>
      <p:sp>
        <p:nvSpPr>
          <p:cNvPr id="36" name="Shape 31"/>
          <p:cNvSpPr/>
          <p:nvPr/>
        </p:nvSpPr>
        <p:spPr>
          <a:xfrm flipH="1">
            <a:off x="3794760" y="4680162"/>
            <a:ext cx="1103487" cy="897678"/>
          </a:xfrm>
          <a:prstGeom prst="line">
            <a:avLst/>
          </a:prstGeom>
          <a:noFill/>
          <a:ln w="28575">
            <a:solidFill>
              <a:srgbClr val="00854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2"/>
          <p:cNvSpPr/>
          <p:nvPr/>
        </p:nvSpPr>
        <p:spPr>
          <a:xfrm>
            <a:off x="8439912" y="1463040"/>
            <a:ext cx="3246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2225">
            <a:solidFill>
              <a:srgbClr val="00854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3"/>
          <p:cNvSpPr/>
          <p:nvPr/>
        </p:nvSpPr>
        <p:spPr>
          <a:xfrm>
            <a:off x="8577072" y="1645920"/>
            <a:ext cx="548640" cy="548640"/>
          </a:xfrm>
          <a:prstGeom prst="ellipse">
            <a:avLst/>
          </a:prstGeom>
          <a:solidFill>
            <a:srgbClr val="008540"/>
          </a:solidFill>
          <a:ln w="12700">
            <a:solidFill>
              <a:srgbClr val="008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4"/>
          <p:cNvSpPr txBox="1"/>
          <p:nvPr/>
        </p:nvSpPr>
        <p:spPr>
          <a:xfrm>
            <a:off x="8577072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400" dirty="0"/>
          </a:p>
        </p:txBody>
      </p:sp>
      <p:sp>
        <p:nvSpPr>
          <p:cNvPr id="40" name="Text 35"/>
          <p:cNvSpPr txBox="1"/>
          <p:nvPr/>
        </p:nvSpPr>
        <p:spPr>
          <a:xfrm>
            <a:off x="9262872" y="16256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Machine learning</a:t>
            </a:r>
            <a:endParaRPr lang="en-US" sz="1500" dirty="0"/>
          </a:p>
        </p:txBody>
      </p:sp>
      <p:sp>
        <p:nvSpPr>
          <p:cNvPr id="41" name="Text 36"/>
          <p:cNvSpPr txBox="1"/>
          <p:nvPr/>
        </p:nvSpPr>
        <p:spPr>
          <a:xfrm>
            <a:off x="9262872" y="196392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Prediction, classification, data-driven models</a:t>
            </a:r>
            <a:endParaRPr lang="en-US" sz="1150" dirty="0"/>
          </a:p>
        </p:txBody>
      </p:sp>
      <p:sp>
        <p:nvSpPr>
          <p:cNvPr id="43" name="Shape 38"/>
          <p:cNvSpPr/>
          <p:nvPr/>
        </p:nvSpPr>
        <p:spPr>
          <a:xfrm flipV="1">
            <a:off x="7345108" y="2011680"/>
            <a:ext cx="1049084" cy="773229"/>
          </a:xfrm>
          <a:prstGeom prst="line">
            <a:avLst/>
          </a:prstGeom>
          <a:noFill/>
          <a:ln w="28575">
            <a:solidFill>
              <a:srgbClr val="00854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39"/>
          <p:cNvSpPr/>
          <p:nvPr/>
        </p:nvSpPr>
        <p:spPr>
          <a:xfrm>
            <a:off x="8439912" y="2651760"/>
            <a:ext cx="3246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2225">
            <a:solidFill>
              <a:srgbClr val="00854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0"/>
          <p:cNvSpPr/>
          <p:nvPr/>
        </p:nvSpPr>
        <p:spPr>
          <a:xfrm>
            <a:off x="8577072" y="2834640"/>
            <a:ext cx="548640" cy="548640"/>
          </a:xfrm>
          <a:prstGeom prst="ellipse">
            <a:avLst/>
          </a:prstGeom>
          <a:solidFill>
            <a:srgbClr val="008540"/>
          </a:solidFill>
          <a:ln w="12700">
            <a:solidFill>
              <a:srgbClr val="008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1"/>
          <p:cNvSpPr txBox="1"/>
          <p:nvPr/>
        </p:nvSpPr>
        <p:spPr>
          <a:xfrm>
            <a:off x="8577072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400" dirty="0"/>
          </a:p>
        </p:txBody>
      </p:sp>
      <p:sp>
        <p:nvSpPr>
          <p:cNvPr id="47" name="Text 42"/>
          <p:cNvSpPr txBox="1"/>
          <p:nvPr/>
        </p:nvSpPr>
        <p:spPr>
          <a:xfrm>
            <a:off x="9262872" y="2813475"/>
            <a:ext cx="2331720" cy="240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 &amp; monitoring</a:t>
            </a:r>
            <a:endParaRPr lang="en-US" sz="1500" dirty="0"/>
          </a:p>
        </p:txBody>
      </p:sp>
      <p:sp>
        <p:nvSpPr>
          <p:cNvPr id="48" name="Text 43"/>
          <p:cNvSpPr txBox="1"/>
          <p:nvPr/>
        </p:nvSpPr>
        <p:spPr>
          <a:xfrm>
            <a:off x="9262872" y="3163173"/>
            <a:ext cx="2331720" cy="309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Ultrasonic, fibre-optic, gamma, real-time</a:t>
            </a:r>
            <a:endParaRPr lang="en-US" sz="1150" dirty="0"/>
          </a:p>
        </p:txBody>
      </p:sp>
      <p:sp>
        <p:nvSpPr>
          <p:cNvPr id="50" name="Shape 45"/>
          <p:cNvSpPr/>
          <p:nvPr/>
        </p:nvSpPr>
        <p:spPr>
          <a:xfrm flipV="1">
            <a:off x="7611121" y="3200400"/>
            <a:ext cx="783071" cy="171589"/>
          </a:xfrm>
          <a:prstGeom prst="line">
            <a:avLst/>
          </a:prstGeom>
          <a:noFill/>
          <a:ln w="28575">
            <a:solidFill>
              <a:srgbClr val="00854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6"/>
          <p:cNvSpPr/>
          <p:nvPr/>
        </p:nvSpPr>
        <p:spPr>
          <a:xfrm>
            <a:off x="8439912" y="3840480"/>
            <a:ext cx="3246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2225">
            <a:solidFill>
              <a:srgbClr val="00854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47"/>
          <p:cNvSpPr/>
          <p:nvPr/>
        </p:nvSpPr>
        <p:spPr>
          <a:xfrm>
            <a:off x="8577072" y="4023360"/>
            <a:ext cx="548640" cy="548640"/>
          </a:xfrm>
          <a:prstGeom prst="ellipse">
            <a:avLst/>
          </a:prstGeom>
          <a:solidFill>
            <a:srgbClr val="008540"/>
          </a:solidFill>
          <a:ln w="12700">
            <a:solidFill>
              <a:srgbClr val="008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8"/>
          <p:cNvSpPr txBox="1"/>
          <p:nvPr/>
        </p:nvSpPr>
        <p:spPr>
          <a:xfrm>
            <a:off x="8577072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2400" dirty="0"/>
          </a:p>
        </p:txBody>
      </p:sp>
      <p:sp>
        <p:nvSpPr>
          <p:cNvPr id="54" name="Text 49"/>
          <p:cNvSpPr txBox="1"/>
          <p:nvPr/>
        </p:nvSpPr>
        <p:spPr>
          <a:xfrm>
            <a:off x="9262872" y="40538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Inhibitor &amp; dosage</a:t>
            </a:r>
            <a:endParaRPr lang="en-US" sz="1500" dirty="0"/>
          </a:p>
        </p:txBody>
      </p:sp>
      <p:sp>
        <p:nvSpPr>
          <p:cNvPr id="55" name="Text 50"/>
          <p:cNvSpPr txBox="1"/>
          <p:nvPr/>
        </p:nvSpPr>
        <p:spPr>
          <a:xfrm>
            <a:off x="9262872" y="43921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MIC, adsorption, dose optimization</a:t>
            </a:r>
            <a:endParaRPr lang="en-US" sz="1150" dirty="0"/>
          </a:p>
        </p:txBody>
      </p:sp>
      <p:sp>
        <p:nvSpPr>
          <p:cNvPr id="57" name="Shape 52"/>
          <p:cNvSpPr/>
          <p:nvPr/>
        </p:nvSpPr>
        <p:spPr>
          <a:xfrm>
            <a:off x="7582201" y="4146493"/>
            <a:ext cx="811991" cy="242627"/>
          </a:xfrm>
          <a:prstGeom prst="line">
            <a:avLst/>
          </a:prstGeom>
          <a:noFill/>
          <a:ln w="28575">
            <a:solidFill>
              <a:srgbClr val="00854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3"/>
          <p:cNvSpPr/>
          <p:nvPr/>
        </p:nvSpPr>
        <p:spPr>
          <a:xfrm>
            <a:off x="8439912" y="5029200"/>
            <a:ext cx="3246120" cy="1097280"/>
          </a:xfrm>
          <a:prstGeom prst="roundRect">
            <a:avLst>
              <a:gd name="adj" fmla="val 6667"/>
            </a:avLst>
          </a:prstGeom>
          <a:solidFill>
            <a:srgbClr val="FBF8E8"/>
          </a:solidFill>
          <a:ln w="22225">
            <a:solidFill>
              <a:srgbClr val="AA8A00"/>
            </a:solidFill>
            <a:prstDash val="dash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9" name="Shape 54"/>
          <p:cNvSpPr/>
          <p:nvPr/>
        </p:nvSpPr>
        <p:spPr>
          <a:xfrm>
            <a:off x="8577072" y="5212080"/>
            <a:ext cx="548640" cy="548640"/>
          </a:xfrm>
          <a:prstGeom prst="ellipse">
            <a:avLst/>
          </a:prstGeom>
          <a:solidFill>
            <a:srgbClr val="AA8A00"/>
          </a:solidFill>
          <a:ln w="12700">
            <a:solidFill>
              <a:srgbClr val="AA8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5"/>
          <p:cNvSpPr txBox="1"/>
          <p:nvPr/>
        </p:nvSpPr>
        <p:spPr>
          <a:xfrm>
            <a:off x="8577072" y="5212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2400" dirty="0"/>
          </a:p>
        </p:txBody>
      </p:sp>
      <p:sp>
        <p:nvSpPr>
          <p:cNvPr id="61" name="Text 56"/>
          <p:cNvSpPr txBox="1"/>
          <p:nvPr/>
        </p:nvSpPr>
        <p:spPr>
          <a:xfrm>
            <a:off x="9262872" y="52019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7A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/ decisions</a:t>
            </a:r>
            <a:endParaRPr lang="en-US" sz="1500" dirty="0"/>
          </a:p>
        </p:txBody>
      </p:sp>
      <p:sp>
        <p:nvSpPr>
          <p:cNvPr id="62" name="Text 57"/>
          <p:cNvSpPr txBox="1"/>
          <p:nvPr/>
        </p:nvSpPr>
        <p:spPr>
          <a:xfrm>
            <a:off x="9262872" y="554024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SCADA, dashboards, closed-loop control</a:t>
            </a:r>
            <a:endParaRPr lang="en-US" sz="1150" dirty="0"/>
          </a:p>
        </p:txBody>
      </p:sp>
      <p:sp>
        <p:nvSpPr>
          <p:cNvPr id="64" name="Shape 59"/>
          <p:cNvSpPr/>
          <p:nvPr/>
        </p:nvSpPr>
        <p:spPr>
          <a:xfrm>
            <a:off x="7297945" y="4682499"/>
            <a:ext cx="1096247" cy="895341"/>
          </a:xfrm>
          <a:prstGeom prst="line">
            <a:avLst/>
          </a:prstGeom>
          <a:noFill/>
          <a:ln w="28575">
            <a:solidFill>
              <a:srgbClr val="AA8A00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pic>
        <p:nvPicPr>
          <p:cNvPr id="65" name="Image 2" descr="/private/tmp/claude-501/-Users-mac-Desktop-KFUPM-SCE261-SCE-701-Directed-Research/879797bc-3e82-41cf-aca9-dd33d97e683d/scratchpad/pipe_sca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5928" y="2193185"/>
            <a:ext cx="4206240" cy="3024223"/>
          </a:xfrm>
          <a:prstGeom prst="rect">
            <a:avLst/>
          </a:prstGeom>
        </p:spPr>
      </p:pic>
      <p:sp>
        <p:nvSpPr>
          <p:cNvPr id="66" name="Text 60"/>
          <p:cNvSpPr txBox="1"/>
          <p:nvPr/>
        </p:nvSpPr>
        <p:spPr>
          <a:xfrm>
            <a:off x="5093208" y="33375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</a:t>
            </a:r>
            <a:endParaRPr lang="en-US" sz="1600" dirty="0"/>
          </a:p>
        </p:txBody>
      </p:sp>
      <p:sp>
        <p:nvSpPr>
          <p:cNvPr id="67" name="Text 61"/>
          <p:cNvSpPr txBox="1"/>
          <p:nvPr/>
        </p:nvSpPr>
        <p:spPr>
          <a:xfrm>
            <a:off x="3794760" y="585216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Required: Phenomenon + Species + Context + ≥1 Theme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mac-Desktop-KFUPM-SCE261-SCE-701-Directed-Research/879797bc-3e82-41cf-aca9-dd33d97e683d/scratchpad/symbol_green.png"/>
          <p:cNvPicPr>
            <a:picLocks noChangeAspect="1"/>
          </p:cNvPicPr>
          <p:nvPr/>
        </p:nvPicPr>
        <p:blipFill>
          <a:blip r:embed="rId3">
            <a:alphaModFix amt="7000"/>
          </a:blip>
          <a:stretch>
            <a:fillRect/>
          </a:stretch>
        </p:blipFill>
        <p:spPr>
          <a:xfrm>
            <a:off x="8229600" y="2011680"/>
            <a:ext cx="5120640" cy="5120640"/>
          </a:xfrm>
          <a:prstGeom prst="rect">
            <a:avLst/>
          </a:prstGeom>
        </p:spPr>
      </p:pic>
      <p:pic>
        <p:nvPicPr>
          <p:cNvPr id="3" name="Image 1" descr="/private/tmp/claude-501/-Users-mac-Desktop-KFUPM-SCE261-SCE-701-Directed-Research/879797bc-3e82-41cf-aca9-dd33d97e683d/scratchpad/lockup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320040"/>
            <a:ext cx="2194560" cy="476927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32004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Record Classification (R / M / I)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9601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judge search quality on title, abstract and keywords</a:t>
            </a:r>
            <a:endParaRPr lang="en-US" sz="15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73952"/>
            <a:ext cx="396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Soliu Alley  |  Control &amp; Instrumentation Engineering</a:t>
            </a:r>
            <a:endParaRPr lang="en-US" sz="1000" dirty="0"/>
          </a:p>
        </p:txBody>
      </p:sp>
      <p:sp>
        <p:nvSpPr>
          <p:cNvPr id="26" name="Text 26"/>
          <p:cNvSpPr txBox="1"/>
          <p:nvPr/>
        </p:nvSpPr>
        <p:spPr>
          <a:xfrm>
            <a:off x="4694040" y="647395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Research Progress</a:t>
            </a:r>
            <a:endParaRPr lang="en-US" sz="1000" dirty="0"/>
          </a:p>
        </p:txBody>
      </p:sp>
      <p:sp>
        <p:nvSpPr>
          <p:cNvPr id="27" name="Text 27"/>
          <p:cNvSpPr txBox="1"/>
          <p:nvPr/>
        </p:nvSpPr>
        <p:spPr>
          <a:xfrm>
            <a:off x="7360920" y="6473952"/>
            <a:ext cx="278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10698480" y="647395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1000" dirty="0"/>
          </a:p>
        </p:txBody>
      </p:sp>
      <p:sp>
        <p:nvSpPr>
          <p:cNvPr id="9" name="Shape 4"/>
          <p:cNvSpPr/>
          <p:nvPr/>
        </p:nvSpPr>
        <p:spPr>
          <a:xfrm>
            <a:off x="548640" y="164592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9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5"/>
          <p:cNvSpPr/>
          <p:nvPr/>
        </p:nvSpPr>
        <p:spPr>
          <a:xfrm>
            <a:off x="822960" y="1874520"/>
            <a:ext cx="822960" cy="822960"/>
          </a:xfrm>
          <a:prstGeom prst="ellipse">
            <a:avLst/>
          </a:prstGeom>
          <a:solidFill>
            <a:srgbClr val="008540"/>
          </a:solidFill>
          <a:ln w="12700">
            <a:solidFill>
              <a:srgbClr val="008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 txBox="1"/>
          <p:nvPr/>
        </p:nvSpPr>
        <p:spPr>
          <a:xfrm>
            <a:off x="82296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3600" dirty="0"/>
          </a:p>
        </p:txBody>
      </p:sp>
      <p:sp>
        <p:nvSpPr>
          <p:cNvPr id="12" name="Text 7"/>
          <p:cNvSpPr txBox="1"/>
          <p:nvPr/>
        </p:nvSpPr>
        <p:spPr>
          <a:xfrm>
            <a:off x="1828800" y="1874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8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</a:t>
            </a:r>
            <a:endParaRPr lang="en-US" sz="2400" dirty="0"/>
          </a:p>
        </p:txBody>
      </p:sp>
      <p:sp>
        <p:nvSpPr>
          <p:cNvPr id="13" name="Text 8"/>
          <p:cNvSpPr txBox="1"/>
          <p:nvPr/>
        </p:nvSpPr>
        <p:spPr>
          <a:xfrm>
            <a:off x="822960" y="292608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studies scale formation, prediction, monitoring or inhibitor optimization</a:t>
            </a:r>
            <a:endParaRPr lang="en-US" sz="1350" dirty="0"/>
          </a:p>
          <a:p>
            <a:pPr marL="285750" indent="-28575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in a pipeline, wellbore, reservoir or production system</a:t>
            </a:r>
            <a:endParaRPr lang="en-US" sz="1350" dirty="0"/>
          </a:p>
          <a:p>
            <a:pPr marL="285750" indent="-28575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clear method contribution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4297680" y="164592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9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4572000" y="1874520"/>
            <a:ext cx="822960" cy="822960"/>
          </a:xfrm>
          <a:prstGeom prst="ellipse">
            <a:avLst/>
          </a:prstGeom>
          <a:solidFill>
            <a:srgbClr val="AA8A00"/>
          </a:solidFill>
          <a:ln w="12700">
            <a:solidFill>
              <a:srgbClr val="AA8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 txBox="1"/>
          <p:nvPr/>
        </p:nvSpPr>
        <p:spPr>
          <a:xfrm>
            <a:off x="457200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3600" dirty="0"/>
          </a:p>
        </p:txBody>
      </p:sp>
      <p:sp>
        <p:nvSpPr>
          <p:cNvPr id="17" name="Text 12"/>
          <p:cNvSpPr txBox="1"/>
          <p:nvPr/>
        </p:nvSpPr>
        <p:spPr>
          <a:xfrm>
            <a:off x="5577840" y="1874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A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Maybe</a:t>
            </a:r>
            <a:endParaRPr lang="en-US" sz="24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0" y="292608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aqueous / mineral scale chemistry without production context</a:t>
            </a:r>
            <a:endParaRPr lang="en-US" sz="1350" dirty="0"/>
          </a:p>
          <a:p>
            <a:pPr marL="285750" indent="-28575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Corrosion papers mentioning scale only in passing</a:t>
            </a:r>
            <a:endParaRPr lang="en-US" sz="1350" dirty="0"/>
          </a:p>
          <a:p>
            <a:pPr marL="285750" indent="-28575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Membrane / RO scaling that may be transferable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8046720" y="164592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9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8321040" y="1874520"/>
            <a:ext cx="822960" cy="822960"/>
          </a:xfrm>
          <a:prstGeom prst="ellipse">
            <a:avLst/>
          </a:prstGeom>
          <a:solidFill>
            <a:srgbClr val="6B6E6D"/>
          </a:solidFill>
          <a:ln w="12700">
            <a:solidFill>
              <a:srgbClr val="6B6E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 txBox="1"/>
          <p:nvPr/>
        </p:nvSpPr>
        <p:spPr>
          <a:xfrm>
            <a:off x="832104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3600" dirty="0"/>
          </a:p>
        </p:txBody>
      </p:sp>
      <p:sp>
        <p:nvSpPr>
          <p:cNvPr id="22" name="Text 17"/>
          <p:cNvSpPr txBox="1"/>
          <p:nvPr/>
        </p:nvSpPr>
        <p:spPr>
          <a:xfrm>
            <a:off x="9326880" y="1874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Irrelevant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8321040" y="292608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Geology / mineral-genesis papers with no operational relevance</a:t>
            </a:r>
            <a:endParaRPr lang="en-US" sz="1350" dirty="0"/>
          </a:p>
          <a:p>
            <a:pPr marL="285750" indent="-28575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term collisions (e.g. "scaling up", scalability)</a:t>
            </a:r>
            <a:endParaRPr lang="en-US" sz="1350" dirty="0"/>
          </a:p>
        </p:txBody>
      </p:sp>
      <p:sp>
        <p:nvSpPr>
          <p:cNvPr id="24" name="Shape 19"/>
          <p:cNvSpPr/>
          <p:nvPr/>
        </p:nvSpPr>
        <p:spPr>
          <a:xfrm>
            <a:off x="548640" y="5120640"/>
            <a:ext cx="11109960" cy="1005840"/>
          </a:xfrm>
          <a:prstGeom prst="roundRect">
            <a:avLst>
              <a:gd name="adj" fmla="val 7273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 txBox="1"/>
          <p:nvPr/>
        </p:nvSpPr>
        <p:spPr>
          <a:xfrm>
            <a:off x="822960" y="5230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metrics per query:  </a:t>
            </a:r>
            <a:r>
              <a:rPr lang="en-US" sz="150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relevance = R / total     ·     Coverage = (R + M) / total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i="1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direct relevance below ~30–40% signals a query that is too broad.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mac-Desktop-KFUPM-SCE261-SCE-701-Directed-Research/879797bc-3e82-41cf-aca9-dd33d97e683d/scratchpad/symbol_green.png"/>
          <p:cNvPicPr>
            <a:picLocks noChangeAspect="1"/>
          </p:cNvPicPr>
          <p:nvPr/>
        </p:nvPicPr>
        <p:blipFill>
          <a:blip r:embed="rId3">
            <a:alphaModFix amt="7000"/>
          </a:blip>
          <a:stretch>
            <a:fillRect/>
          </a:stretch>
        </p:blipFill>
        <p:spPr>
          <a:xfrm>
            <a:off x="8229600" y="2011680"/>
            <a:ext cx="5120640" cy="5120640"/>
          </a:xfrm>
          <a:prstGeom prst="rect">
            <a:avLst/>
          </a:prstGeom>
        </p:spPr>
      </p:pic>
      <p:pic>
        <p:nvPicPr>
          <p:cNvPr id="3" name="Image 1" descr="/private/tmp/claude-501/-Users-mac-Desktop-KFUPM-SCE261-SCE-701-Directed-Research/879797bc-3e82-41cf-aca9-dd33d97e683d/scratchpad/lockup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320040"/>
            <a:ext cx="2194560" cy="476927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32004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Comparison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9601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Scopus and Web of Science are strong; IEEE is a noisy supplementary source</a:t>
            </a:r>
            <a:endParaRPr lang="en-US" sz="15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73952"/>
            <a:ext cx="396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Soliu Alley  |  Control &amp; Instrumentation Engineering</a:t>
            </a:r>
            <a:endParaRPr lang="en-US" sz="1000" dirty="0"/>
          </a:p>
        </p:txBody>
      </p:sp>
      <p:sp>
        <p:nvSpPr>
          <p:cNvPr id="22" name="Text 22"/>
          <p:cNvSpPr txBox="1"/>
          <p:nvPr/>
        </p:nvSpPr>
        <p:spPr>
          <a:xfrm>
            <a:off x="4694040" y="647395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Research Progress</a:t>
            </a:r>
            <a:endParaRPr lang="en-US" sz="1000" dirty="0"/>
          </a:p>
        </p:txBody>
      </p:sp>
      <p:sp>
        <p:nvSpPr>
          <p:cNvPr id="23" name="Text 23"/>
          <p:cNvSpPr txBox="1"/>
          <p:nvPr/>
        </p:nvSpPr>
        <p:spPr>
          <a:xfrm>
            <a:off x="7360920" y="6473952"/>
            <a:ext cx="278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10698480" y="647395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10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457200" y="155448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Shape 4"/>
          <p:cNvSpPr/>
          <p:nvPr/>
        </p:nvSpPr>
        <p:spPr>
          <a:xfrm>
            <a:off x="8092440" y="169164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5"/>
          <p:cNvSpPr txBox="1"/>
          <p:nvPr/>
        </p:nvSpPr>
        <p:spPr>
          <a:xfrm>
            <a:off x="8275320" y="1783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8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Scopus</a:t>
            </a:r>
            <a:endParaRPr lang="en-US" sz="1500" dirty="0"/>
          </a:p>
        </p:txBody>
      </p:sp>
      <p:sp>
        <p:nvSpPr>
          <p:cNvPr id="12" name="Text 6"/>
          <p:cNvSpPr txBox="1"/>
          <p:nvPr/>
        </p:nvSpPr>
        <p:spPr>
          <a:xfrm>
            <a:off x="8275320" y="207568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string; 8 of 9 records highly relevant</a:t>
            </a:r>
            <a:endParaRPr lang="en-US" sz="1150" dirty="0"/>
          </a:p>
        </p:txBody>
      </p:sp>
      <p:sp>
        <p:nvSpPr>
          <p:cNvPr id="13" name="Shape 7"/>
          <p:cNvSpPr/>
          <p:nvPr/>
        </p:nvSpPr>
        <p:spPr>
          <a:xfrm>
            <a:off x="8092440" y="278892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8"/>
          <p:cNvSpPr txBox="1"/>
          <p:nvPr/>
        </p:nvSpPr>
        <p:spPr>
          <a:xfrm>
            <a:off x="8275320" y="2880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8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of Science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8275320" y="317296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strongest; 123 of 192 titles already seen in Scopus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8092440" y="388620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 txBox="1"/>
          <p:nvPr/>
        </p:nvSpPr>
        <p:spPr>
          <a:xfrm>
            <a:off x="8275320" y="3977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7A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Xplore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8275320" y="42702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Book-TOC and off-domain hits; little inhibitor-chemistry literature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8092440" y="498348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 txBox="1"/>
          <p:nvPr/>
        </p:nvSpPr>
        <p:spPr>
          <a:xfrm>
            <a:off x="8275320" y="5074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ScienceDirect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8275320" y="536752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records relevant; second query fully duplicate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mac-Desktop-KFUPM-SCE261-SCE-701-Directed-Research/879797bc-3e82-41cf-aca9-dd33d97e683d/scratchpad/symbol_green.png"/>
          <p:cNvPicPr>
            <a:picLocks noChangeAspect="1"/>
          </p:cNvPicPr>
          <p:nvPr/>
        </p:nvPicPr>
        <p:blipFill>
          <a:blip r:embed="rId3">
            <a:alphaModFix amt="7000"/>
          </a:blip>
          <a:stretch>
            <a:fillRect/>
          </a:stretch>
        </p:blipFill>
        <p:spPr>
          <a:xfrm>
            <a:off x="8229600" y="2011680"/>
            <a:ext cx="5120640" cy="5120640"/>
          </a:xfrm>
          <a:prstGeom prst="rect">
            <a:avLst/>
          </a:prstGeom>
        </p:spPr>
      </p:pic>
      <p:pic>
        <p:nvPicPr>
          <p:cNvPr id="3" name="Image 1" descr="/private/tmp/claude-501/-Users-mac-Desktop-KFUPM-SCE261-SCE-701-Directed-Research/879797bc-3e82-41cf-aca9-dd33d97e683d/scratchpad/lockup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320040"/>
            <a:ext cx="2194560" cy="476927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32004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Scopus Pilot Results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9601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2 (354 records) is the stronger, frozen core search</a:t>
            </a:r>
            <a:endParaRPr lang="en-US" sz="15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73952"/>
            <a:ext cx="396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Soliu Alley  |  Control &amp; Instrumentation Engineering</a:t>
            </a:r>
            <a:endParaRPr lang="en-US" sz="1000" dirty="0"/>
          </a:p>
        </p:txBody>
      </p:sp>
      <p:sp>
        <p:nvSpPr>
          <p:cNvPr id="20" name="Text 20"/>
          <p:cNvSpPr txBox="1"/>
          <p:nvPr/>
        </p:nvSpPr>
        <p:spPr>
          <a:xfrm>
            <a:off x="4694040" y="647395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Research Progress</a:t>
            </a:r>
            <a:endParaRPr lang="en-US" sz="1000" dirty="0"/>
          </a:p>
        </p:txBody>
      </p:sp>
      <p:sp>
        <p:nvSpPr>
          <p:cNvPr id="21" name="Text 21"/>
          <p:cNvSpPr txBox="1"/>
          <p:nvPr/>
        </p:nvSpPr>
        <p:spPr>
          <a:xfrm>
            <a:off x="7360920" y="6473952"/>
            <a:ext cx="278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10698480" y="647395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10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457200" y="1554480"/>
          <a:ext cx="603504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Shape 4"/>
          <p:cNvSpPr/>
          <p:nvPr/>
        </p:nvSpPr>
        <p:spPr>
          <a:xfrm>
            <a:off x="6858000" y="1691640"/>
            <a:ext cx="4800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5"/>
          <p:cNvSpPr txBox="1"/>
          <p:nvPr/>
        </p:nvSpPr>
        <p:spPr>
          <a:xfrm>
            <a:off x="7040880" y="178308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08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78.2% → 87.9%</a:t>
            </a:r>
            <a:endParaRPr lang="en-US" sz="3000" dirty="0"/>
          </a:p>
        </p:txBody>
      </p:sp>
      <p:sp>
        <p:nvSpPr>
          <p:cNvPr id="12" name="Text 6"/>
          <p:cNvSpPr txBox="1"/>
          <p:nvPr/>
        </p:nvSpPr>
        <p:spPr>
          <a:xfrm>
            <a:off x="7040880" y="24231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relevance  (Candidate 1 → Candidate 2)</a:t>
            </a:r>
            <a:endParaRPr lang="en-US" sz="1250" dirty="0"/>
          </a:p>
        </p:txBody>
      </p:sp>
      <p:sp>
        <p:nvSpPr>
          <p:cNvPr id="13" name="Shape 7"/>
          <p:cNvSpPr/>
          <p:nvPr/>
        </p:nvSpPr>
        <p:spPr>
          <a:xfrm>
            <a:off x="6858000" y="3017520"/>
            <a:ext cx="4800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8"/>
          <p:cNvSpPr txBox="1"/>
          <p:nvPr/>
        </p:nvSpPr>
        <p:spPr>
          <a:xfrm>
            <a:off x="7040880" y="310896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08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91.7% → 97.5%</a:t>
            </a:r>
            <a:endParaRPr lang="en-US" sz="3000" dirty="0"/>
          </a:p>
        </p:txBody>
      </p:sp>
      <p:sp>
        <p:nvSpPr>
          <p:cNvPr id="15" name="Text 9"/>
          <p:cNvSpPr txBox="1"/>
          <p:nvPr/>
        </p:nvSpPr>
        <p:spPr>
          <a:xfrm>
            <a:off x="7040880" y="37490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(R+M)  (Candidate 1 → Candidate 2)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6858000" y="4389120"/>
            <a:ext cx="4800600" cy="1737360"/>
          </a:xfrm>
          <a:prstGeom prst="roundRect">
            <a:avLst>
              <a:gd name="adj" fmla="val 4211"/>
            </a:avLst>
          </a:prstGeom>
          <a:solidFill>
            <a:srgbClr val="00573F"/>
          </a:solidFill>
          <a:ln w="12700">
            <a:solidFill>
              <a:srgbClr val="00573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 txBox="1"/>
          <p:nvPr/>
        </p:nvSpPr>
        <p:spPr>
          <a:xfrm>
            <a:off x="7086600" y="44988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AC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CORE STRING</a:t>
            </a:r>
            <a:endParaRPr lang="en-US" sz="1100" dirty="0"/>
          </a:p>
        </p:txBody>
      </p:sp>
      <p:sp>
        <p:nvSpPr>
          <p:cNvPr id="18" name="Text 12"/>
          <p:cNvSpPr txBox="1"/>
          <p:nvPr/>
        </p:nvSpPr>
        <p:spPr>
          <a:xfrm>
            <a:off x="7086600" y="480060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mandatory + phenomenon-only phrasing (no bare “scaling”) + full specialty OR-group (Kinetics, AI/ML, Sensing, Inhibitor) + 8 subject areas incl. Computer Science &amp; Earth Sciences.</a:t>
            </a:r>
            <a:endParaRPr lang="en-US" sz="1350" dirty="0"/>
          </a:p>
        </p:txBody>
      </p:sp>
      <p:sp>
        <p:nvSpPr>
          <p:cNvPr id="19" name="Text 13"/>
          <p:cNvSpPr txBox="1"/>
          <p:nvPr/>
        </p:nvSpPr>
        <p:spPr>
          <a:xfrm>
            <a:off x="548640" y="5806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relevance = R/total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mac-Desktop-KFUPM-SCE261-SCE-701-Directed-Research/879797bc-3e82-41cf-aca9-dd33d97e683d/scratchpad/symbol_green.png"/>
          <p:cNvPicPr>
            <a:picLocks noChangeAspect="1"/>
          </p:cNvPicPr>
          <p:nvPr/>
        </p:nvPicPr>
        <p:blipFill>
          <a:blip r:embed="rId3">
            <a:alphaModFix amt="7000"/>
          </a:blip>
          <a:stretch>
            <a:fillRect/>
          </a:stretch>
        </p:blipFill>
        <p:spPr>
          <a:xfrm>
            <a:off x="8229600" y="2011680"/>
            <a:ext cx="5120640" cy="5120640"/>
          </a:xfrm>
          <a:prstGeom prst="rect">
            <a:avLst/>
          </a:prstGeom>
        </p:spPr>
      </p:pic>
      <p:pic>
        <p:nvPicPr>
          <p:cNvPr id="3" name="Image 1" descr="/private/tmp/claude-501/-Users-mac-Desktop-KFUPM-SCE261-SCE-701-Directed-Research/879797bc-3e82-41cf-aca9-dd33d97e683d/scratchpad/lockup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320040"/>
            <a:ext cx="2194560" cy="476927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32004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Xplore: Block-by-Block Results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9601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sub-searches were run because the institutional network rejected the combined query</a:t>
            </a:r>
            <a:endParaRPr lang="en-US" sz="15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73952"/>
            <a:ext cx="396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Soliu Alley  |  Control &amp; Instrumentation Engineering</a:t>
            </a:r>
            <a:endParaRPr lang="en-US" sz="1000" dirty="0"/>
          </a:p>
        </p:txBody>
      </p:sp>
      <p:sp>
        <p:nvSpPr>
          <p:cNvPr id="18" name="Text 18"/>
          <p:cNvSpPr txBox="1"/>
          <p:nvPr/>
        </p:nvSpPr>
        <p:spPr>
          <a:xfrm>
            <a:off x="4694040" y="647395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Research Progress</a:t>
            </a:r>
            <a:endParaRPr lang="en-US" sz="1000" dirty="0"/>
          </a:p>
        </p:txBody>
      </p:sp>
      <p:sp>
        <p:nvSpPr>
          <p:cNvPr id="19" name="Text 19"/>
          <p:cNvSpPr txBox="1"/>
          <p:nvPr/>
        </p:nvSpPr>
        <p:spPr>
          <a:xfrm>
            <a:off x="7360920" y="6473952"/>
            <a:ext cx="278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10698480" y="647395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10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457200" y="1554480"/>
          <a:ext cx="676656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Text 4"/>
          <p:cNvSpPr txBox="1"/>
          <p:nvPr/>
        </p:nvSpPr>
        <p:spPr>
          <a:xfrm>
            <a:off x="7589520" y="169164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8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4000" dirty="0"/>
          </a:p>
        </p:txBody>
      </p:sp>
      <p:sp>
        <p:nvSpPr>
          <p:cNvPr id="11" name="Text 5"/>
          <p:cNvSpPr txBox="1"/>
          <p:nvPr/>
        </p:nvSpPr>
        <p:spPr>
          <a:xfrm>
            <a:off x="7589520" y="24048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IEEE records after de-duplicating D / E / F / G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7589520" y="30632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AA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29.6%</a:t>
            </a:r>
            <a:endParaRPr lang="en-US" sz="4000" dirty="0"/>
          </a:p>
        </p:txBody>
      </p:sp>
      <p:sp>
        <p:nvSpPr>
          <p:cNvPr id="13" name="Text 7"/>
          <p:cNvSpPr txBox="1"/>
          <p:nvPr/>
        </p:nvSpPr>
        <p:spPr>
          <a:xfrm>
            <a:off x="7589520" y="37764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relevance</a:t>
            </a:r>
            <a:endParaRPr lang="en-US" sz="1200" dirty="0"/>
          </a:p>
        </p:txBody>
      </p:sp>
      <p:sp>
        <p:nvSpPr>
          <p:cNvPr id="14" name="Text 8"/>
          <p:cNvSpPr txBox="1"/>
          <p:nvPr/>
        </p:nvSpPr>
        <p:spPr>
          <a:xfrm>
            <a:off x="9646920" y="30632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AA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55.6%</a:t>
            </a:r>
            <a:endParaRPr lang="en-US" sz="4000" dirty="0"/>
          </a:p>
        </p:txBody>
      </p:sp>
      <p:sp>
        <p:nvSpPr>
          <p:cNvPr id="15" name="Text 9"/>
          <p:cNvSpPr txBox="1"/>
          <p:nvPr/>
        </p:nvSpPr>
        <p:spPr>
          <a:xfrm>
            <a:off x="9646920" y="37764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(R+M)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7589520" y="4526280"/>
            <a:ext cx="4069080" cy="1600200"/>
          </a:xfrm>
          <a:prstGeom prst="roundRect">
            <a:avLst>
              <a:gd name="adj" fmla="val 4571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 txBox="1"/>
          <p:nvPr/>
        </p:nvSpPr>
        <p:spPr>
          <a:xfrm>
            <a:off x="7772400" y="4617720"/>
            <a:ext cx="3703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Inhibitor is weakest: </a:t>
            </a:r>
            <a:r>
              <a:rPr lang="en-US" sz="135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9.1% direct relevance. IEEE holds little inhibitor-chemistry literature — expected for an electrical-engineering database.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mac-Desktop-KFUPM-SCE261-SCE-701-Directed-Research/879797bc-3e82-41cf-aca9-dd33d97e683d/scratchpad/symbol_green.png"/>
          <p:cNvPicPr>
            <a:picLocks noChangeAspect="1"/>
          </p:cNvPicPr>
          <p:nvPr/>
        </p:nvPicPr>
        <p:blipFill>
          <a:blip r:embed="rId3">
            <a:alphaModFix amt="7000"/>
          </a:blip>
          <a:stretch>
            <a:fillRect/>
          </a:stretch>
        </p:blipFill>
        <p:spPr>
          <a:xfrm>
            <a:off x="8229600" y="2011680"/>
            <a:ext cx="5120640" cy="5120640"/>
          </a:xfrm>
          <a:prstGeom prst="rect">
            <a:avLst/>
          </a:prstGeom>
        </p:spPr>
      </p:pic>
      <p:pic>
        <p:nvPicPr>
          <p:cNvPr id="3" name="Image 1" descr="/private/tmp/claude-501/-Users-mac-Desktop-KFUPM-SCE261-SCE-701-Directed-Research/879797bc-3e82-41cf-aca9-dd33d97e683d/scratchpad/lockup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320040"/>
            <a:ext cx="2194560" cy="476927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32004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Overlap and Corpus Composition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9601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411 records advancing to full-text come from</a:t>
            </a:r>
            <a:endParaRPr lang="en-US" sz="15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73952"/>
            <a:ext cx="396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Soliu Alley  |  Control &amp; Instrumentation Engineering</a:t>
            </a:r>
            <a:endParaRPr lang="en-US" sz="1000" dirty="0"/>
          </a:p>
        </p:txBody>
      </p:sp>
      <p:sp>
        <p:nvSpPr>
          <p:cNvPr id="21" name="Text 21"/>
          <p:cNvSpPr txBox="1"/>
          <p:nvPr/>
        </p:nvSpPr>
        <p:spPr>
          <a:xfrm>
            <a:off x="4704200" y="647395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Research Progress</a:t>
            </a:r>
            <a:endParaRPr lang="en-US" sz="1000" dirty="0"/>
          </a:p>
        </p:txBody>
      </p:sp>
      <p:sp>
        <p:nvSpPr>
          <p:cNvPr id="22" name="Text 22"/>
          <p:cNvSpPr txBox="1"/>
          <p:nvPr/>
        </p:nvSpPr>
        <p:spPr>
          <a:xfrm>
            <a:off x="7360920" y="6473952"/>
            <a:ext cx="278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10698480" y="647395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1000" dirty="0"/>
          </a:p>
        </p:txBody>
      </p:sp>
      <p:sp>
        <p:nvSpPr>
          <p:cNvPr id="9" name="Shape 4"/>
          <p:cNvSpPr/>
          <p:nvPr/>
        </p:nvSpPr>
        <p:spPr>
          <a:xfrm>
            <a:off x="731520" y="2194560"/>
            <a:ext cx="3291840" cy="3291840"/>
          </a:xfrm>
          <a:prstGeom prst="ellipse">
            <a:avLst/>
          </a:prstGeom>
          <a:solidFill>
            <a:srgbClr val="008540">
              <a:alpha val="65000"/>
            </a:srgbClr>
          </a:solidFill>
          <a:ln w="25400">
            <a:solidFill>
              <a:srgbClr val="008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5"/>
          <p:cNvSpPr/>
          <p:nvPr/>
        </p:nvSpPr>
        <p:spPr>
          <a:xfrm>
            <a:off x="2743200" y="2651760"/>
            <a:ext cx="2377440" cy="2377440"/>
          </a:xfrm>
          <a:prstGeom prst="ellipse">
            <a:avLst/>
          </a:prstGeom>
          <a:solidFill>
            <a:srgbClr val="DAC961">
              <a:alpha val="75000"/>
            </a:srgbClr>
          </a:solidFill>
          <a:ln w="25400">
            <a:solidFill>
              <a:srgbClr val="AA8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 txBox="1"/>
          <p:nvPr/>
        </p:nvSpPr>
        <p:spPr>
          <a:xfrm>
            <a:off x="868680" y="2331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Scopus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1188720" y="32918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354</a:t>
            </a:r>
            <a:endParaRPr lang="en-US" sz="3600" dirty="0"/>
          </a:p>
        </p:txBody>
      </p:sp>
      <p:sp>
        <p:nvSpPr>
          <p:cNvPr id="13" name="Text 8"/>
          <p:cNvSpPr txBox="1"/>
          <p:nvPr/>
        </p:nvSpPr>
        <p:spPr>
          <a:xfrm>
            <a:off x="1188720" y="3931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3383280" y="2331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7A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of Science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3886200" y="36118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</a:t>
            </a:r>
            <a:endParaRPr lang="en-US" sz="3000" dirty="0"/>
          </a:p>
        </p:txBody>
      </p:sp>
      <p:sp>
        <p:nvSpPr>
          <p:cNvPr id="16" name="Text 11"/>
          <p:cNvSpPr txBox="1"/>
          <p:nvPr/>
        </p:nvSpPr>
        <p:spPr>
          <a:xfrm>
            <a:off x="3886200" y="4160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2377440" y="5623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≈123 shared titles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914400" y="5943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IEEE Xplore 27   + ScienceDirect 2</a:t>
            </a:r>
            <a:endParaRPr lang="en-US" sz="12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5852160" y="1508760"/>
          <a:ext cx="585216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0" name="Text 14"/>
          <p:cNvSpPr txBox="1"/>
          <p:nvPr/>
        </p:nvSpPr>
        <p:spPr>
          <a:xfrm>
            <a:off x="6995160" y="3520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430</a:t>
            </a:r>
            <a:endParaRPr 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mac-Desktop-KFUPM-SCE261-SCE-701-Directed-Research/879797bc-3e82-41cf-aca9-dd33d97e683d/scratchpad/symbol_green.png"/>
          <p:cNvPicPr>
            <a:picLocks noChangeAspect="1"/>
          </p:cNvPicPr>
          <p:nvPr/>
        </p:nvPicPr>
        <p:blipFill>
          <a:blip r:embed="rId3">
            <a:alphaModFix amt="7000"/>
          </a:blip>
          <a:stretch>
            <a:fillRect/>
          </a:stretch>
        </p:blipFill>
        <p:spPr>
          <a:xfrm>
            <a:off x="8229600" y="2011680"/>
            <a:ext cx="5120640" cy="5120640"/>
          </a:xfrm>
          <a:prstGeom prst="rect">
            <a:avLst/>
          </a:prstGeom>
        </p:spPr>
      </p:pic>
      <p:pic>
        <p:nvPicPr>
          <p:cNvPr id="3" name="Image 1" descr="/private/tmp/claude-501/-Users-mac-Desktop-KFUPM-SCE261-SCE-701-Directed-Research/879797bc-3e82-41cf-aca9-dd33d97e683d/scratchpad/lockup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320040"/>
            <a:ext cx="2194560" cy="476927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32004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Flow Diagram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9601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through eligibility ranking are complete at the title/abstract level; full-text stages follow</a:t>
            </a:r>
            <a:endParaRPr lang="en-US" sz="15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73952"/>
            <a:ext cx="396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Soliu Alley  |  Control &amp; Instrumentation Engineering</a:t>
            </a:r>
            <a:endParaRPr lang="en-US" sz="1000" dirty="0"/>
          </a:p>
        </p:txBody>
      </p:sp>
      <p:sp>
        <p:nvSpPr>
          <p:cNvPr id="42" name="Text 42"/>
          <p:cNvSpPr txBox="1"/>
          <p:nvPr/>
        </p:nvSpPr>
        <p:spPr>
          <a:xfrm>
            <a:off x="4694040" y="647395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Research Progress</a:t>
            </a:r>
            <a:endParaRPr lang="en-US" sz="1000" dirty="0"/>
          </a:p>
        </p:txBody>
      </p:sp>
      <p:sp>
        <p:nvSpPr>
          <p:cNvPr id="43" name="Text 43"/>
          <p:cNvSpPr txBox="1"/>
          <p:nvPr/>
        </p:nvSpPr>
        <p:spPr>
          <a:xfrm>
            <a:off x="7360920" y="6473952"/>
            <a:ext cx="278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10698480" y="647395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1000" dirty="0"/>
          </a:p>
        </p:txBody>
      </p:sp>
      <p:sp>
        <p:nvSpPr>
          <p:cNvPr id="9" name="Shape 4"/>
          <p:cNvSpPr/>
          <p:nvPr/>
        </p:nvSpPr>
        <p:spPr>
          <a:xfrm>
            <a:off x="548640" y="1463040"/>
            <a:ext cx="1554480" cy="777240"/>
          </a:xfrm>
          <a:prstGeom prst="roundRect">
            <a:avLst>
              <a:gd name="adj" fmla="val 7059"/>
            </a:avLst>
          </a:prstGeom>
          <a:solidFill>
            <a:srgbClr val="008540"/>
          </a:solidFill>
          <a:ln w="12700">
            <a:solidFill>
              <a:srgbClr val="008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 txBox="1"/>
          <p:nvPr/>
        </p:nvSpPr>
        <p:spPr>
          <a:xfrm>
            <a:off x="548640" y="14630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548640" y="2514600"/>
            <a:ext cx="1554480" cy="914400"/>
          </a:xfrm>
          <a:prstGeom prst="roundRect">
            <a:avLst>
              <a:gd name="adj" fmla="val 6000"/>
            </a:avLst>
          </a:prstGeom>
          <a:solidFill>
            <a:srgbClr val="008540"/>
          </a:solidFill>
          <a:ln w="12700">
            <a:solidFill>
              <a:srgbClr val="008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7"/>
          <p:cNvSpPr txBox="1"/>
          <p:nvPr/>
        </p:nvSpPr>
        <p:spPr>
          <a:xfrm>
            <a:off x="548640" y="25146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548640" y="3566160"/>
            <a:ext cx="1554480" cy="1828800"/>
          </a:xfrm>
          <a:prstGeom prst="roundRect">
            <a:avLst>
              <a:gd name="adj" fmla="val 3529"/>
            </a:avLst>
          </a:prstGeom>
          <a:solidFill>
            <a:srgbClr val="AA8A00"/>
          </a:solidFill>
          <a:ln w="12700">
            <a:solidFill>
              <a:srgbClr val="AA8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 txBox="1"/>
          <p:nvPr/>
        </p:nvSpPr>
        <p:spPr>
          <a:xfrm>
            <a:off x="548640" y="3566160"/>
            <a:ext cx="1554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5623560"/>
            <a:ext cx="1554480" cy="777240"/>
          </a:xfrm>
          <a:prstGeom prst="roundRect">
            <a:avLst>
              <a:gd name="adj" fmla="val 7059"/>
            </a:avLst>
          </a:prstGeom>
          <a:solidFill>
            <a:srgbClr val="003E51"/>
          </a:solidFill>
          <a:ln w="12700">
            <a:solidFill>
              <a:srgbClr val="003E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 txBox="1"/>
          <p:nvPr/>
        </p:nvSpPr>
        <p:spPr>
          <a:xfrm>
            <a:off x="548640" y="56235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2468880" y="146304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00854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 txBox="1"/>
          <p:nvPr/>
        </p:nvSpPr>
        <p:spPr>
          <a:xfrm>
            <a:off x="2560320" y="14630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634 records identified</a:t>
            </a:r>
            <a:endParaRPr lang="en-US" sz="200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Scopus 354 · WoS 192 · IEEE 27 · ScienceDirect 2 · SDL 59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2468880" y="251460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00854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 txBox="1"/>
          <p:nvPr/>
        </p:nvSpPr>
        <p:spPr>
          <a:xfrm>
            <a:off x="2560320" y="25146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460 records screened</a:t>
            </a:r>
            <a:endParaRPr lang="en-US" sz="200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/ abstract (= master corpus)</a:t>
            </a:r>
            <a:endParaRPr lang="en-US" sz="2000" dirty="0"/>
          </a:p>
        </p:txBody>
      </p:sp>
      <p:sp>
        <p:nvSpPr>
          <p:cNvPr id="21" name="Shape 16"/>
          <p:cNvSpPr/>
          <p:nvPr/>
        </p:nvSpPr>
        <p:spPr>
          <a:xfrm>
            <a:off x="2468880" y="356616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00854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 txBox="1"/>
          <p:nvPr/>
        </p:nvSpPr>
        <p:spPr>
          <a:xfrm>
            <a:off x="2560320" y="35661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430 reports sought</a:t>
            </a:r>
            <a:endParaRPr lang="en-US" sz="200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+ M records proceed to full text</a:t>
            </a:r>
            <a:endParaRPr lang="en-US" sz="2000" dirty="0"/>
          </a:p>
        </p:txBody>
      </p:sp>
      <p:sp>
        <p:nvSpPr>
          <p:cNvPr id="23" name="Shape 18"/>
          <p:cNvSpPr/>
          <p:nvPr/>
        </p:nvSpPr>
        <p:spPr>
          <a:xfrm>
            <a:off x="2468880" y="461772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00854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 txBox="1"/>
          <p:nvPr/>
        </p:nvSpPr>
        <p:spPr>
          <a:xfrm>
            <a:off x="2560320" y="46177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 met substantive relevance</a:t>
            </a:r>
            <a:endParaRPr lang="en-US" sz="200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R-tagged with component-match score ≥ 3 (title/abstract level)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2468880" y="562356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00854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 txBox="1"/>
          <p:nvPr/>
        </p:nvSpPr>
        <p:spPr>
          <a:xfrm>
            <a:off x="2560320" y="56235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 core studies selected</a:t>
            </a:r>
            <a:endParaRPr lang="en-US" sz="200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R-tag priority, citations, velocity &amp; recency, plus component balance</a:t>
            </a:r>
            <a:endParaRPr lang="en-US" sz="2000" dirty="0"/>
          </a:p>
        </p:txBody>
      </p:sp>
      <p:sp>
        <p:nvSpPr>
          <p:cNvPr id="27" name="Shape 22"/>
          <p:cNvSpPr/>
          <p:nvPr/>
        </p:nvSpPr>
        <p:spPr>
          <a:xfrm>
            <a:off x="6949440" y="1874520"/>
            <a:ext cx="4709160" cy="457200"/>
          </a:xfrm>
          <a:prstGeom prst="roundRect">
            <a:avLst>
              <a:gd name="adj" fmla="val 16000"/>
            </a:avLst>
          </a:prstGeom>
          <a:solidFill>
            <a:srgbClr val="F3F4F7"/>
          </a:solidFill>
          <a:ln w="12700">
            <a:solidFill>
              <a:srgbClr val="D9D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 txBox="1"/>
          <p:nvPr/>
        </p:nvSpPr>
        <p:spPr>
          <a:xfrm>
            <a:off x="7086600" y="187452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174 </a:t>
            </a:r>
            <a:r>
              <a:rPr lang="en-US" sz="140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removed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6949440" y="2834640"/>
            <a:ext cx="4709160" cy="1600200"/>
          </a:xfrm>
          <a:prstGeom prst="roundRect">
            <a:avLst>
              <a:gd name="adj" fmla="val 4571"/>
            </a:avLst>
          </a:prstGeom>
          <a:solidFill>
            <a:srgbClr val="F3F4F7"/>
          </a:solidFill>
          <a:ln w="12700">
            <a:solidFill>
              <a:srgbClr val="D9D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 txBox="1"/>
          <p:nvPr/>
        </p:nvSpPr>
        <p:spPr>
          <a:xfrm>
            <a:off x="7132320" y="2880360"/>
            <a:ext cx="4343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9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excluded at title / abstract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non-substantive (TOC / chapter / index)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outside domain · 4 pure corrosion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different phenomenon · 4 unrelated industry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retracted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4480560" y="2240280"/>
            <a:ext cx="0" cy="274320"/>
          </a:xfrm>
          <a:prstGeom prst="line">
            <a:avLst/>
          </a:prstGeom>
          <a:noFill/>
          <a:ln w="25400">
            <a:solidFill>
              <a:srgbClr val="00573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1"/>
          <p:cNvSpPr/>
          <p:nvPr/>
        </p:nvSpPr>
        <p:spPr>
          <a:xfrm>
            <a:off x="4480560" y="3291840"/>
            <a:ext cx="0" cy="274320"/>
          </a:xfrm>
          <a:prstGeom prst="line">
            <a:avLst/>
          </a:prstGeom>
          <a:noFill/>
          <a:ln w="25400">
            <a:solidFill>
              <a:srgbClr val="00573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2"/>
          <p:cNvSpPr/>
          <p:nvPr/>
        </p:nvSpPr>
        <p:spPr>
          <a:xfrm>
            <a:off x="4480560" y="4343400"/>
            <a:ext cx="0" cy="274320"/>
          </a:xfrm>
          <a:prstGeom prst="line">
            <a:avLst/>
          </a:prstGeom>
          <a:noFill/>
          <a:ln w="25400">
            <a:solidFill>
              <a:srgbClr val="00573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3"/>
          <p:cNvSpPr/>
          <p:nvPr/>
        </p:nvSpPr>
        <p:spPr>
          <a:xfrm>
            <a:off x="4480560" y="5394960"/>
            <a:ext cx="0" cy="228600"/>
          </a:xfrm>
          <a:prstGeom prst="line">
            <a:avLst/>
          </a:prstGeom>
          <a:noFill/>
          <a:ln w="25400">
            <a:solidFill>
              <a:srgbClr val="00573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4"/>
          <p:cNvSpPr/>
          <p:nvPr/>
        </p:nvSpPr>
        <p:spPr>
          <a:xfrm>
            <a:off x="6492240" y="2103120"/>
            <a:ext cx="457200" cy="0"/>
          </a:xfrm>
          <a:prstGeom prst="line">
            <a:avLst/>
          </a:prstGeom>
          <a:noFill/>
          <a:ln w="25400">
            <a:solidFill>
              <a:srgbClr val="00573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5"/>
          <p:cNvSpPr/>
          <p:nvPr/>
        </p:nvSpPr>
        <p:spPr>
          <a:xfrm>
            <a:off x="6492240" y="3630168"/>
            <a:ext cx="457200" cy="0"/>
          </a:xfrm>
          <a:prstGeom prst="line">
            <a:avLst/>
          </a:prstGeom>
          <a:noFill/>
          <a:ln w="25400">
            <a:solidFill>
              <a:srgbClr val="00573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mac-Desktop-KFUPM-SCE261-SCE-701-Directed-Research/879797bc-3e82-41cf-aca9-dd33d97e683d/scratchpad/symbol_green.png"/>
          <p:cNvPicPr>
            <a:picLocks noChangeAspect="1"/>
          </p:cNvPicPr>
          <p:nvPr/>
        </p:nvPicPr>
        <p:blipFill>
          <a:blip r:embed="rId2">
            <a:alphaModFix amt="7000"/>
          </a:blip>
          <a:stretch>
            <a:fillRect/>
          </a:stretch>
        </p:blipFill>
        <p:spPr>
          <a:xfrm>
            <a:off x="8229600" y="2011680"/>
            <a:ext cx="5120640" cy="5120640"/>
          </a:xfrm>
          <a:prstGeom prst="rect">
            <a:avLst/>
          </a:prstGeom>
        </p:spPr>
      </p:pic>
      <p:pic>
        <p:nvPicPr>
          <p:cNvPr id="3" name="Image 1" descr="/private/tmp/claude-501/-Users-mac-Desktop-KFUPM-SCE261-SCE-701-Directed-Research/879797bc-3e82-41cf-aca9-dd33d97e683d/scratchpad/lockup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320040"/>
            <a:ext cx="2194560" cy="476927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32004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101 — Priority Set Across 8 Components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9601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from the 430 screened records for full-text extraction (next phase)</a:t>
            </a:r>
            <a:endParaRPr lang="en-US" sz="15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73952"/>
            <a:ext cx="396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Soliu Alley  |  Control &amp; Instrumentation Engineering</a:t>
            </a:r>
            <a:endParaRPr lang="en-US" sz="1000" dirty="0"/>
          </a:p>
        </p:txBody>
      </p:sp>
      <p:sp>
        <p:nvSpPr>
          <p:cNvPr id="42" name="Text 42"/>
          <p:cNvSpPr txBox="1"/>
          <p:nvPr/>
        </p:nvSpPr>
        <p:spPr>
          <a:xfrm>
            <a:off x="4694040" y="647395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Research Progress</a:t>
            </a:r>
            <a:endParaRPr lang="en-US" sz="1000" dirty="0"/>
          </a:p>
        </p:txBody>
      </p:sp>
      <p:sp>
        <p:nvSpPr>
          <p:cNvPr id="43" name="Text 43"/>
          <p:cNvSpPr txBox="1"/>
          <p:nvPr/>
        </p:nvSpPr>
        <p:spPr>
          <a:xfrm>
            <a:off x="7360920" y="6473952"/>
            <a:ext cx="278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10698480" y="647395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1000" dirty="0"/>
          </a:p>
        </p:txBody>
      </p:sp>
      <p:sp>
        <p:nvSpPr>
          <p:cNvPr id="9" name="Shape 4"/>
          <p:cNvSpPr/>
          <p:nvPr/>
        </p:nvSpPr>
        <p:spPr>
          <a:xfrm>
            <a:off x="548640" y="1600200"/>
            <a:ext cx="544068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9050">
            <a:solidFill>
              <a:srgbClr val="00854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5"/>
          <p:cNvSpPr/>
          <p:nvPr/>
        </p:nvSpPr>
        <p:spPr>
          <a:xfrm>
            <a:off x="777240" y="1783080"/>
            <a:ext cx="457200" cy="457200"/>
          </a:xfrm>
          <a:prstGeom prst="ellipse">
            <a:avLst/>
          </a:prstGeom>
          <a:solidFill>
            <a:srgbClr val="008540"/>
          </a:solidFill>
          <a:ln w="12700">
            <a:solidFill>
              <a:srgbClr val="008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 txBox="1"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1371600" y="1783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8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Method</a:t>
            </a:r>
            <a:endParaRPr lang="en-US" sz="2200" dirty="0"/>
          </a:p>
        </p:txBody>
      </p:sp>
      <p:sp>
        <p:nvSpPr>
          <p:cNvPr id="13" name="Text 8"/>
          <p:cNvSpPr txBox="1"/>
          <p:nvPr/>
        </p:nvSpPr>
        <p:spPr>
          <a:xfrm>
            <a:off x="822960" y="242316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R-tag priority, then citations, citation velocity and recency, then component-match strength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Quota-balanced across all 8 components so no pillar is under-represented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of 101 records carry the high-confidence ‘Relevant’ (R) tag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329 screened records retained as a deferred backup pool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Full-text, page-by-page extraction begins from this set (next phase)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6217920" y="1600200"/>
            <a:ext cx="544068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9050">
            <a:solidFill>
              <a:srgbClr val="AA8A0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6446520" y="1783080"/>
            <a:ext cx="457200" cy="457200"/>
          </a:xfrm>
          <a:prstGeom prst="ellipse">
            <a:avLst/>
          </a:prstGeom>
          <a:solidFill>
            <a:srgbClr val="AA8A00"/>
          </a:solidFill>
          <a:ln w="12700">
            <a:solidFill>
              <a:srgbClr val="AA8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 txBox="1"/>
          <p:nvPr/>
        </p:nvSpPr>
        <p:spPr>
          <a:xfrm>
            <a:off x="64465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7040880" y="17830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A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Components (n = 101)</a:t>
            </a:r>
            <a:endParaRPr lang="en-US" sz="2200" dirty="0"/>
          </a:p>
        </p:txBody>
      </p:sp>
      <p:sp>
        <p:nvSpPr>
          <p:cNvPr id="18" name="Shape 18"/>
          <p:cNvSpPr/>
          <p:nvPr/>
        </p:nvSpPr>
        <p:spPr>
          <a:xfrm>
            <a:off x="6446520" y="2423160"/>
            <a:ext cx="548640" cy="369000"/>
          </a:xfrm>
          <a:prstGeom prst="roundRect">
            <a:avLst>
              <a:gd name="adj" fmla="val 12000"/>
            </a:avLst>
          </a:prstGeom>
          <a:solidFill>
            <a:srgbClr val="FBF3D9"/>
          </a:solidFill>
          <a:ln w="12700">
            <a:solidFill>
              <a:srgbClr val="FBF3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9"/>
          <p:cNvSpPr txBox="1"/>
          <p:nvPr/>
        </p:nvSpPr>
        <p:spPr>
          <a:xfrm>
            <a:off x="6446520" y="2423160"/>
            <a:ext cx="548640" cy="36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A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400" dirty="0"/>
          </a:p>
        </p:txBody>
      </p:sp>
      <p:sp>
        <p:nvSpPr>
          <p:cNvPr id="20" name="Text 20"/>
          <p:cNvSpPr txBox="1"/>
          <p:nvPr/>
        </p:nvSpPr>
        <p:spPr>
          <a:xfrm>
            <a:off x="7132320" y="2423160"/>
            <a:ext cx="4297680" cy="36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Inhibitor Modeling</a:t>
            </a:r>
            <a:endParaRPr lang="en-US" sz="1200" dirty="0"/>
          </a:p>
        </p:txBody>
      </p:sp>
      <p:sp>
        <p:nvSpPr>
          <p:cNvPr id="21" name="Shape 21"/>
          <p:cNvSpPr/>
          <p:nvPr/>
        </p:nvSpPr>
        <p:spPr>
          <a:xfrm>
            <a:off x="6446520" y="2882160"/>
            <a:ext cx="548640" cy="369000"/>
          </a:xfrm>
          <a:prstGeom prst="roundRect">
            <a:avLst>
              <a:gd name="adj" fmla="val 12000"/>
            </a:avLst>
          </a:prstGeom>
          <a:solidFill>
            <a:srgbClr val="FBF3D9"/>
          </a:solidFill>
          <a:ln w="12700">
            <a:solidFill>
              <a:srgbClr val="FBF3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2"/>
          <p:cNvSpPr txBox="1"/>
          <p:nvPr/>
        </p:nvSpPr>
        <p:spPr>
          <a:xfrm>
            <a:off x="6446520" y="2882160"/>
            <a:ext cx="548640" cy="36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A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23" name="Text 23"/>
          <p:cNvSpPr txBox="1"/>
          <p:nvPr/>
        </p:nvSpPr>
        <p:spPr>
          <a:xfrm>
            <a:off x="7132320" y="2882160"/>
            <a:ext cx="4297680" cy="36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Kinetic Models</a:t>
            </a:r>
            <a:endParaRPr lang="en-US" sz="1200" dirty="0"/>
          </a:p>
        </p:txBody>
      </p:sp>
      <p:sp>
        <p:nvSpPr>
          <p:cNvPr id="24" name="Shape 24"/>
          <p:cNvSpPr/>
          <p:nvPr/>
        </p:nvSpPr>
        <p:spPr>
          <a:xfrm>
            <a:off x="6446520" y="3341160"/>
            <a:ext cx="548640" cy="369000"/>
          </a:xfrm>
          <a:prstGeom prst="roundRect">
            <a:avLst>
              <a:gd name="adj" fmla="val 12000"/>
            </a:avLst>
          </a:prstGeom>
          <a:solidFill>
            <a:srgbClr val="FBF3D9"/>
          </a:solidFill>
          <a:ln w="12700">
            <a:solidFill>
              <a:srgbClr val="FBF3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5"/>
          <p:cNvSpPr txBox="1"/>
          <p:nvPr/>
        </p:nvSpPr>
        <p:spPr>
          <a:xfrm>
            <a:off x="6446520" y="3341160"/>
            <a:ext cx="548640" cy="36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A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26" name="Text 26"/>
          <p:cNvSpPr txBox="1"/>
          <p:nvPr/>
        </p:nvSpPr>
        <p:spPr>
          <a:xfrm>
            <a:off x="7132320" y="3341160"/>
            <a:ext cx="4297680" cy="36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Transport–Deposition Approaches</a:t>
            </a:r>
            <a:endParaRPr lang="en-US" sz="1200" dirty="0"/>
          </a:p>
        </p:txBody>
      </p:sp>
      <p:sp>
        <p:nvSpPr>
          <p:cNvPr id="27" name="Shape 27"/>
          <p:cNvSpPr/>
          <p:nvPr/>
        </p:nvSpPr>
        <p:spPr>
          <a:xfrm>
            <a:off x="6446520" y="3800160"/>
            <a:ext cx="548640" cy="369000"/>
          </a:xfrm>
          <a:prstGeom prst="roundRect">
            <a:avLst>
              <a:gd name="adj" fmla="val 12000"/>
            </a:avLst>
          </a:prstGeom>
          <a:solidFill>
            <a:srgbClr val="FBF3D9"/>
          </a:solidFill>
          <a:ln w="12700">
            <a:solidFill>
              <a:srgbClr val="FBF3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8"/>
          <p:cNvSpPr txBox="1"/>
          <p:nvPr/>
        </p:nvSpPr>
        <p:spPr>
          <a:xfrm>
            <a:off x="6446520" y="3800160"/>
            <a:ext cx="548640" cy="36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A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29" name="Text 29"/>
          <p:cNvSpPr txBox="1"/>
          <p:nvPr/>
        </p:nvSpPr>
        <p:spPr>
          <a:xfrm>
            <a:off x="7132320" y="3800160"/>
            <a:ext cx="4297680" cy="36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– Scale Tendency</a:t>
            </a:r>
            <a:endParaRPr lang="en-US" sz="1200" dirty="0"/>
          </a:p>
        </p:txBody>
      </p:sp>
      <p:sp>
        <p:nvSpPr>
          <p:cNvPr id="30" name="Shape 30"/>
          <p:cNvSpPr/>
          <p:nvPr/>
        </p:nvSpPr>
        <p:spPr>
          <a:xfrm>
            <a:off x="6446520" y="4259160"/>
            <a:ext cx="548640" cy="369000"/>
          </a:xfrm>
          <a:prstGeom prst="roundRect">
            <a:avLst>
              <a:gd name="adj" fmla="val 12000"/>
            </a:avLst>
          </a:prstGeom>
          <a:solidFill>
            <a:srgbClr val="FBF3D9"/>
          </a:solidFill>
          <a:ln w="12700">
            <a:solidFill>
              <a:srgbClr val="FBF3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31"/>
          <p:cNvSpPr txBox="1"/>
          <p:nvPr/>
        </p:nvSpPr>
        <p:spPr>
          <a:xfrm>
            <a:off x="6446520" y="4259160"/>
            <a:ext cx="548640" cy="36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A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32" name="Text 32"/>
          <p:cNvSpPr txBox="1"/>
          <p:nvPr/>
        </p:nvSpPr>
        <p:spPr>
          <a:xfrm>
            <a:off x="7132320" y="4259160"/>
            <a:ext cx="4297680" cy="36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– Scale Thermodynamics</a:t>
            </a:r>
            <a:endParaRPr lang="en-US" sz="1200" dirty="0"/>
          </a:p>
        </p:txBody>
      </p:sp>
      <p:sp>
        <p:nvSpPr>
          <p:cNvPr id="33" name="Shape 33"/>
          <p:cNvSpPr/>
          <p:nvPr/>
        </p:nvSpPr>
        <p:spPr>
          <a:xfrm>
            <a:off x="6446520" y="4718160"/>
            <a:ext cx="548640" cy="369000"/>
          </a:xfrm>
          <a:prstGeom prst="roundRect">
            <a:avLst>
              <a:gd name="adj" fmla="val 12000"/>
            </a:avLst>
          </a:prstGeom>
          <a:solidFill>
            <a:srgbClr val="FBF3D9"/>
          </a:solidFill>
          <a:ln w="12700">
            <a:solidFill>
              <a:srgbClr val="FBF3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4"/>
          <p:cNvSpPr txBox="1"/>
          <p:nvPr/>
        </p:nvSpPr>
        <p:spPr>
          <a:xfrm>
            <a:off x="6446520" y="4718160"/>
            <a:ext cx="548640" cy="36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A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35" name="Text 35"/>
          <p:cNvSpPr txBox="1"/>
          <p:nvPr/>
        </p:nvSpPr>
        <p:spPr>
          <a:xfrm>
            <a:off x="7132320" y="4718160"/>
            <a:ext cx="4297680" cy="36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– Scale Thickness (Sensor-Based)</a:t>
            </a:r>
            <a:endParaRPr lang="en-US" sz="1200" dirty="0"/>
          </a:p>
        </p:txBody>
      </p:sp>
      <p:sp>
        <p:nvSpPr>
          <p:cNvPr id="36" name="Shape 36"/>
          <p:cNvSpPr/>
          <p:nvPr/>
        </p:nvSpPr>
        <p:spPr>
          <a:xfrm>
            <a:off x="6446520" y="5177160"/>
            <a:ext cx="548640" cy="369000"/>
          </a:xfrm>
          <a:prstGeom prst="roundRect">
            <a:avLst>
              <a:gd name="adj" fmla="val 12000"/>
            </a:avLst>
          </a:prstGeom>
          <a:solidFill>
            <a:srgbClr val="FBF3D9"/>
          </a:solidFill>
          <a:ln w="12700">
            <a:solidFill>
              <a:srgbClr val="FBF3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7"/>
          <p:cNvSpPr txBox="1"/>
          <p:nvPr/>
        </p:nvSpPr>
        <p:spPr>
          <a:xfrm>
            <a:off x="6446520" y="5177160"/>
            <a:ext cx="548640" cy="36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A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8" name="Text 38"/>
          <p:cNvSpPr txBox="1"/>
          <p:nvPr/>
        </p:nvSpPr>
        <p:spPr>
          <a:xfrm>
            <a:off x="7132320" y="5177160"/>
            <a:ext cx="4297680" cy="36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Monitoring</a:t>
            </a:r>
            <a:endParaRPr lang="en-US" sz="1200" dirty="0"/>
          </a:p>
        </p:txBody>
      </p:sp>
      <p:sp>
        <p:nvSpPr>
          <p:cNvPr id="39" name="Shape 39"/>
          <p:cNvSpPr/>
          <p:nvPr/>
        </p:nvSpPr>
        <p:spPr>
          <a:xfrm>
            <a:off x="6446520" y="5636160"/>
            <a:ext cx="548640" cy="369000"/>
          </a:xfrm>
          <a:prstGeom prst="roundRect">
            <a:avLst>
              <a:gd name="adj" fmla="val 12000"/>
            </a:avLst>
          </a:prstGeom>
          <a:solidFill>
            <a:srgbClr val="FBF3D9"/>
          </a:solidFill>
          <a:ln w="12700">
            <a:solidFill>
              <a:srgbClr val="FBF3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40"/>
          <p:cNvSpPr txBox="1"/>
          <p:nvPr/>
        </p:nvSpPr>
        <p:spPr>
          <a:xfrm>
            <a:off x="6446520" y="5636160"/>
            <a:ext cx="548640" cy="36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A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1" name="Text 41"/>
          <p:cNvSpPr txBox="1"/>
          <p:nvPr/>
        </p:nvSpPr>
        <p:spPr>
          <a:xfrm>
            <a:off x="7132320" y="5636160"/>
            <a:ext cx="4297680" cy="36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Applications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mac-Desktop-KFUPM-SCE261-SCE-701-Directed-Research/879797bc-3e82-41cf-aca9-dd33d97e683d/scratchpad/symbol_green.png"/>
          <p:cNvPicPr>
            <a:picLocks noChangeAspect="1"/>
          </p:cNvPicPr>
          <p:nvPr/>
        </p:nvPicPr>
        <p:blipFill>
          <a:blip r:embed="rId3">
            <a:alphaModFix amt="7000"/>
          </a:blip>
          <a:stretch>
            <a:fillRect/>
          </a:stretch>
        </p:blipFill>
        <p:spPr>
          <a:xfrm>
            <a:off x="8229600" y="2011680"/>
            <a:ext cx="5120640" cy="5120640"/>
          </a:xfrm>
          <a:prstGeom prst="rect">
            <a:avLst/>
          </a:prstGeom>
        </p:spPr>
      </p:pic>
      <p:pic>
        <p:nvPicPr>
          <p:cNvPr id="3" name="Image 1" descr="/private/tmp/claude-501/-Users-mac-Desktop-KFUPM-SCE261-SCE-701-Directed-Research/879797bc-3e82-41cf-aca9-dd33d97e683d/scratchpad/lockup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320040"/>
            <a:ext cx="2194560" cy="476927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32004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Trend in the Master Corpus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9601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research activity across 2016–2026, peaking in 2024</a:t>
            </a:r>
            <a:endParaRPr lang="en-US" sz="15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73952"/>
            <a:ext cx="396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Soliu Alley  |  Control &amp; Instrumentation Engineering</a:t>
            </a:r>
            <a:endParaRPr lang="en-US" sz="1000" dirty="0"/>
          </a:p>
        </p:txBody>
      </p:sp>
      <p:sp>
        <p:nvSpPr>
          <p:cNvPr id="23" name="Text 23"/>
          <p:cNvSpPr txBox="1"/>
          <p:nvPr/>
        </p:nvSpPr>
        <p:spPr>
          <a:xfrm>
            <a:off x="4694040" y="647395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Research Progress</a:t>
            </a:r>
            <a:endParaRPr lang="en-US" sz="1000" dirty="0"/>
          </a:p>
        </p:txBody>
      </p:sp>
      <p:sp>
        <p:nvSpPr>
          <p:cNvPr id="24" name="Text 24"/>
          <p:cNvSpPr txBox="1"/>
          <p:nvPr/>
        </p:nvSpPr>
        <p:spPr>
          <a:xfrm>
            <a:off x="7360920" y="6473952"/>
            <a:ext cx="278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10698480" y="647395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10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457200" y="155448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Text 4"/>
          <p:cNvSpPr txBox="1"/>
          <p:nvPr/>
        </p:nvSpPr>
        <p:spPr>
          <a:xfrm>
            <a:off x="548640" y="6126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*2026 is a partial year</a:t>
            </a:r>
            <a:endParaRPr lang="en-US" sz="1050" dirty="0"/>
          </a:p>
        </p:txBody>
      </p:sp>
      <p:sp>
        <p:nvSpPr>
          <p:cNvPr id="11" name="Text 5"/>
          <p:cNvSpPr txBox="1"/>
          <p:nvPr/>
        </p:nvSpPr>
        <p:spPr>
          <a:xfrm>
            <a:off x="8138160" y="16916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8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4000" dirty="0"/>
          </a:p>
        </p:txBody>
      </p:sp>
      <p:sp>
        <p:nvSpPr>
          <p:cNvPr id="12" name="Text 6"/>
          <p:cNvSpPr txBox="1"/>
          <p:nvPr/>
        </p:nvSpPr>
        <p:spPr>
          <a:xfrm>
            <a:off x="8138160" y="240487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in 2024 — the peak year</a:t>
            </a:r>
            <a:endParaRPr lang="en-US" sz="1200" dirty="0"/>
          </a:p>
        </p:txBody>
      </p:sp>
      <p:sp>
        <p:nvSpPr>
          <p:cNvPr id="13" name="Shape 7"/>
          <p:cNvSpPr/>
          <p:nvPr/>
        </p:nvSpPr>
        <p:spPr>
          <a:xfrm>
            <a:off x="8138160" y="310896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9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8"/>
          <p:cNvSpPr txBox="1"/>
          <p:nvPr/>
        </p:nvSpPr>
        <p:spPr>
          <a:xfrm>
            <a:off x="8321040" y="3200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8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 published (Scopus set)</a:t>
            </a:r>
            <a:endParaRPr lang="en-US" sz="1400" dirty="0"/>
          </a:p>
        </p:txBody>
      </p:sp>
      <p:sp>
        <p:nvSpPr>
          <p:cNvPr id="15" name="Text 9"/>
          <p:cNvSpPr txBox="1"/>
          <p:nvPr/>
        </p:nvSpPr>
        <p:spPr>
          <a:xfrm>
            <a:off x="8321040" y="3749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 Symposium on Oilfield Chemistry</a:t>
            </a:r>
            <a:endParaRPr lang="en-US" sz="1200" dirty="0"/>
          </a:p>
        </p:txBody>
      </p:sp>
      <p:sp>
        <p:nvSpPr>
          <p:cNvPr id="16" name="Text 10"/>
          <p:cNvSpPr txBox="1"/>
          <p:nvPr/>
        </p:nvSpPr>
        <p:spPr>
          <a:xfrm>
            <a:off x="10698480" y="37490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800" dirty="0"/>
          </a:p>
        </p:txBody>
      </p:sp>
      <p:sp>
        <p:nvSpPr>
          <p:cNvPr id="17" name="Text 11"/>
          <p:cNvSpPr txBox="1"/>
          <p:nvPr/>
        </p:nvSpPr>
        <p:spPr>
          <a:xfrm>
            <a:off x="8321040" y="43159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Petroleum Science &amp; Engineering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10698480" y="431596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8321040" y="488289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 Oilfield Scale series (≥4 editions)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10698480" y="488289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39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8321040" y="544982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&amp; Fuels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10698480" y="5449824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mac-Desktop-KFUPM-SCE261-SCE-701-Directed-Research/879797bc-3e82-41cf-aca9-dd33d97e683d/scratchpad/symbol_green.png"/>
          <p:cNvPicPr>
            <a:picLocks noChangeAspect="1"/>
          </p:cNvPicPr>
          <p:nvPr/>
        </p:nvPicPr>
        <p:blipFill>
          <a:blip r:embed="rId3">
            <a:alphaModFix amt="7000"/>
          </a:blip>
          <a:stretch>
            <a:fillRect/>
          </a:stretch>
        </p:blipFill>
        <p:spPr>
          <a:xfrm>
            <a:off x="8229600" y="2011680"/>
            <a:ext cx="5120640" cy="5120640"/>
          </a:xfrm>
          <a:prstGeom prst="rect">
            <a:avLst/>
          </a:prstGeom>
        </p:spPr>
      </p:pic>
      <p:pic>
        <p:nvPicPr>
          <p:cNvPr id="3" name="Image 1" descr="/private/tmp/claude-501/-Users-mac-Desktop-KFUPM-SCE261-SCE-701-Directed-Research/879797bc-3e82-41cf-aca9-dd33d97e683d/scratchpad/lockup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320040"/>
            <a:ext cx="2194560" cy="476927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32004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Pattern: Chemistry-Heavy, AI-Light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9601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keyword screen of the Scopus frozen set (n = 354) — indicative, not final coding</a:t>
            </a:r>
            <a:endParaRPr lang="en-US" sz="15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73952"/>
            <a:ext cx="396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Soliu Alley  |  Control &amp; Instrumentation Engineering</a:t>
            </a:r>
            <a:endParaRPr lang="en-US" sz="1000" dirty="0"/>
          </a:p>
        </p:txBody>
      </p:sp>
      <p:sp>
        <p:nvSpPr>
          <p:cNvPr id="27" name="Text 27"/>
          <p:cNvSpPr txBox="1"/>
          <p:nvPr/>
        </p:nvSpPr>
        <p:spPr>
          <a:xfrm>
            <a:off x="4694040" y="647395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Research Progress</a:t>
            </a:r>
            <a:endParaRPr lang="en-US" sz="1000" dirty="0"/>
          </a:p>
        </p:txBody>
      </p:sp>
      <p:sp>
        <p:nvSpPr>
          <p:cNvPr id="28" name="Text 28"/>
          <p:cNvSpPr txBox="1"/>
          <p:nvPr/>
        </p:nvSpPr>
        <p:spPr>
          <a:xfrm>
            <a:off x="7360920" y="6473952"/>
            <a:ext cx="278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10698480" y="647395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10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457200" y="1600200"/>
          <a:ext cx="37490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0" name="Chart 1"/>
          <p:cNvGraphicFramePr/>
          <p:nvPr/>
        </p:nvGraphicFramePr>
        <p:xfrm>
          <a:off x="4297680" y="1600200"/>
          <a:ext cx="402336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1" name="Text 4"/>
          <p:cNvSpPr txBox="1"/>
          <p:nvPr/>
        </p:nvSpPr>
        <p:spPr>
          <a:xfrm>
            <a:off x="8549640" y="1645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8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 combined in one paper</a:t>
            </a:r>
            <a:endParaRPr lang="en-US" sz="1400" dirty="0"/>
          </a:p>
        </p:txBody>
      </p:sp>
      <p:sp>
        <p:nvSpPr>
          <p:cNvPr id="12" name="Shape 5"/>
          <p:cNvSpPr/>
          <p:nvPr/>
        </p:nvSpPr>
        <p:spPr>
          <a:xfrm>
            <a:off x="8549640" y="2057400"/>
            <a:ext cx="3108960" cy="566928"/>
          </a:xfrm>
          <a:prstGeom prst="roundRect">
            <a:avLst>
              <a:gd name="adj" fmla="val 12903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6"/>
          <p:cNvSpPr txBox="1"/>
          <p:nvPr/>
        </p:nvSpPr>
        <p:spPr>
          <a:xfrm>
            <a:off x="8686800" y="205740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8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2200" dirty="0"/>
          </a:p>
        </p:txBody>
      </p:sp>
      <p:sp>
        <p:nvSpPr>
          <p:cNvPr id="14" name="Text 7"/>
          <p:cNvSpPr txBox="1"/>
          <p:nvPr/>
        </p:nvSpPr>
        <p:spPr>
          <a:xfrm>
            <a:off x="9464040" y="20574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 + Inhibitor</a:t>
            </a:r>
            <a:endParaRPr lang="en-US" sz="1150" dirty="0"/>
          </a:p>
        </p:txBody>
      </p:sp>
      <p:sp>
        <p:nvSpPr>
          <p:cNvPr id="15" name="Shape 8"/>
          <p:cNvSpPr/>
          <p:nvPr/>
        </p:nvSpPr>
        <p:spPr>
          <a:xfrm>
            <a:off x="8549640" y="2715768"/>
            <a:ext cx="3108960" cy="566928"/>
          </a:xfrm>
          <a:prstGeom prst="roundRect">
            <a:avLst>
              <a:gd name="adj" fmla="val 12903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9"/>
          <p:cNvSpPr txBox="1"/>
          <p:nvPr/>
        </p:nvSpPr>
        <p:spPr>
          <a:xfrm>
            <a:off x="8686800" y="2715768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A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9464040" y="271576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Sensing</a:t>
            </a:r>
            <a:endParaRPr lang="en-US" sz="1150" dirty="0"/>
          </a:p>
        </p:txBody>
      </p:sp>
      <p:sp>
        <p:nvSpPr>
          <p:cNvPr id="18" name="Shape 11"/>
          <p:cNvSpPr/>
          <p:nvPr/>
        </p:nvSpPr>
        <p:spPr>
          <a:xfrm>
            <a:off x="8549640" y="3374136"/>
            <a:ext cx="3108960" cy="566928"/>
          </a:xfrm>
          <a:prstGeom prst="roundRect">
            <a:avLst>
              <a:gd name="adj" fmla="val 12903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2"/>
          <p:cNvSpPr txBox="1"/>
          <p:nvPr/>
        </p:nvSpPr>
        <p:spPr>
          <a:xfrm>
            <a:off x="8686800" y="3374136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A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0" name="Text 13"/>
          <p:cNvSpPr txBox="1"/>
          <p:nvPr/>
        </p:nvSpPr>
        <p:spPr>
          <a:xfrm>
            <a:off x="9464040" y="337413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Inhibitor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8549640" y="4032504"/>
            <a:ext cx="3108960" cy="566928"/>
          </a:xfrm>
          <a:prstGeom prst="roundRect">
            <a:avLst>
              <a:gd name="adj" fmla="val 12903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5"/>
          <p:cNvSpPr txBox="1"/>
          <p:nvPr/>
        </p:nvSpPr>
        <p:spPr>
          <a:xfrm>
            <a:off x="8686800" y="4032504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A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23" name="Text 16"/>
          <p:cNvSpPr txBox="1"/>
          <p:nvPr/>
        </p:nvSpPr>
        <p:spPr>
          <a:xfrm>
            <a:off x="9464040" y="403250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sensing + inhibitor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548640" y="4983480"/>
            <a:ext cx="11109960" cy="1188720"/>
          </a:xfrm>
          <a:prstGeom prst="roundRect">
            <a:avLst>
              <a:gd name="adj" fmla="val 6154"/>
            </a:avLst>
          </a:prstGeom>
          <a:solidFill>
            <a:srgbClr val="00573F"/>
          </a:solidFill>
          <a:ln w="12700">
            <a:solidFill>
              <a:srgbClr val="00573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18"/>
          <p:cNvSpPr txBox="1"/>
          <p:nvPr/>
        </p:nvSpPr>
        <p:spPr>
          <a:xfrm>
            <a:off x="822960" y="50749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AC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READING</a:t>
            </a:r>
            <a:endParaRPr lang="en-US" sz="1100" dirty="0"/>
          </a:p>
        </p:txBody>
      </p:sp>
      <p:sp>
        <p:nvSpPr>
          <p:cNvPr id="26" name="Text 19"/>
          <p:cNvSpPr txBox="1"/>
          <p:nvPr/>
        </p:nvSpPr>
        <p:spPr>
          <a:xfrm>
            <a:off x="822960" y="53492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Inhibitor chemistry and kinetic modelling dominate the evidence. AI, sensing and especially digital-twin / decision-support work are thin and rarely combined — consistent with the closed-loop gap targeted by this project.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mac-Desktop-KFUPM-SCE261-SCE-701-Directed-Research/879797bc-3e82-41cf-aca9-dd33d97e683d/scratchpad/symbol_green.png"/>
          <p:cNvPicPr>
            <a:picLocks noChangeAspect="1"/>
          </p:cNvPicPr>
          <p:nvPr/>
        </p:nvPicPr>
        <p:blipFill>
          <a:blip r:embed="rId3">
            <a:alphaModFix amt="7000"/>
          </a:blip>
          <a:stretch>
            <a:fillRect/>
          </a:stretch>
        </p:blipFill>
        <p:spPr>
          <a:xfrm>
            <a:off x="8229600" y="2011680"/>
            <a:ext cx="5120640" cy="5120640"/>
          </a:xfrm>
          <a:prstGeom prst="rect">
            <a:avLst/>
          </a:prstGeom>
        </p:spPr>
      </p:pic>
      <p:pic>
        <p:nvPicPr>
          <p:cNvPr id="3" name="Image 1" descr="/private/tmp/claude-501/-Users-mac-Desktop-KFUPM-SCE261-SCE-701-Directed-Research/879797bc-3e82-41cf-aca9-dd33d97e683d/scratchpad/lockup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320040"/>
            <a:ext cx="2194560" cy="476927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32004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 and Next Steps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6473952"/>
            <a:ext cx="396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Soliu Alley  |  Control &amp; Instrumentation Engineering</a:t>
            </a:r>
            <a:endParaRPr lang="en-US" sz="1000" dirty="0"/>
          </a:p>
        </p:txBody>
      </p:sp>
      <p:sp>
        <p:nvSpPr>
          <p:cNvPr id="20" name="Text 20"/>
          <p:cNvSpPr txBox="1"/>
          <p:nvPr/>
        </p:nvSpPr>
        <p:spPr>
          <a:xfrm>
            <a:off x="4694040" y="647395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Research Progress</a:t>
            </a:r>
            <a:endParaRPr lang="en-US" sz="1000" dirty="0"/>
          </a:p>
        </p:txBody>
      </p:sp>
      <p:sp>
        <p:nvSpPr>
          <p:cNvPr id="21" name="Text 21"/>
          <p:cNvSpPr txBox="1"/>
          <p:nvPr/>
        </p:nvSpPr>
        <p:spPr>
          <a:xfrm>
            <a:off x="7360920" y="6473952"/>
            <a:ext cx="278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10698480" y="647395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1000" dirty="0"/>
          </a:p>
        </p:txBody>
      </p:sp>
      <p:sp>
        <p:nvSpPr>
          <p:cNvPr id="8" name="Shape 3"/>
          <p:cNvSpPr/>
          <p:nvPr/>
        </p:nvSpPr>
        <p:spPr>
          <a:xfrm>
            <a:off x="548640" y="123444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9050">
            <a:solidFill>
              <a:srgbClr val="00854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4"/>
          <p:cNvSpPr/>
          <p:nvPr/>
        </p:nvSpPr>
        <p:spPr>
          <a:xfrm>
            <a:off x="731520" y="1417320"/>
            <a:ext cx="3246120" cy="502920"/>
          </a:xfrm>
          <a:prstGeom prst="roundRect">
            <a:avLst>
              <a:gd name="adj" fmla="val 14545"/>
            </a:avLst>
          </a:prstGeom>
          <a:solidFill>
            <a:srgbClr val="008540"/>
          </a:solidFill>
          <a:ln w="12700">
            <a:solidFill>
              <a:srgbClr val="008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 txBox="1"/>
          <p:nvPr/>
        </p:nvSpPr>
        <p:spPr>
          <a:xfrm>
            <a:off x="731520" y="14173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777240" y="2148840"/>
            <a:ext cx="3154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concept blocks A–H defined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Scopus pilots run; core string frozen (354)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Xplore: four block sub-searches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of Science frozen query (192)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ScienceDirect supplementary search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Deduplicated to 439; title / abstract screened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101 selected across 8 review components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4297680" y="123444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9050">
            <a:solidFill>
              <a:srgbClr val="AA8A0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8"/>
          <p:cNvSpPr/>
          <p:nvPr/>
        </p:nvSpPr>
        <p:spPr>
          <a:xfrm>
            <a:off x="4480560" y="1417320"/>
            <a:ext cx="3246120" cy="502920"/>
          </a:xfrm>
          <a:prstGeom prst="roundRect">
            <a:avLst>
              <a:gd name="adj" fmla="val 14545"/>
            </a:avLst>
          </a:prstGeom>
          <a:solidFill>
            <a:srgbClr val="AA8A00"/>
          </a:solidFill>
          <a:ln w="12700">
            <a:solidFill>
              <a:srgbClr val="AA8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 txBox="1"/>
          <p:nvPr/>
        </p:nvSpPr>
        <p:spPr>
          <a:xfrm>
            <a:off x="4480560" y="14173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4526280" y="2148840"/>
            <a:ext cx="3154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retrieval of the Core 101 record set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eligibility decisions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search log for PRISMA-S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8046720" y="123444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9050">
            <a:solidFill>
              <a:srgbClr val="003E5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8229600" y="1417320"/>
            <a:ext cx="3246120" cy="502920"/>
          </a:xfrm>
          <a:prstGeom prst="roundRect">
            <a:avLst>
              <a:gd name="adj" fmla="val 14545"/>
            </a:avLst>
          </a:prstGeom>
          <a:solidFill>
            <a:srgbClr val="003E51"/>
          </a:solidFill>
          <a:ln w="12700">
            <a:solidFill>
              <a:srgbClr val="003E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 txBox="1"/>
          <p:nvPr/>
        </p:nvSpPr>
        <p:spPr>
          <a:xfrm>
            <a:off x="8229600" y="14173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tasks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8275320" y="2148840"/>
            <a:ext cx="3154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appraisal of included studies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extraction against the taxonomy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synthesis and gap map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gaps into model design (Phases 1–3)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mac-Desktop-KFUPM-SCE261-SCE-701-Directed-Research/879797bc-3e82-41cf-aca9-dd33d97e683d/scratchpad/symbol_green.png"/>
          <p:cNvPicPr>
            <a:picLocks noChangeAspect="1"/>
          </p:cNvPicPr>
          <p:nvPr/>
        </p:nvPicPr>
        <p:blipFill>
          <a:blip r:embed="rId3">
            <a:alphaModFix amt="7000"/>
          </a:blip>
          <a:stretch>
            <a:fillRect/>
          </a:stretch>
        </p:blipFill>
        <p:spPr>
          <a:xfrm>
            <a:off x="8229600" y="2011680"/>
            <a:ext cx="5120640" cy="5120640"/>
          </a:xfrm>
          <a:prstGeom prst="rect">
            <a:avLst/>
          </a:prstGeom>
        </p:spPr>
      </p:pic>
      <p:pic>
        <p:nvPicPr>
          <p:cNvPr id="3" name="Image 1" descr="/private/tmp/claude-501/-Users-mac-Desktop-KFUPM-SCE261-SCE-701-Directed-Research/879797bc-3e82-41cf-aca9-dd33d97e683d/scratchpad/lockup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320040"/>
            <a:ext cx="2194560" cy="476927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32004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References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6473952"/>
            <a:ext cx="396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Soliu Alley  |  Control &amp; Instrumentation Engineering</a:t>
            </a:r>
            <a:endParaRPr lang="en-US" sz="1000" dirty="0"/>
          </a:p>
        </p:txBody>
      </p:sp>
      <p:sp>
        <p:nvSpPr>
          <p:cNvPr id="9" name="Text 9"/>
          <p:cNvSpPr txBox="1"/>
          <p:nvPr/>
        </p:nvSpPr>
        <p:spPr>
          <a:xfrm>
            <a:off x="4694040" y="647395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Research Progress</a:t>
            </a:r>
            <a:endParaRPr lang="en-US" sz="1000" dirty="0"/>
          </a:p>
        </p:txBody>
      </p:sp>
      <p:sp>
        <p:nvSpPr>
          <p:cNvPr id="10" name="Text 10"/>
          <p:cNvSpPr txBox="1"/>
          <p:nvPr/>
        </p:nvSpPr>
        <p:spPr>
          <a:xfrm>
            <a:off x="7360920" y="6473952"/>
            <a:ext cx="278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10698480" y="647395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1000" dirty="0"/>
          </a:p>
        </p:txBody>
      </p:sp>
      <p:sp>
        <p:nvSpPr>
          <p:cNvPr id="8" name="Text 3"/>
          <p:cNvSpPr txBox="1"/>
          <p:nvPr/>
        </p:nvSpPr>
        <p:spPr>
          <a:xfrm>
            <a:off x="548640" y="1371600"/>
            <a:ext cx="85039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J. Page et al., "The PRISMA 2020 statement: an updated guideline for reporting systematic reviews," BMJ, vol. 372, 2021.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L. Rethlefsen et al., "PRISMA-S: an extension to the PRISMA statement for reporting literature searches in systematic reviews," Systematic Reviews, vol. 10, 2021.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Stalker et al., "Advances in inorganic scale prediction – development and validation of a kinetic model," ADIPEC, 2024.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Dai et al., "A unified experimental method and model for predicting scale inhibition," SPE Int. Conf. on Oilfield Chemistry, 2019.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M. Al-Hajri, A. Al-Ghamdi, Z. Tariq, M. Mahmoud, "Scale-prediction/inhibition design using machine-learning techniques and probabilistic approach," SPE Prod. &amp; Oper., vol. 35, 2020.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373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Neville, "Surface scaling in the oil and gas sector: understanding the process and means of management," Energy &amp; Fuels, vol. 26, 2012.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57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mac-Desktop-KFUPM-SCE261-SCE-701-Directed-Research/879797bc-3e82-41cf-aca9-dd33d97e683d/scratchpad/symbol_white.png"/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7589520" y="822960"/>
            <a:ext cx="6035040" cy="6035040"/>
          </a:xfrm>
          <a:prstGeom prst="rect">
            <a:avLst/>
          </a:prstGeom>
        </p:spPr>
      </p:pic>
      <p:pic>
        <p:nvPicPr>
          <p:cNvPr id="3" name="Image 1" descr="/private/tmp/claude-501/-Users-mac-Desktop-KFUPM-SCE261-SCE-701-Directed-Research/879797bc-3e82-41cf-aca9-dd33d97e683d/scratchpad/locku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02920"/>
            <a:ext cx="3291840" cy="71539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40080" y="24688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3657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DAC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</a:t>
            </a:r>
            <a:endParaRPr lang="en-US" sz="26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Research — First Progress Presentation  |  SCE-701  |  KFUPM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6035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C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 Big and Accomplish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3044</Words>
  <Application>Microsoft Macintosh PowerPoint</Application>
  <PresentationFormat>Widescreen</PresentationFormat>
  <Paragraphs>512</Paragraphs>
  <Slides>22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SCE-701 Directed Research — Progress Presentation I</dc:title>
  <dc:subject>PptxGenJS Presentation</dc:subject>
  <dc:creator>PptxGenJS</dc:creator>
  <cp:lastModifiedBy>SOLIU ALLEY</cp:lastModifiedBy>
  <cp:revision>13</cp:revision>
  <dcterms:created xsi:type="dcterms:W3CDTF">2026-09-30T16:58:46Z</dcterms:created>
  <dcterms:modified xsi:type="dcterms:W3CDTF">2026-10-01T11:23:41Z</dcterms:modified>
</cp:coreProperties>
</file>