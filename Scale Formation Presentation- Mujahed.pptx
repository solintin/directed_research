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48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Thank the Aramco team. State that the presentation is redesigned as a focused 10-minute deep-dive rather than a literature review.,Main message: an integrated physics-informed AI and sensor-fusion framework for predicting scale location, evolution, and inhibitor dosage.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Aramco’s problem requires an operational answer: location, severity, type, and dosage. Keep this slide under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go through papers one by one. Say: we reviewed the work and grouped it into four streams. Each stream is valuable but none alone gives a field-ready closed-loop decision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slide. Spend about two minutes. Explain the closed-loop logic: data is fused, hidden scale state is estimated, physics constrains AI, and inhibitor dosage is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practical: data can come from available measurements first, and additional sensors can be added progressively. The deliverable is a state estimate, not a black-box classification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physics-informed AI matters to SMEs: pure ML may fail outside the training region; physics reduces implausible predictions and improves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MIC quickly. Then emphasize the shift from static dosing to adaptive dose optimization that uses real-time scale-state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SMEs will ask about validation. This slide gives a realistic staged plan and metrics. It avoids overclaiming immediate field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strongly. Emphasize value and request alignment on available data and target use case. Do not end with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234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 Scale Formation Prediction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C5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Adaptive Inhibitor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26060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8F5"/>
                </a:solidFill>
              </a:rPr>
              <a:t>Deep-dive proposal presentation for Scale Formation Prediction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4206240" cy="0"/>
          </a:xfrm>
          <a:prstGeom prst="line">
            <a:avLst/>
          </a:prstGeom>
          <a:noFill/>
          <a:ln w="38100">
            <a:solidFill>
              <a:srgbClr val="36C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1051560"/>
            <a:ext cx="2194560" cy="1005840"/>
          </a:xfrm>
          <a:prstGeom prst="chevron">
            <a:avLst/>
          </a:prstGeom>
          <a:solidFill>
            <a:srgbClr val="1D4ED8">
              <a:alpha val="7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0" y="2148840"/>
            <a:ext cx="2194560" cy="1005840"/>
          </a:xfrm>
          <a:prstGeom prst="chevron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3246120"/>
            <a:ext cx="2194560" cy="1005840"/>
          </a:xfrm>
          <a:prstGeom prst="chevron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5349240"/>
            <a:ext cx="5029200" cy="805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D2E7"/>
                </a:solidFill>
              </a:rPr>
              <a:t>Mujahed Al-Dhaifallah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BBD2E7"/>
                </a:solidFill>
              </a:rPr>
              <a:t>Professor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BBD2E7"/>
                </a:solidFill>
              </a:rPr>
              <a:t>KFUPM | Control &amp; Instrumentation Engineering Department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Industrial Need: prediction must be actionable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Scale formation is not only a chemistry problem; it is a flow-assurance decision problem.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Scale Formation Prediction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40080" y="1261872"/>
            <a:ext cx="2834640" cy="100584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Scale types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7465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CaCO₃  •  BaSO₄  •  SrSO₄  •  Fe-based scales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542032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Operational impact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044952"/>
            <a:ext cx="21488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flow restriction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pressure drop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corrosion acceleration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shutdown / intervention cost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187952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370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Decision need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7365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Where?  What type?  How severe?  How much inhibitor?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69080" y="1965960"/>
            <a:ext cx="4023360" cy="1965960"/>
          </a:xfrm>
          <a:prstGeom prst="arc">
            <a:avLst/>
          </a:prstGeom>
          <a:solidFill>
            <a:srgbClr val="D8E0EA">
              <a:alpha val="0"/>
            </a:srgbClr>
          </a:solidFill>
          <a:ln w="381000">
            <a:solidFill>
              <a:srgbClr val="D8E0EA">
                <a:alpha val="9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51960" y="2103120"/>
            <a:ext cx="3657600" cy="1691640"/>
          </a:xfrm>
          <a:prstGeom prst="arc">
            <a:avLst/>
          </a:prstGeom>
          <a:solidFill>
            <a:srgbClr val="FFFFFF">
              <a:alpha val="0"/>
            </a:srgbClr>
          </a:solidFill>
          <a:ln w="2159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83464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25146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7432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86600" y="32461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Hidden deposition evolves along the line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77640" y="44622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The required output is a real-time scale state, not only a saturation-index number.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Aramco-facing outputs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41080" y="169164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41080" y="1691640"/>
            <a:ext cx="10058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05672" y="18013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Predict scale formation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05672" y="2103120"/>
            <a:ext cx="2331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before blockage or high-risk growth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641080" y="265176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41080" y="2651760"/>
            <a:ext cx="100584" cy="7132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05672" y="276148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Localize deposition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05672" y="3063240"/>
            <a:ext cx="2331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section-level risk map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8641080" y="361188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41080" y="3611880"/>
            <a:ext cx="100584" cy="713232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05672" y="37216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Identify scale type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805672" y="4023360"/>
            <a:ext cx="2331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chemistry + sensor evidence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641080" y="4572000"/>
            <a:ext cx="260604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41080" y="4572000"/>
            <a:ext cx="10058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05672" y="468172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Optimize inhibitor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805672" y="4983480"/>
            <a:ext cx="23317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dose / timing / chemical use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State: strong components, weak integration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literature is mature in parts, but the industrial solution is still fragmented.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Scale Formation Prediction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Thermodynamics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SI / supersaturation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50392" y="2359152"/>
            <a:ext cx="19202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596896"/>
            <a:ext cx="19019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Fast screening, but weak spatial insight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Kinetics &amp; 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93592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00A6A6"/>
                </a:solidFill>
              </a:rPr>
              <a:t>induction time / tube blocking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93592" y="2359152"/>
            <a:ext cx="19202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596896"/>
            <a:ext cx="19019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Useful lab metrics, often static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41732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Transport &amp; deposition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36792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8A058"/>
                </a:solidFill>
              </a:rPr>
              <a:t>CFD / mass transfer / adsorption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36792" y="2359152"/>
            <a:ext cx="19202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2596896"/>
            <a:ext cx="19019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Captures flow effects, data intensive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15400" y="1417320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79992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AI &amp; monitoring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79992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ML / sensors / thickness estimation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79992" y="2359152"/>
            <a:ext cx="19202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9992" y="2596896"/>
            <a:ext cx="19019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Good prediction, limited physics &amp; control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97280" y="4069080"/>
            <a:ext cx="9966960" cy="0"/>
          </a:xfrm>
          <a:prstGeom prst="line">
            <a:avLst/>
          </a:prstGeom>
          <a:noFill/>
          <a:ln w="2540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079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What is missing?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697480" y="4187952"/>
            <a:ext cx="6858000" cy="1417320"/>
          </a:xfrm>
          <a:prstGeom prst="roundRect">
            <a:avLst>
              <a:gd name="adj" fmla="val 7742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452628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</a:rPr>
              <a:t>A closed-loop framework that fuses sensors + chemistry + operating data + mechanistic knowledge to estimate the hidden scale state and optimize inhibitor dosage continuously.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840480" y="5138928"/>
            <a:ext cx="4663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This is the core research gap and the proposed contribution.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Solution: physics-informed AI sensor-fusion loop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framework estimates the scale state and converts it into dosing decisions.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Scale Formation Prediction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0" y="2240280"/>
            <a:ext cx="7772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74920" y="2240280"/>
            <a:ext cx="7772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09560" y="2240280"/>
            <a:ext cx="77724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355080" y="3520440"/>
            <a:ext cx="0" cy="731520"/>
          </a:xfrm>
          <a:prstGeom prst="line">
            <a:avLst/>
          </a:prstGeom>
          <a:noFill/>
          <a:ln w="25400">
            <a:solidFill>
              <a:srgbClr val="18A05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23960" y="4709160"/>
            <a:ext cx="0" cy="0"/>
          </a:xfrm>
          <a:prstGeom prst="line">
            <a:avLst/>
          </a:prstGeom>
          <a:noFill/>
          <a:ln w="1778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1645920"/>
            <a:ext cx="16916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645920"/>
            <a:ext cx="100584" cy="1170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17556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Data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" y="2057400"/>
            <a:ext cx="14173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pressure, temperature, flow rate, water chemistry, sensors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3063240" y="1645920"/>
            <a:ext cx="19659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63240" y="1645920"/>
            <a:ext cx="100584" cy="1170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7556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Fusion layer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27832" y="2057400"/>
            <a:ext cx="169164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synchronization, feature extraction, uncertainty handling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852160" y="1645920"/>
            <a:ext cx="20116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1645920"/>
            <a:ext cx="100584" cy="1170432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7556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Scale-state estimator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16752" y="2057400"/>
            <a:ext cx="173736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type, location, thickness, growth, severity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686800" y="1645920"/>
            <a:ext cx="214884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1645920"/>
            <a:ext cx="100584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51392" y="1755648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Optimization layer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851392" y="2057400"/>
            <a:ext cx="187452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inhibitor dose, timing, risk/cost trade-off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892040" y="4251960"/>
            <a:ext cx="292608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4251960"/>
            <a:ext cx="100584" cy="8961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4361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Physics-informed AI core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56632" y="4663440"/>
            <a:ext cx="265176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thermodynamics + kinetics + transport constraints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68680" y="4187952"/>
            <a:ext cx="265176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4165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B1F33"/>
                </a:solidFill>
              </a:rPr>
              <a:t>Digital decision platform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4736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475569"/>
                </a:solidFill>
              </a:rPr>
              <a:t>risk map • alerts • dashboards • recommendation history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5349240" y="5285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</a:rPr>
              <a:t>Closed-loop learning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89720" y="4133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3"/>
                </a:solidFill>
              </a:rPr>
              <a:t>Novelty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015984" y="4407408"/>
            <a:ext cx="21488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not only Scale / No Scale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not only laboratory MIC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spatial + temporal prediction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adaptive operational decision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1: Multimodal Sensor Fusion for Scale-State Estimation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Turn scattered measurements into a coherent real-time estimate of scale behavior.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Scale Formation Prediction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234440"/>
            <a:ext cx="10058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3441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Pressure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1645920"/>
            <a:ext cx="16916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ΔP trends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697480" y="1481328"/>
            <a:ext cx="960120" cy="1856232"/>
          </a:xfrm>
          <a:prstGeom prst="line">
            <a:avLst/>
          </a:prstGeom>
          <a:noFill/>
          <a:ln w="1397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" y="201168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011680"/>
            <a:ext cx="10058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12140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Temperature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2423160"/>
            <a:ext cx="16916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thermal shifts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697480" y="2258568"/>
            <a:ext cx="960120" cy="1078992"/>
          </a:xfrm>
          <a:prstGeom prst="line">
            <a:avLst/>
          </a:prstGeom>
          <a:noFill/>
          <a:ln w="1397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" y="278892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788920"/>
            <a:ext cx="100584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986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Flow rate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" y="3200400"/>
            <a:ext cx="16916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velocity / regime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697480" y="3035808"/>
            <a:ext cx="960120" cy="301752"/>
          </a:xfrm>
          <a:prstGeom prst="line">
            <a:avLst/>
          </a:prstGeom>
          <a:noFill/>
          <a:ln w="1397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" y="370332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703320"/>
            <a:ext cx="100584" cy="5029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381304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Water chemistry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96112" y="4114800"/>
            <a:ext cx="16916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ions, TDS, pH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697480" y="3950208"/>
            <a:ext cx="960120" cy="0"/>
          </a:xfrm>
          <a:prstGeom prst="line">
            <a:avLst/>
          </a:prstGeom>
          <a:noFill/>
          <a:ln w="1397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1520" y="448056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480560"/>
            <a:ext cx="100584" cy="5029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59028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Ultrasonic / guided waves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96112" y="4892040"/>
            <a:ext cx="16916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thickness evidence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2697480" y="4727448"/>
            <a:ext cx="960120" cy="0"/>
          </a:xfrm>
          <a:prstGeom prst="line">
            <a:avLst/>
          </a:prstGeom>
          <a:noFill/>
          <a:ln w="1397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1520" y="525780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5257800"/>
            <a:ext cx="100584" cy="5029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3675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Historical data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96112" y="5669280"/>
            <a:ext cx="1691640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25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maintenance / lab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2697480" y="5504688"/>
            <a:ext cx="960120" cy="0"/>
          </a:xfrm>
          <a:prstGeom prst="line">
            <a:avLst/>
          </a:prstGeom>
          <a:noFill/>
          <a:ln w="1397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703320" y="2148840"/>
            <a:ext cx="2743200" cy="2423160"/>
          </a:xfrm>
          <a:prstGeom prst="roundRect">
            <a:avLst>
              <a:gd name="adj" fmla="val 6038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252374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F33"/>
                </a:solidFill>
              </a:rPr>
              <a:t>Fusion Engine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4160520" y="3017520"/>
            <a:ext cx="1874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time alignment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feature extraction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noise filtering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uncertainty weighting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data-quality checks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46520" y="3337560"/>
            <a:ext cx="868680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60920" y="1143000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18A05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7360920" y="1143000"/>
            <a:ext cx="100584" cy="530352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25512" y="125272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Scale type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525512" y="1554480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carbonate / sulfate / mixed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7360920" y="1947672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60920" y="1947672"/>
            <a:ext cx="100584" cy="530352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25512" y="20574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Location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525512" y="2359152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where deposition starts</a:t>
            </a:r>
            <a:endParaRPr lang="en-US" sz="920" dirty="0"/>
          </a:p>
        </p:txBody>
      </p:sp>
      <p:sp>
        <p:nvSpPr>
          <p:cNvPr id="50" name="Shape 48"/>
          <p:cNvSpPr/>
          <p:nvPr/>
        </p:nvSpPr>
        <p:spPr>
          <a:xfrm>
            <a:off x="7360920" y="2752344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60920" y="2752344"/>
            <a:ext cx="100584" cy="530352"/>
          </a:xfrm>
          <a:prstGeom prst="rect">
            <a:avLst/>
          </a:prstGeom>
          <a:solidFill>
            <a:srgbClr val="18A058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25512" y="28620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Thickness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7525512" y="3163824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current accumulation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7360920" y="3557016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60920" y="3557016"/>
            <a:ext cx="10058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25512" y="366674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Growth rate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7525512" y="3968496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future trajectory</a:t>
            </a:r>
            <a:endParaRPr lang="en-US" sz="920" dirty="0"/>
          </a:p>
        </p:txBody>
      </p:sp>
      <p:sp>
        <p:nvSpPr>
          <p:cNvPr id="58" name="Shape 56"/>
          <p:cNvSpPr/>
          <p:nvPr/>
        </p:nvSpPr>
        <p:spPr>
          <a:xfrm>
            <a:off x="7360920" y="4361688"/>
            <a:ext cx="274320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360920" y="4361688"/>
            <a:ext cx="100584" cy="5303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25512" y="44714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0B1F33"/>
                </a:solidFill>
              </a:rPr>
              <a:t>Severity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7525512" y="4773168"/>
            <a:ext cx="2468880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47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475569"/>
                </a:solidFill>
              </a:rPr>
              <a:t>risk index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3383280" y="55778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Deliverable: a continuously updated “scale-state vector” for each monitored flowline section.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2: Physics-Informed Spatio-Temporal Prediction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Use mechanistic knowledge to make AI predictions credible under changing operations.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Scale Formation Prediction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234440"/>
            <a:ext cx="3108960" cy="429768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Physics constraints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• saturation index / supersaturation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• induction time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• nucleation &amp; growth kinetics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• transport / mass transfer</a:t>
            </a:r>
            <a:endParaRPr lang="en-US" sz="1240" dirty="0"/>
          </a:p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• surface deposition / adsorption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4572000" y="107899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Predicted scale evolution along the 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18745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t1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783080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48072" y="1783080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86984" y="1783080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25896" y="1783080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4808" y="1783080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783080"/>
            <a:ext cx="384048" cy="384048"/>
          </a:xfrm>
          <a:prstGeom prst="rect">
            <a:avLst/>
          </a:prstGeom>
          <a:solidFill>
            <a:srgbClr val="BAE6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2632" y="1783080"/>
            <a:ext cx="384048" cy="384048"/>
          </a:xfrm>
          <a:prstGeom prst="rect">
            <a:avLst/>
          </a:prstGeom>
          <a:solidFill>
            <a:srgbClr val="7DD3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81544" y="1783080"/>
            <a:ext cx="384048" cy="384048"/>
          </a:xfrm>
          <a:prstGeom prst="rect">
            <a:avLst/>
          </a:prstGeom>
          <a:solidFill>
            <a:srgbClr val="7DD3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1783080"/>
            <a:ext cx="384048" cy="384048"/>
          </a:xfrm>
          <a:prstGeom prst="rect">
            <a:avLst/>
          </a:prstGeom>
          <a:solidFill>
            <a:srgbClr val="38BD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59368" y="1783080"/>
            <a:ext cx="384048" cy="384048"/>
          </a:xfrm>
          <a:prstGeom prst="rect">
            <a:avLst/>
          </a:prstGeom>
          <a:solidFill>
            <a:srgbClr val="FACC1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5328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t2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441448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8072" y="2441448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86984" y="2441448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5896" y="2441448"/>
            <a:ext cx="384048" cy="384048"/>
          </a:xfrm>
          <a:prstGeom prst="rect">
            <a:avLst/>
          </a:prstGeom>
          <a:solidFill>
            <a:srgbClr val="BAE6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64808" y="2441448"/>
            <a:ext cx="384048" cy="384048"/>
          </a:xfrm>
          <a:prstGeom prst="rect">
            <a:avLst/>
          </a:prstGeom>
          <a:solidFill>
            <a:srgbClr val="BAE6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0" y="2441448"/>
            <a:ext cx="384048" cy="384048"/>
          </a:xfrm>
          <a:prstGeom prst="rect">
            <a:avLst/>
          </a:prstGeom>
          <a:solidFill>
            <a:srgbClr val="7DD3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42632" y="2441448"/>
            <a:ext cx="384048" cy="384048"/>
          </a:xfrm>
          <a:prstGeom prst="rect">
            <a:avLst/>
          </a:prstGeom>
          <a:solidFill>
            <a:srgbClr val="38BD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81544" y="2441448"/>
            <a:ext cx="384048" cy="384048"/>
          </a:xfrm>
          <a:prstGeom prst="rect">
            <a:avLst/>
          </a:prstGeom>
          <a:solidFill>
            <a:srgbClr val="FACC1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0456" y="2441448"/>
            <a:ext cx="384048" cy="384048"/>
          </a:xfrm>
          <a:prstGeom prst="rect">
            <a:avLst/>
          </a:prstGeom>
          <a:solidFill>
            <a:srgbClr val="FACC1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59368" y="2441448"/>
            <a:ext cx="384048" cy="384048"/>
          </a:xfrm>
          <a:prstGeom prst="rect">
            <a:avLst/>
          </a:prstGeom>
          <a:solidFill>
            <a:srgbClr val="FB92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191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t3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099816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48072" y="3099816"/>
            <a:ext cx="384048" cy="384048"/>
          </a:xfrm>
          <a:prstGeom prst="rect">
            <a:avLst/>
          </a:prstGeom>
          <a:solidFill>
            <a:srgbClr val="E0F2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86984" y="3099816"/>
            <a:ext cx="384048" cy="384048"/>
          </a:xfrm>
          <a:prstGeom prst="rect">
            <a:avLst/>
          </a:prstGeom>
          <a:solidFill>
            <a:srgbClr val="BAE6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5896" y="3099816"/>
            <a:ext cx="384048" cy="384048"/>
          </a:xfrm>
          <a:prstGeom prst="rect">
            <a:avLst/>
          </a:prstGeom>
          <a:solidFill>
            <a:srgbClr val="7DD3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808" y="3099816"/>
            <a:ext cx="384048" cy="384048"/>
          </a:xfrm>
          <a:prstGeom prst="rect">
            <a:avLst/>
          </a:prstGeom>
          <a:solidFill>
            <a:srgbClr val="38BD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3099816"/>
            <a:ext cx="384048" cy="384048"/>
          </a:xfrm>
          <a:prstGeom prst="rect">
            <a:avLst/>
          </a:prstGeom>
          <a:solidFill>
            <a:srgbClr val="38BD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42632" y="3099816"/>
            <a:ext cx="384048" cy="384048"/>
          </a:xfrm>
          <a:prstGeom prst="rect">
            <a:avLst/>
          </a:prstGeom>
          <a:solidFill>
            <a:srgbClr val="FACC1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81544" y="3099816"/>
            <a:ext cx="384048" cy="384048"/>
          </a:xfrm>
          <a:prstGeom prst="rect">
            <a:avLst/>
          </a:prstGeom>
          <a:solidFill>
            <a:srgbClr val="FB92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0456" y="3099816"/>
            <a:ext cx="384048" cy="384048"/>
          </a:xfrm>
          <a:prstGeom prst="rect">
            <a:avLst/>
          </a:prstGeom>
          <a:solidFill>
            <a:srgbClr val="FB92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59368" y="3099816"/>
            <a:ext cx="384048" cy="384048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43400" y="384962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t4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3758184"/>
            <a:ext cx="384048" cy="384048"/>
          </a:xfrm>
          <a:prstGeom prst="rect">
            <a:avLst/>
          </a:prstGeom>
          <a:solidFill>
            <a:srgbClr val="BAE6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148072" y="3758184"/>
            <a:ext cx="384048" cy="384048"/>
          </a:xfrm>
          <a:prstGeom prst="rect">
            <a:avLst/>
          </a:prstGeom>
          <a:solidFill>
            <a:srgbClr val="7DD3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86984" y="3758184"/>
            <a:ext cx="384048" cy="384048"/>
          </a:xfrm>
          <a:prstGeom prst="rect">
            <a:avLst/>
          </a:prstGeom>
          <a:solidFill>
            <a:srgbClr val="7DD3F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25896" y="3758184"/>
            <a:ext cx="384048" cy="384048"/>
          </a:xfrm>
          <a:prstGeom prst="rect">
            <a:avLst/>
          </a:prstGeom>
          <a:solidFill>
            <a:srgbClr val="38BDF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64808" y="3758184"/>
            <a:ext cx="384048" cy="384048"/>
          </a:xfrm>
          <a:prstGeom prst="rect">
            <a:avLst/>
          </a:prstGeom>
          <a:solidFill>
            <a:srgbClr val="FACC1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03720" y="3758184"/>
            <a:ext cx="384048" cy="384048"/>
          </a:xfrm>
          <a:prstGeom prst="rect">
            <a:avLst/>
          </a:prstGeom>
          <a:solidFill>
            <a:srgbClr val="FACC1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42632" y="3758184"/>
            <a:ext cx="384048" cy="384048"/>
          </a:xfrm>
          <a:prstGeom prst="rect">
            <a:avLst/>
          </a:prstGeom>
          <a:solidFill>
            <a:srgbClr val="FB923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81544" y="3758184"/>
            <a:ext cx="384048" cy="384048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0456" y="3758184"/>
            <a:ext cx="384048" cy="384048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59368" y="3758184"/>
            <a:ext cx="384048" cy="384048"/>
          </a:xfrm>
          <a:prstGeom prst="rect">
            <a:avLst/>
          </a:prstGeom>
          <a:solidFill>
            <a:srgbClr val="EF44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6752" y="45720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flowline sections →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144000" y="1664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What the model predicts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189720" y="2148840"/>
            <a:ext cx="20574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• onset probability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• deposition thickness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• growth trajectory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• remaining safe operating window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E293B"/>
                </a:solidFill>
              </a:rPr>
              <a:t>• confidence bounds</a:t>
            </a:r>
            <a:endParaRPr lang="en-US" sz="1220" dirty="0"/>
          </a:p>
        </p:txBody>
      </p:sp>
      <p:sp>
        <p:nvSpPr>
          <p:cNvPr id="59" name="Shape 57"/>
          <p:cNvSpPr/>
          <p:nvPr/>
        </p:nvSpPr>
        <p:spPr>
          <a:xfrm>
            <a:off x="4526280" y="5074920"/>
            <a:ext cx="4526280" cy="667512"/>
          </a:xfrm>
          <a:prstGeom prst="roundRect">
            <a:avLst>
              <a:gd name="adj" fmla="val 16438"/>
            </a:avLst>
          </a:prstGeom>
          <a:solidFill>
            <a:srgbClr val="ECFDF5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5276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</a:rPr>
              <a:t>Key benefit: extrapolation beyond the lab is constrained by chemistry and transport physics.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 3: Adaptive Inhibitor Optimization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Convert predicted risk into chemical-dose recommendations under operational constraints.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Scale Formation Prediction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234440"/>
            <a:ext cx="3017520" cy="1325880"/>
          </a:xfrm>
          <a:prstGeom prst="roundRect">
            <a:avLst>
              <a:gd name="adj" fmla="val 827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08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MIC concept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8562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1E293B"/>
                </a:solidFill>
              </a:rPr>
              <a:t>Minimum inhibitor concentration that sufficiently delays or prevents scale under specified conditions.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3017520" cy="2011680"/>
          </a:xfrm>
          <a:prstGeom prst="roundRect">
            <a:avLst>
              <a:gd name="adj" fmla="val 5455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46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</a:rPr>
              <a:t>Current practice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611880"/>
            <a:ext cx="2286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fixed or lab-derived dose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conservative margins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limited adaptation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field response after symptoms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3886200" y="3273552"/>
            <a:ext cx="1051560" cy="0"/>
          </a:xfrm>
          <a:prstGeom prst="line">
            <a:avLst/>
          </a:prstGeom>
          <a:noFill/>
          <a:ln w="2794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1508760"/>
            <a:ext cx="2514600" cy="3520440"/>
          </a:xfrm>
          <a:prstGeom prst="roundRect">
            <a:avLst>
              <a:gd name="adj" fmla="val 4364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1F33"/>
                </a:solidFill>
              </a:rPr>
              <a:t>Optimization engine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13248" y="2423160"/>
            <a:ext cx="17830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E293B"/>
                </a:solidFill>
              </a:rPr>
              <a:t>• risk target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E293B"/>
                </a:solidFill>
              </a:rPr>
              <a:t>• chemical cost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E293B"/>
                </a:solidFill>
              </a:rPr>
              <a:t>• dose limits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E293B"/>
                </a:solidFill>
              </a:rPr>
              <a:t>• injection timing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1E293B"/>
                </a:solidFill>
              </a:rPr>
              <a:t>• operating window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5349240" y="4224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565C0"/>
                </a:solidFill>
              </a:rPr>
              <a:t>minimize cost + risk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635240" y="3273552"/>
            <a:ext cx="1051560" cy="0"/>
          </a:xfrm>
          <a:prstGeom prst="line">
            <a:avLst/>
          </a:prstGeom>
          <a:noFill/>
          <a:ln w="27940">
            <a:solidFill>
              <a:srgbClr val="18A05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32520" y="1234440"/>
            <a:ext cx="2697480" cy="3749040"/>
          </a:xfrm>
          <a:prstGeom prst="roundRect">
            <a:avLst>
              <a:gd name="adj" fmla="val 4068"/>
            </a:avLst>
          </a:prstGeom>
          <a:solidFill>
            <a:srgbClr val="ECFDF5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7696" y="15819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1F33"/>
                </a:solidFill>
              </a:rPr>
              <a:t>Adaptive recommendation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052560" y="2130552"/>
            <a:ext cx="19202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optimal concentration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injection timing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expected risk reduction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chemical saving estimate</a:t>
            </a:r>
            <a:endParaRPr lang="en-US" sz="1140" dirty="0"/>
          </a:p>
          <a:p>
            <a:pPr marL="0" indent="0">
              <a:buNone/>
            </a:pPr>
            <a:r>
              <a:rPr lang="en-US" sz="1140" dirty="0">
                <a:solidFill>
                  <a:srgbClr val="1E293B"/>
                </a:solidFill>
              </a:rPr>
              <a:t>• alarm if dose is insufficient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9052560" y="4041648"/>
            <a:ext cx="192024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4279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475569"/>
                </a:solidFill>
              </a:rPr>
              <a:t>Output is explainable: tied to predicted scale type, location, growth, and confidence.</a:t>
            </a:r>
            <a:endParaRPr lang="en-US" sz="9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Strategy &amp; Work Plan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staged validation path reduces technical risk before industrial deployment.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Scale Formation Prediction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31720" y="2880360"/>
            <a:ext cx="576072" cy="0"/>
          </a:xfrm>
          <a:prstGeom prst="line">
            <a:avLst/>
          </a:prstGeom>
          <a:noFill/>
          <a:ln w="2032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1920240"/>
            <a:ext cx="1691640" cy="205740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579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" y="2514600"/>
            <a:ext cx="1353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</a:rPr>
              <a:t>Data audit &amp; baseline model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0976" y="3154680"/>
            <a:ext cx="1143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10128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475569"/>
                </a:solidFill>
              </a:rPr>
              <a:t>collect field variables, lab records, chemistry, existing scale reports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4206240" y="2880360"/>
            <a:ext cx="576072" cy="0"/>
          </a:xfrm>
          <a:prstGeom prst="line">
            <a:avLst/>
          </a:prstGeom>
          <a:noFill/>
          <a:ln w="2032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26080" y="1920240"/>
            <a:ext cx="1691640" cy="205740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1579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6A6"/>
                </a:solidFill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90672" y="2514600"/>
            <a:ext cx="1353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</a:rPr>
              <a:t>Laboratory / flow-loop validation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191256" y="3154680"/>
            <a:ext cx="1143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310128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475569"/>
                </a:solidFill>
              </a:rPr>
              <a:t>generate controlled scale-growth and inhibitor-response data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6080760" y="2880360"/>
            <a:ext cx="576072" cy="0"/>
          </a:xfrm>
          <a:prstGeom prst="line">
            <a:avLst/>
          </a:prstGeom>
          <a:noFill/>
          <a:ln w="2032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1920240"/>
            <a:ext cx="1691640" cy="205740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21579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A058"/>
                </a:solidFill>
              </a:rPr>
              <a:t>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30952" y="2514600"/>
            <a:ext cx="1353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</a:rPr>
              <a:t>Physics-informed AI training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31536" y="3154680"/>
            <a:ext cx="1143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3310128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475569"/>
                </a:solidFill>
              </a:rPr>
              <a:t>integrate thermodynamics, kinetics, transport, and sensor features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7955280" y="2880360"/>
            <a:ext cx="576072" cy="0"/>
          </a:xfrm>
          <a:prstGeom prst="line">
            <a:avLst/>
          </a:prstGeom>
          <a:noFill/>
          <a:ln w="20320">
            <a:solidFill>
              <a:srgbClr val="1565C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06640" y="1920240"/>
            <a:ext cx="1691640" cy="205740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1579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571232" y="2514600"/>
            <a:ext cx="1353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</a:rPr>
              <a:t>Digital prototype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71816" y="3154680"/>
            <a:ext cx="1143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3310128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475569"/>
                </a:solidFill>
              </a:rPr>
              <a:t>dashboard, alerts, dosing recommendations, uncertainty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9646920" y="1920240"/>
            <a:ext cx="1691640" cy="205740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29800" y="215798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53030"/>
                </a:solidFill>
              </a:rPr>
              <a:t>Phase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811512" y="2514600"/>
            <a:ext cx="135331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</a:rPr>
              <a:t>Field-readiness assessment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912096" y="3154680"/>
            <a:ext cx="1143000" cy="0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29800" y="3310128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dirty="0">
                <a:solidFill>
                  <a:srgbClr val="475569"/>
                </a:solidFill>
              </a:rPr>
              <a:t>shadow-mode testing and deployment plan</a:t>
            </a:r>
            <a:endParaRPr lang="en-US" sz="890" dirty="0"/>
          </a:p>
        </p:txBody>
      </p:sp>
      <p:sp>
        <p:nvSpPr>
          <p:cNvPr id="37" name="Shape 35"/>
          <p:cNvSpPr/>
          <p:nvPr/>
        </p:nvSpPr>
        <p:spPr>
          <a:xfrm>
            <a:off x="1828800" y="4800600"/>
            <a:ext cx="8595360" cy="777240"/>
          </a:xfrm>
          <a:prstGeom prst="roundRect">
            <a:avLst>
              <a:gd name="adj" fmla="val 14118"/>
            </a:avLst>
          </a:prstGeom>
          <a:solidFill>
            <a:srgbClr val="F8FA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48840" y="5074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Validation metrics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66160" y="5074920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E293B"/>
                </a:solidFill>
              </a:rPr>
              <a:t>scale/no-scale accuracy  •  location error  •  thickness error  •  dosing reduction  •  false-alarm rate  •  decision latency</a:t>
            </a:r>
            <a:endParaRPr lang="en-US" sz="11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961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Value to Aramco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7589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decision-support layer for proactive, optimized, and explainable scale management.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829800" y="384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Scale Formation Prediction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E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0" y="651052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3017520" cy="1234440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Earlier warning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Detect rising scale risk before blockage.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480560" y="1325880"/>
            <a:ext cx="3017520" cy="1234440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Spatial localization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Prioritize the affected line section.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83880" y="1325880"/>
            <a:ext cx="3017520" cy="1234440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12700">
            <a:solidFill>
              <a:srgbClr val="18A0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Chemical optimization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19659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Reduce over-dosing while maintaining protection.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2651760" y="3703320"/>
            <a:ext cx="3017520" cy="1234440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39593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Operational continuity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80360" y="4343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Support intervention planning and shutdown avoidance.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355080" y="3703320"/>
            <a:ext cx="3017520" cy="1234440"/>
          </a:xfrm>
          <a:prstGeom prst="roundRect">
            <a:avLst>
              <a:gd name="adj" fmla="val 10370"/>
            </a:avLst>
          </a:prstGeom>
          <a:solidFill>
            <a:srgbClr val="F8FAFC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9593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Digital oilfield fit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43434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Deployable as SCADA-connected advisory module.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7863840" y="5074920"/>
            <a:ext cx="3246120" cy="749808"/>
          </a:xfrm>
          <a:prstGeom prst="roundRect">
            <a:avLst>
              <a:gd name="adj" fmla="val 14634"/>
            </a:avLst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523036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Immediate next step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65008" y="551383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E293B"/>
                </a:solidFill>
              </a:rPr>
              <a:t>align on available data, target flowline, and validation scenario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777240" y="56875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</a:t>
            </a:r>
            <a:endParaRPr lang="en-US" sz="2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D2F3CA-7E77-4AC4-8844-CAD1131613FC}"/>
              </a:ext>
            </a:extLst>
          </p:cNvPr>
          <p:cNvSpPr/>
          <p:nvPr/>
        </p:nvSpPr>
        <p:spPr>
          <a:xfrm>
            <a:off x="4923886" y="3197048"/>
            <a:ext cx="30989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</a:rPr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71821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1163</Words>
  <Application>Microsoft Office PowerPoint</Application>
  <PresentationFormat>Widescreen</PresentationFormat>
  <Paragraphs>209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KFUPM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 Formation Prediction - Redeveloped 10-minute Pitch</dc:title>
  <dc:subject>AI-based Scale Formation Prediction and Adaptive Inhibitor Optimization</dc:subject>
  <dc:creator>OpenAI</dc:creator>
  <cp:lastModifiedBy>Mujahed Al Dhaifallah</cp:lastModifiedBy>
  <cp:revision>3</cp:revision>
  <dcterms:created xsi:type="dcterms:W3CDTF">2026-07-28T11:24:59Z</dcterms:created>
  <dcterms:modified xsi:type="dcterms:W3CDTF">2026-07-28T13:38:51Z</dcterms:modified>
</cp:coreProperties>
</file>